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c8c87efef34ac0" /><Relationship Type="http://schemas.openxmlformats.org/officeDocument/2006/relationships/extended-properties" Target="/docProps/app.xml" Id="R5c1a7a66390346c6" /><Relationship Type="http://schemas.openxmlformats.org/officeDocument/2006/relationships/officeDocument" Target="/ppt/presentation.xml" Id="R4dfbe7964ad34860" /></Relationships>
</file>

<file path=ppt/presentation.xml><?xml version="1.0" encoding="utf-8"?>
<p:presentation xmlns:p="http://schemas.openxmlformats.org/presentationml/2006/main">
  <p:sldMasterIdLst>
    <p:sldMasterId xmlns:r="http://schemas.openxmlformats.org/officeDocument/2006/relationships" id="2147483648" r:id="R46d66fbb6e5f4880"/>
  </p:sldMasterIdLst>
  <p:notesMasterIdLst>
    <p:notesMasterId xmlns:r="http://schemas.openxmlformats.org/officeDocument/2006/relationships" r:id="R6b0de05e19c74f00"/>
  </p:notesMasterIdLst>
  <p:sldIdLst>
    <p:sldId xmlns:r="http://schemas.openxmlformats.org/officeDocument/2006/relationships" id="256" r:id="Rda5da5fdecd94f8b"/>
    <p:sldId xmlns:r="http://schemas.openxmlformats.org/officeDocument/2006/relationships" id="257" r:id="R3023544ea19c4d53"/>
    <p:sldId xmlns:r="http://schemas.openxmlformats.org/officeDocument/2006/relationships" id="258" r:id="R534b4d0b018f48e0"/>
    <p:sldId xmlns:r="http://schemas.openxmlformats.org/officeDocument/2006/relationships" id="259" r:id="R1404b89428f3475e"/>
    <p:sldId xmlns:r="http://schemas.openxmlformats.org/officeDocument/2006/relationships" id="260" r:id="Ra436ce8cfa5b44b1"/>
    <p:sldId xmlns:r="http://schemas.openxmlformats.org/officeDocument/2006/relationships" id="261" r:id="R73827da734054507"/>
    <p:sldId xmlns:r="http://schemas.openxmlformats.org/officeDocument/2006/relationships" id="262" r:id="Re675e0fab5fc4b6c"/>
    <p:sldId xmlns:r="http://schemas.openxmlformats.org/officeDocument/2006/relationships" id="263" r:id="R13c73d7593ff41eb"/>
    <p:sldId xmlns:r="http://schemas.openxmlformats.org/officeDocument/2006/relationships" id="264" r:id="R4f3e8aa5c3b342c3"/>
    <p:sldId xmlns:r="http://schemas.openxmlformats.org/officeDocument/2006/relationships" id="265" r:id="Ra8d8cc6ba6b742c7"/>
    <p:sldId xmlns:r="http://schemas.openxmlformats.org/officeDocument/2006/relationships" id="266" r:id="Rcad86a72c7d54a4f"/>
    <p:sldId xmlns:r="http://schemas.openxmlformats.org/officeDocument/2006/relationships" id="267" r:id="R103379535aac4e43"/>
    <p:sldId xmlns:r="http://schemas.openxmlformats.org/officeDocument/2006/relationships" id="268" r:id="R54e207062176430a"/>
    <p:sldId xmlns:r="http://schemas.openxmlformats.org/officeDocument/2006/relationships" id="269" r:id="R7f62224a158744d8"/>
    <p:sldId xmlns:r="http://schemas.openxmlformats.org/officeDocument/2006/relationships" id="270" r:id="R578e71042b454b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c9c447763d4792" /><Relationship Type="http://schemas.openxmlformats.org/officeDocument/2006/relationships/slideMaster" Target="/ppt/slideMasters/slideMaster1.xml" Id="R46d66fbb6e5f4880" /><Relationship Type="http://schemas.openxmlformats.org/officeDocument/2006/relationships/notesMaster" Target="/ppt/notesMasters/notesMaster1.xml" Id="R6b0de05e19c74f00" /><Relationship Type="http://schemas.openxmlformats.org/officeDocument/2006/relationships/presProps" Target="/ppt/presProps.xml" Id="R8575d103b5904ff8" /><Relationship Type="http://schemas.openxmlformats.org/officeDocument/2006/relationships/tableStyles" Target="/ppt/tableStyles.xml" Id="R273803a4d2374c6c" /><Relationship Type="http://schemas.openxmlformats.org/officeDocument/2006/relationships/slide" Target="/ppt/slides/slide1.xml" Id="Rda5da5fdecd94f8b" /><Relationship Type="http://schemas.openxmlformats.org/officeDocument/2006/relationships/slide" Target="/ppt/slides/slide2.xml" Id="R3023544ea19c4d53" /><Relationship Type="http://schemas.openxmlformats.org/officeDocument/2006/relationships/slide" Target="/ppt/slides/slide3.xml" Id="R534b4d0b018f48e0" /><Relationship Type="http://schemas.openxmlformats.org/officeDocument/2006/relationships/slide" Target="/ppt/slides/slide4.xml" Id="R1404b89428f3475e" /><Relationship Type="http://schemas.openxmlformats.org/officeDocument/2006/relationships/slide" Target="/ppt/slides/slide5.xml" Id="Ra436ce8cfa5b44b1" /><Relationship Type="http://schemas.openxmlformats.org/officeDocument/2006/relationships/slide" Target="/ppt/slides/slide6.xml" Id="R73827da734054507" /><Relationship Type="http://schemas.openxmlformats.org/officeDocument/2006/relationships/slide" Target="/ppt/slides/slide7.xml" Id="Re675e0fab5fc4b6c" /><Relationship Type="http://schemas.openxmlformats.org/officeDocument/2006/relationships/slide" Target="/ppt/slides/slide8.xml" Id="R13c73d7593ff41eb" /><Relationship Type="http://schemas.openxmlformats.org/officeDocument/2006/relationships/slide" Target="/ppt/slides/slide9.xml" Id="R4f3e8aa5c3b342c3" /><Relationship Type="http://schemas.openxmlformats.org/officeDocument/2006/relationships/slide" Target="/ppt/slides/slide10.xml" Id="Ra8d8cc6ba6b742c7" /><Relationship Type="http://schemas.openxmlformats.org/officeDocument/2006/relationships/slide" Target="/ppt/slides/slide11.xml" Id="Rcad86a72c7d54a4f" /><Relationship Type="http://schemas.openxmlformats.org/officeDocument/2006/relationships/slide" Target="/ppt/slides/slide12.xml" Id="R103379535aac4e43" /><Relationship Type="http://schemas.openxmlformats.org/officeDocument/2006/relationships/slide" Target="/ppt/slides/slide13.xml" Id="R54e207062176430a" /><Relationship Type="http://schemas.openxmlformats.org/officeDocument/2006/relationships/slide" Target="/ppt/slides/slide14.xml" Id="R7f62224a158744d8" /><Relationship Type="http://schemas.openxmlformats.org/officeDocument/2006/relationships/slide" Target="/ppt/slides/slide15.xml" Id="R578e71042b454b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c02f0dcc2648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6f8a5e3f524a04" /><Relationship Type="http://schemas.openxmlformats.org/officeDocument/2006/relationships/notesMaster" Target="/ppt/notesMasters/notesMaster1.xml" Id="R5d46eca41f6d45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a271045eb040d8" /><Relationship Type="http://schemas.openxmlformats.org/officeDocument/2006/relationships/notesMaster" Target="/ppt/notesMasters/notesMaster1.xml" Id="Rc0386653ebd14b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f01f3737c44d6c" /><Relationship Type="http://schemas.openxmlformats.org/officeDocument/2006/relationships/notesMaster" Target="/ppt/notesMasters/notesMaster1.xml" Id="R8bed8d12ed3045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379fdea8e940f5" /><Relationship Type="http://schemas.openxmlformats.org/officeDocument/2006/relationships/notesMaster" Target="/ppt/notesMasters/notesMaster1.xml" Id="Rfe394957bae04c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c6711e66834095" /><Relationship Type="http://schemas.openxmlformats.org/officeDocument/2006/relationships/notesMaster" Target="/ppt/notesMasters/notesMaster1.xml" Id="R51227d7447b2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420ff8c0b64160" /><Relationship Type="http://schemas.openxmlformats.org/officeDocument/2006/relationships/notesMaster" Target="/ppt/notesMasters/notesMaster1.xml" Id="Rf128b8cbd16c43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a2a64597794649" /><Relationship Type="http://schemas.openxmlformats.org/officeDocument/2006/relationships/notesMaster" Target="/ppt/notesMasters/notesMaster1.xml" Id="R5df1687c2c2443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ef73ceb10147ad" /><Relationship Type="http://schemas.openxmlformats.org/officeDocument/2006/relationships/notesMaster" Target="/ppt/notesMasters/notesMaster1.xml" Id="R6583ab008ef740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83e6cefbc94616" /><Relationship Type="http://schemas.openxmlformats.org/officeDocument/2006/relationships/notesMaster" Target="/ppt/notesMasters/notesMaster1.xml" Id="R3080ca764d0640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3479d564ff43d9" /><Relationship Type="http://schemas.openxmlformats.org/officeDocument/2006/relationships/notesMaster" Target="/ppt/notesMasters/notesMaster1.xml" Id="Rb4f6b3b0b6f748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36f50dbfec4199" /><Relationship Type="http://schemas.openxmlformats.org/officeDocument/2006/relationships/notesMaster" Target="/ppt/notesMasters/notesMaster1.xml" Id="R90b488367fc947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2f513c5de54d5f" /><Relationship Type="http://schemas.openxmlformats.org/officeDocument/2006/relationships/notesMaster" Target="/ppt/notesMasters/notesMaster1.xml" Id="R1c3aee8c2a1f4b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53da5c05b64d3f" /><Relationship Type="http://schemas.openxmlformats.org/officeDocument/2006/relationships/notesMaster" Target="/ppt/notesMasters/notesMaster1.xml" Id="R7de5549de9c147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02c54bdbe04159" /><Relationship Type="http://schemas.openxmlformats.org/officeDocument/2006/relationships/notesMaster" Target="/ppt/notesMasters/notesMaster1.xml" Id="Rd7237352663149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8421de14614025" /><Relationship Type="http://schemas.openxmlformats.org/officeDocument/2006/relationships/notesMaster" Target="/ppt/notesMasters/notesMaster1.xml" Id="R8a81bca69bc448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MedAssist as a proposed web-based academic platform. It combines patient management with preliminary urgency support and preserves independent doctor review. Cover illustration created with Image Generation for this presentation.</a:t>
            </a:r>
          </a:p>
          <a:p xmlns:a="http://schemas.openxmlformats.org/drawingml/2006/main">
            <a:r>
              <a:t/>
            </a:r>
          </a:p>
          <a:p xmlns:a="http://schemas.openxmlformats.org/drawingml/2006/main">
            <a:r>
              <a:t>Source: MINOR PROJECT SYNOPSIS (Saloni Pandey).pdf, Title page; Abstract.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Patients provide structured information. MedAssist organizes it centrally, and the ML module adds an urgency category. A qualified doctor independently reviews the case. The platform does not autonomously diagnose diseases, prescribe medicines or provide treatment.</a:t>
            </a:r>
          </a:p>
          <a:p xmlns:a="http://schemas.openxmlformats.org/drawingml/2006/main">
            <a:r>
              <a:t/>
            </a:r>
          </a:p>
          <a:p xmlns:a="http://schemas.openxmlformats.org/drawingml/2006/main">
            <a:r>
              <a:t>Source: MINOR PROJECT SYNOPSIS (Saloni Pandey).pdf, Abstract; Key Features.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workflow problems identified in the synopsis. Present the responses as project objectives, not as measured improvements in real hospitals.</a:t>
            </a:r>
          </a:p>
          <a:p xmlns:a="http://schemas.openxmlformats.org/drawingml/2006/main">
            <a:r>
              <a:t/>
            </a:r>
          </a:p>
          <a:p xmlns:a="http://schemas.openxmlformats.org/drawingml/2006/main">
            <a:r>
              <a:t>Source: MINOR PROJECT SYNOPSIS (Saloni Pandey).pdf, Literature Survey: Existing System and Proposed System.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objective briefly. The database and secure REST APIs support all six objectives. Security includes role-based authorization and accountability through audit records.</a:t>
            </a:r>
          </a:p>
          <a:p xmlns:a="http://schemas.openxmlformats.org/drawingml/2006/main">
            <a:r>
              <a:t/>
            </a:r>
          </a:p>
          <a:p xmlns:a="http://schemas.openxmlformats.org/drawingml/2006/main">
            <a:r>
              <a:t>Source: MINOR PROJECT SYNOPSIS (Saloni Pandey).pdf, Objectives; Key Features.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ML prediction is decision support only. The doctor examines symptoms, medical history and uploaded reports before recording a separate professional review.</a:t>
            </a:r>
          </a:p>
          <a:p xmlns:a="http://schemas.openxmlformats.org/drawingml/2006/main">
            <a:r>
              <a:t/>
            </a:r>
          </a:p>
          <a:p xmlns:a="http://schemas.openxmlformats.org/drawingml/2006/main">
            <a:r>
              <a:t>Source: MINOR PROJECT SYNOPSIS (Saloni Pandey).pdf, Proposed System; Case Review and Status Management.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Patients manage their information and requests. Doctors access assigned cases and perform reviews. Administrators monitor users and system activity through authorized functions.</a:t>
            </a:r>
          </a:p>
          <a:p xmlns:a="http://schemas.openxmlformats.org/drawingml/2006/main">
            <a:r>
              <a:t/>
            </a:r>
          </a:p>
          <a:p xmlns:a="http://schemas.openxmlformats.org/drawingml/2006/main">
            <a:r>
              <a:t>Source: MINOR PROJECT SYNOPSIS (Saloni Pandey).pdf, Key Features 1–13.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backend coordinates data access and calls the separate ML inference service. PostgreSQL stores predictions with model version and timestamp, separately from doctor reviews. Report files use controlled cloud storage; provider selection is open. The diagram emphasizes the requested core architecture. Development tools: Git, GitHub, Postman, Docker and VS Code.</a:t>
            </a:r>
          </a:p>
          <a:p xmlns:a="http://schemas.openxmlformats.org/drawingml/2006/main">
            <a:r>
              <a:t/>
            </a:r>
          </a:p>
          <a:p xmlns:a="http://schemas.openxmlformats.org/drawingml/2006/main">
            <a:r>
              <a:t>Source: MINOR PROJECT SYNOPSIS (Saloni Pandey).pdf, Tools / Hardware &amp; Software Requirements; Machine Learning Methodology.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workflow down each column, then move to the next column. The prediction and professional assessment are distinct records. This separation makes it possible to retain the original model output while recording the doctor’s judgment.</a:t>
            </a:r>
          </a:p>
          <a:p xmlns:a="http://schemas.openxmlformats.org/drawingml/2006/main">
            <a:r>
              <a:t/>
            </a:r>
          </a:p>
          <a:p xmlns:a="http://schemas.openxmlformats.org/drawingml/2006/main">
            <a:r>
              <a:t>Source: MINOR PROJECT SYNOPSIS (Saloni Pandey).pdf, Proposed System; Machine Learning Methodology; workflow labels from user instructions.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synopsis proposes a structured healthcare assessment dataset but does not identify a specific dataset or results. Preprocessing includes handling missing values, encoding categorical variables, feature selection and scaling where needed. Python, Pandas and NumPy support data preparation. Scikit-learn provides the candidate algorithms. Only after evaluation will a model be selected and served through FastAPI.</a:t>
            </a:r>
          </a:p>
          <a:p xmlns:a="http://schemas.openxmlformats.org/drawingml/2006/main">
            <a:r>
              <a:t/>
            </a:r>
          </a:p>
          <a:p xmlns:a="http://schemas.openxmlformats.org/drawingml/2006/main">
            <a:r>
              <a:t>Source: MINOR PROJECT SYNOPSIS (Saloni Pandey).pdf, Machine Learning Methodology.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SHAP means SHapley Additive exPlanations. It assigns feature contributions relative to a reference prediction. The project plans to use it to make the ML result easier to inspect. A feature contribution explains model behavior; it does not establish a medical cause or validate the model’s clinical accuracy. No numerical SHAP example is shown because there are no experimental outputs in the synopsis.</a:t>
            </a:r>
          </a:p>
          <a:p xmlns:a="http://schemas.openxmlformats.org/drawingml/2006/main">
            <a:r>
              <a:t/>
            </a:r>
          </a:p>
          <a:p xmlns:a="http://schemas.openxmlformats.org/drawingml/2006/main">
            <a:r>
              <a:t>Source: MINOR PROJECT SYNOPSIS (Saloni Pandey).pdf, Explainable AI Support; Machine Learning Methodology.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simplified conceptual relationship diagram rather than a finalized ER schema with cardinalities. User accounts determine access, patient profiles connect to cases, and cases coordinate assessments, reports and appointments. Prediction records retain model version and timestamp. Doctor review is stored separately from the ML result. Audit records track important actions. The status labels follow the requested presentation structure.</a:t>
            </a:r>
          </a:p>
          <a:p xmlns:a="http://schemas.openxmlformats.org/drawingml/2006/main">
            <a:r>
              <a:t/>
            </a:r>
          </a:p>
          <a:p xmlns:a="http://schemas.openxmlformats.org/drawingml/2006/main">
            <a:r>
              <a:t>Source: MINOR PROJECT SYNOPSIS (Saloni Pandey).pdf, Relational Database Management; Proposed System; Machine Learning Methodology.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identifies a user, while authorization determines what that user may access. Password hashing protects stored passwords. Reports need controlled storage access, and the backend validates submitted inputs. Audit logs retain important actions. A JWT alone does not make an entire system secure. The synopsis explicitly avoids claiming clinical or regulatory compliance without formal assessment.</a:t>
            </a:r>
          </a:p>
          <a:p xmlns:a="http://schemas.openxmlformats.org/drawingml/2006/main">
            <a:r>
              <a:t/>
            </a:r>
          </a:p>
          <a:p xmlns:a="http://schemas.openxmlformats.org/drawingml/2006/main">
            <a:r>
              <a:t>Source: MINOR PROJECT SYNOPSIS (Saloni Pandey).pdf, Security and Privacy.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models using accuracy, precision, recall, F1 and a confusion matrix. For multiclass classification, evaluate category-level results as well as aggregate results. In the application, test authorized and unauthorized flows, validation, storage and the complete case workflow. No model accuracy, dataset size or experimental result is available at this stage.</a:t>
            </a:r>
          </a:p>
          <a:p xmlns:a="http://schemas.openxmlformats.org/drawingml/2006/main">
            <a:r>
              <a:t/>
            </a:r>
          </a:p>
          <a:p xmlns:a="http://schemas.openxmlformats.org/drawingml/2006/main">
            <a:r>
              <a:t>Source: MINOR PROJECT SYNOPSIS (Saloni Pandey).pdf, Objectives; Machine Learning Methodology; Development and Testing.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settings are possible applications, not current deployments. Future scope combines the requested extensions with the synopsis, which also mentions teleconsultation, multilingual interfaces, authorized wearable data, model monitoring and data-drift detection. Integrations and clinical use would require their own validation and controls.</a:t>
            </a:r>
          </a:p>
          <a:p xmlns:a="http://schemas.openxmlformats.org/drawingml/2006/main">
            <a:r>
              <a:t/>
            </a:r>
          </a:p>
          <a:p xmlns:a="http://schemas.openxmlformats.org/drawingml/2006/main">
            <a:r>
              <a:t>Source: MINOR PROJECT SYNOPSIS (Saloni Pandey).pdf, Future Scope; Expected Outcomes; application settings and additional extensions from user instructions.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proposed integration of full-stack development, SQL data management, ML and explainability. Reiterate that the triage category is preliminary support and the doctor records an independent review. The deck describes planned capabilities and evaluation rather than claiming a completed or clinically validated product.</a:t>
            </a:r>
          </a:p>
          <a:p xmlns:a="http://schemas.openxmlformats.org/drawingml/2006/main">
            <a:r>
              <a:t/>
            </a:r>
          </a:p>
          <a:p xmlns:a="http://schemas.openxmlformats.org/drawingml/2006/main">
            <a:r>
              <a:t>Source: MINOR PROJECT SYNOPSIS (Saloni Pandey).pdf, Expected Outcomes; Abstract. Supplementary scope and labels follow the student’s presentation instructions. Icons: Lucide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7cc4fec63a4f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7ade72b9a34a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8337e1d4cf4a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af80943bc640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f86df496f048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f2b3325fe949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98454D3-C9F7-4D3F-8E86-01D64807595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C8454DC-8D0B-4A84-A64F-A071566CFB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CAB02D9-FEE6-4DCD-B201-92DA8D212C4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FEDDDE4A-41AA-4F59-8B2F-05CC1C8D90D3}"/>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70F0A22-4E96-4CFB-89F0-2E03C01FD3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59D3869-32F6-405F-A1A0-D7CD296E978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A8247B4-B10E-42F9-A707-70B4DF3AD5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B25E4AC-55E7-43CC-9B04-CA0B757B23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6B67940-6F7D-4984-91D7-97899CE5A63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C740553-56CA-42F0-BF31-6510853C9D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B1DA109-BADA-4098-A6BA-E5C59703AE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553B6C8-787F-4F32-9460-C6FC080271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1DE730-666B-4645-A8D9-436A01B99EA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0A4662C-8EFF-4396-9CE7-6AB84D9963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92DF60C-2B35-4CFC-9C0F-F3A477CEF9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09a879ce1d45d6" /><Relationship Type="http://schemas.openxmlformats.org/officeDocument/2006/relationships/slideLayout" Target="/ppt/slideLayouts/slideLayout1.xml" Id="Rb28a9efa94584097" /><Relationship Type="http://schemas.openxmlformats.org/officeDocument/2006/relationships/slideLayout" Target="/ppt/slideLayouts/slideLayout2.xml" Id="Rdb0f18727dd44504" /><Relationship Type="http://schemas.openxmlformats.org/officeDocument/2006/relationships/slideLayout" Target="/ppt/slideLayouts/slideLayout3.xml" Id="R9785bc9ee3144189" /><Relationship Type="http://schemas.openxmlformats.org/officeDocument/2006/relationships/slideLayout" Target="/ppt/slideLayouts/slideLayout4.xml" Id="R76d59023f1b64b18" /><Relationship Type="http://schemas.openxmlformats.org/officeDocument/2006/relationships/slideLayout" Target="/ppt/slideLayouts/slideLayout5.xml" Id="R79820a3999cd4929" /><Relationship Type="http://schemas.openxmlformats.org/officeDocument/2006/relationships/slideLayout" Target="/ppt/slideLayouts/slideLayout6.xml" Id="Re538f562fd9a46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8a9efa94584097"/>
    <p:sldLayoutId xmlns:r="http://schemas.openxmlformats.org/officeDocument/2006/relationships" id="2147483650" r:id="Rdb0f18727dd44504"/>
    <p:sldLayoutId xmlns:r="http://schemas.openxmlformats.org/officeDocument/2006/relationships" id="2147483651" r:id="R9785bc9ee3144189"/>
    <p:sldLayoutId xmlns:r="http://schemas.openxmlformats.org/officeDocument/2006/relationships" id="2147483652" r:id="R76d59023f1b64b18"/>
    <p:sldLayoutId xmlns:r="http://schemas.openxmlformats.org/officeDocument/2006/relationships" id="2147483653" r:id="R79820a3999cd4929"/>
    <p:sldLayoutId xmlns:r="http://schemas.openxmlformats.org/officeDocument/2006/relationships" id="2147483654" r:id="Re538f562fd9a46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2574b8a1de4f8d" /><Relationship Type="http://schemas.openxmlformats.org/officeDocument/2006/relationships/image" Target="/ppt/media/image.png" Id="Rbac30b04ff664801" /><Relationship Type="http://schemas.openxmlformats.org/officeDocument/2006/relationships/notesSlide" Target="/ppt/notesSlides/notesSlide1.xml" Id="R252c8c26b4ea49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83fe9c5ce14de8" /><Relationship Type="http://schemas.openxmlformats.org/officeDocument/2006/relationships/image" Target="/ppt/media/image2.png" Id="Rf550ba4cf03249c7" /><Relationship Type="http://schemas.openxmlformats.org/officeDocument/2006/relationships/image" Target="/ppt/media/image.svg" Id="R30b3ca305bf3447a" /><Relationship Type="http://schemas.openxmlformats.org/officeDocument/2006/relationships/image" Target="/ppt/media/image3.png" Id="Re700270e675e412b" /><Relationship Type="http://schemas.openxmlformats.org/officeDocument/2006/relationships/image" Target="/ppt/media/image2.svg" Id="R5e44bdac9b3048f6" /><Relationship Type="http://schemas.openxmlformats.org/officeDocument/2006/relationships/image" Target="/ppt/media/image4.png" Id="R55286e47810f4442" /><Relationship Type="http://schemas.openxmlformats.org/officeDocument/2006/relationships/image" Target="/ppt/media/image3.svg" Id="R3265b5351a024135" /><Relationship Type="http://schemas.openxmlformats.org/officeDocument/2006/relationships/notesSlide" Target="/ppt/notesSlides/notesSlide2.xml" Id="Rfc5f845e285341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017a8096354177" /><Relationship Type="http://schemas.openxmlformats.org/officeDocument/2006/relationships/notesSlide" Target="/ppt/notesSlides/notesSlide3.xml" Id="R0121e920db2246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d82df037d44fd5" /><Relationship Type="http://schemas.openxmlformats.org/officeDocument/2006/relationships/image" Target="/ppt/media/image5.png" Id="R347932ab3cb84121" /><Relationship Type="http://schemas.openxmlformats.org/officeDocument/2006/relationships/image" Target="/ppt/media/image4.svg" Id="R3ebf9031045d4001" /><Relationship Type="http://schemas.openxmlformats.org/officeDocument/2006/relationships/image" Target="/ppt/media/image6.png" Id="R8a7d76c5d3574493" /><Relationship Type="http://schemas.openxmlformats.org/officeDocument/2006/relationships/image" Target="/ppt/media/image5.svg" Id="R967d5535778e4c3d" /><Relationship Type="http://schemas.openxmlformats.org/officeDocument/2006/relationships/image" Target="/ppt/media/image7.png" Id="R00d05e524ab14ff0" /><Relationship Type="http://schemas.openxmlformats.org/officeDocument/2006/relationships/image" Target="/ppt/media/image6.svg" Id="R98f7670ed25f4552" /><Relationship Type="http://schemas.openxmlformats.org/officeDocument/2006/relationships/image" Target="/ppt/media/image8.png" Id="R1544f9878db7431f" /><Relationship Type="http://schemas.openxmlformats.org/officeDocument/2006/relationships/image" Target="/ppt/media/image7.svg" Id="R8bcefb62a7cf4381" /><Relationship Type="http://schemas.openxmlformats.org/officeDocument/2006/relationships/image" Target="/ppt/media/image9.png" Id="R560653604c364219" /><Relationship Type="http://schemas.openxmlformats.org/officeDocument/2006/relationships/image" Target="/ppt/media/image8.svg" Id="R95c1be59e6124556" /><Relationship Type="http://schemas.openxmlformats.org/officeDocument/2006/relationships/image" Target="/ppt/media/image10.png" Id="R6219bab6c362413a" /><Relationship Type="http://schemas.openxmlformats.org/officeDocument/2006/relationships/image" Target="/ppt/media/image9.svg" Id="Re3d823f086e74b4b" /><Relationship Type="http://schemas.openxmlformats.org/officeDocument/2006/relationships/notesSlide" Target="/ppt/notesSlides/notesSlide4.xml" Id="Refb06ffd45b146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ddfeb26e1a4532" /><Relationship Type="http://schemas.openxmlformats.org/officeDocument/2006/relationships/notesSlide" Target="/ppt/notesSlides/notesSlide5.xml" Id="R8353a3185df94c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6f0df9a5334c9c" /><Relationship Type="http://schemas.openxmlformats.org/officeDocument/2006/relationships/image" Target="/ppt/media/image11.png" Id="R2139c4f0517f4bd9" /><Relationship Type="http://schemas.openxmlformats.org/officeDocument/2006/relationships/image" Target="/ppt/media/image10.svg" Id="Ra2bf07c881fd4188" /><Relationship Type="http://schemas.openxmlformats.org/officeDocument/2006/relationships/image" Target="/ppt/media/image12.png" Id="R11bcaea2ae244fb0" /><Relationship Type="http://schemas.openxmlformats.org/officeDocument/2006/relationships/image" Target="/ppt/media/image11.svg" Id="R00f32e6c199c44d2" /><Relationship Type="http://schemas.openxmlformats.org/officeDocument/2006/relationships/image" Target="/ppt/media/image13.png" Id="R6203f69a6e374b33" /><Relationship Type="http://schemas.openxmlformats.org/officeDocument/2006/relationships/image" Target="/ppt/media/image12.svg" Id="R8bc6a9e368084984" /><Relationship Type="http://schemas.openxmlformats.org/officeDocument/2006/relationships/notesSlide" Target="/ppt/notesSlides/notesSlide6.xml" Id="Rbd0b561e8a6845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86b79070fc4630" /><Relationship Type="http://schemas.openxmlformats.org/officeDocument/2006/relationships/notesSlide" Target="/ppt/notesSlides/notesSlide7.xml" Id="R900cb9b8f2e841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dce21d1bf6467b" /><Relationship Type="http://schemas.openxmlformats.org/officeDocument/2006/relationships/notesSlide" Target="/ppt/notesSlides/notesSlide8.xml" Id="R876b3614136148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2780c3bfca4b2e" /><Relationship Type="http://schemas.openxmlformats.org/officeDocument/2006/relationships/notesSlide" Target="/ppt/notesSlides/notesSlide9.xml" Id="Rce558bee0fc248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0d6626d4d14fb9" /><Relationship Type="http://schemas.openxmlformats.org/officeDocument/2006/relationships/image" Target="/ppt/media/image14.png" Id="R874f035ca6a5465b" /><Relationship Type="http://schemas.openxmlformats.org/officeDocument/2006/relationships/image" Target="/ppt/media/image13.svg" Id="Rc3a68c5cb8e84874" /><Relationship Type="http://schemas.openxmlformats.org/officeDocument/2006/relationships/image" Target="/ppt/media/image15.png" Id="Rba8cdeec980e40fc" /><Relationship Type="http://schemas.openxmlformats.org/officeDocument/2006/relationships/image" Target="/ppt/media/image14.svg" Id="Rc566169c70bf4ede" /><Relationship Type="http://schemas.openxmlformats.org/officeDocument/2006/relationships/notesSlide" Target="/ppt/notesSlides/notesSlide10.xml" Id="R6640bc90864149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2efe0d16ed4978" /><Relationship Type="http://schemas.openxmlformats.org/officeDocument/2006/relationships/notesSlide" Target="/ppt/notesSlides/notesSlide11.xml" Id="R7fe95b7e6f194c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dad31f3b4534322" /><Relationship Type="http://schemas.openxmlformats.org/officeDocument/2006/relationships/image" Target="/ppt/media/image16.png" Id="R913736e978ad4bad" /><Relationship Type="http://schemas.openxmlformats.org/officeDocument/2006/relationships/image" Target="/ppt/media/image15.svg" Id="R7959711e943f41c5" /><Relationship Type="http://schemas.openxmlformats.org/officeDocument/2006/relationships/image" Target="/ppt/media/image17.png" Id="Re1f56b85c5aa4f4d" /><Relationship Type="http://schemas.openxmlformats.org/officeDocument/2006/relationships/image" Target="/ppt/media/image16.svg" Id="R8f2cdb45da3b4d89" /><Relationship Type="http://schemas.openxmlformats.org/officeDocument/2006/relationships/image" Target="/ppt/media/image18.png" Id="R45e95aaaa1c742b6" /><Relationship Type="http://schemas.openxmlformats.org/officeDocument/2006/relationships/image" Target="/ppt/media/image17.svg" Id="Rbc0063c9cc9e49e1" /><Relationship Type="http://schemas.openxmlformats.org/officeDocument/2006/relationships/image" Target="/ppt/media/image19.png" Id="R671afa179b6949bb" /><Relationship Type="http://schemas.openxmlformats.org/officeDocument/2006/relationships/image" Target="/ppt/media/image18.svg" Id="R70b39fdb90254936" /><Relationship Type="http://schemas.openxmlformats.org/officeDocument/2006/relationships/notesSlide" Target="/ppt/notesSlides/notesSlide12.xml" Id="R1e972159220244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bc33eab83aa4280" /><Relationship Type="http://schemas.openxmlformats.org/officeDocument/2006/relationships/notesSlide" Target="/ppt/notesSlides/notesSlide13.xml" Id="R0c84e4b9a5f24c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f7d2a90d214594" /><Relationship Type="http://schemas.openxmlformats.org/officeDocument/2006/relationships/image" Target="/ppt/media/image20.png" Id="R88d1d42f74b54702" /><Relationship Type="http://schemas.openxmlformats.org/officeDocument/2006/relationships/image" Target="/ppt/media/image19.svg" Id="R8d10a4f1a7d24800" /><Relationship Type="http://schemas.openxmlformats.org/officeDocument/2006/relationships/notesSlide" Target="/ppt/notesSlides/notesSlide14.xml" Id="R3fae47a7fb4d4f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d08bda6885d4eae" /><Relationship Type="http://schemas.openxmlformats.org/officeDocument/2006/relationships/image" Target="/ppt/media/image21.png" Id="Ra360d183b90f4cae" /><Relationship Type="http://schemas.openxmlformats.org/officeDocument/2006/relationships/image" Target="/ppt/media/image20.svg" Id="Rdc112ec41b934be9" /><Relationship Type="http://schemas.openxmlformats.org/officeDocument/2006/relationships/image" Target="/ppt/media/image22.png" Id="R92c53dc03019453e" /><Relationship Type="http://schemas.openxmlformats.org/officeDocument/2006/relationships/image" Target="/ppt/media/image21.svg" Id="R2f79bff56ddc420a" /><Relationship Type="http://schemas.openxmlformats.org/officeDocument/2006/relationships/image" Target="/ppt/media/image23.png" Id="Rc94a0cbd905e4785" /><Relationship Type="http://schemas.openxmlformats.org/officeDocument/2006/relationships/image" Target="/ppt/media/image22.svg" Id="R3020250627fc4e6c" /><Relationship Type="http://schemas.openxmlformats.org/officeDocument/2006/relationships/image" Target="/ppt/media/image24.png" Id="R2381a3d84e83444c" /><Relationship Type="http://schemas.openxmlformats.org/officeDocument/2006/relationships/image" Target="/ppt/media/image23.svg" Id="R48e7e0c10ace4c46" /><Relationship Type="http://schemas.openxmlformats.org/officeDocument/2006/relationships/image" Target="/ppt/media/image25.png" Id="R3047b6d117fe407c" /><Relationship Type="http://schemas.openxmlformats.org/officeDocument/2006/relationships/image" Target="/ppt/media/image24.svg" Id="R71ef4b57ff374f68" /><Relationship Type="http://schemas.openxmlformats.org/officeDocument/2006/relationships/notesSlide" Target="/ppt/notesSlides/notesSlide15.xml" Id="R804a3741d67349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010FDE-1439-46E7-A196-A2508128701A}"/>
              </a:ext>
            </a:extLst>
          </p:cNvPr>
          <p:cNvSpPr>
            <a:spLocks xmlns:a="http://schemas.openxmlformats.org/drawingml/2006/main" noGrp="1"/>
          </p:cNvSpPr>
          <p:nvPr/>
        </p:nvSpPr>
        <p:spPr>
          <a:xfrm xmlns:a="http://schemas.openxmlformats.org/drawingml/2006/main">
            <a:off x="571500" y="1304925"/>
            <a:ext cx="657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5344A"/>
                </a:solidFill>
                <a:latin typeface="DejaVu Sans"/>
                <a:ea typeface="DejaVu Sans"/>
                <a:cs typeface="DejaVu Sans"/>
              </a:defRPr>
            </a:pPr>
            <a:r>
              <a:rPr sz="5400" b="1">
                <a:solidFill>
                  <a:srgbClr val="15344A"/>
                </a:solidFill>
                <a:latin typeface="DejaVu Sans"/>
                <a:ea typeface="DejaVu Sans"/>
                <a:cs typeface="DejaVu Sans"/>
              </a:rPr>
              <a:t>MEDASSIST</a:t>
            </a:r>
          </a:p>
        </p:txBody>
      </p:sp>
      <p:sp>
        <p:nvSpPr>
          <p:cNvPr id="2" name="">
            <a:extLst xmlns:a="http://schemas.openxmlformats.org/drawingml/2006/main">
              <a:ext uri="{FF2B5EF4-FFF2-40B4-BE49-F238E27FC236}">
                <a16:creationId xmlns:a16="http://schemas.microsoft.com/office/drawing/2014/main" id="{09411B36-FFC5-4529-8382-6A4EF6899F14}"/>
              </a:ext>
            </a:extLst>
          </p:cNvPr>
          <p:cNvSpPr>
            <a:spLocks xmlns:a="http://schemas.openxmlformats.org/drawingml/2006/main" noGrp="1"/>
          </p:cNvSpPr>
          <p:nvPr/>
        </p:nvSpPr>
        <p:spPr>
          <a:xfrm xmlns:a="http://schemas.openxmlformats.org/drawingml/2006/main">
            <a:off x="609600" y="2428875"/>
            <a:ext cx="6429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44A"/>
                </a:solidFill>
                <a:latin typeface="DejaVu Sans"/>
                <a:ea typeface="DejaVu Sans"/>
                <a:cs typeface="DejaVu Sans"/>
              </a:defRPr>
            </a:pPr>
            <a:r>
              <a:rPr sz="2250" b="0">
                <a:solidFill>
                  <a:srgbClr val="15344A"/>
                </a:solidFill>
                <a:latin typeface="DejaVu Sans"/>
                <a:ea typeface="DejaVu Sans"/>
                <a:cs typeface="DejaVu Sans"/>
              </a:rPr>
              <a:t>An AI-Assisted Healthcare Triage</a:t>
            </a:r>
          </a:p>
          <a:p xmlns:a="http://schemas.openxmlformats.org/drawingml/2006/main">
            <a:pPr>
              <a:defRPr sz="2250" b="0">
                <a:solidFill>
                  <a:srgbClr val="15344A"/>
                </a:solidFill>
                <a:latin typeface="DejaVu Sans"/>
                <a:ea typeface="DejaVu Sans"/>
                <a:cs typeface="DejaVu Sans"/>
              </a:defRPr>
            </a:pPr>
            <a:r>
              <a:rPr sz="2250" b="0">
                <a:solidFill>
                  <a:srgbClr val="15344A"/>
                </a:solidFill>
                <a:latin typeface="DejaVu Sans"/>
                <a:ea typeface="DejaVu Sans"/>
                <a:cs typeface="DejaVu Sans"/>
              </a:rPr>
              <a:t>and Patient Management Platform</a:t>
            </a:r>
          </a:p>
        </p:txBody>
      </p:sp>
      <p:sp>
        <p:nvSpPr>
          <p:cNvPr id="3" name="">
            <a:extLst xmlns:a="http://schemas.openxmlformats.org/drawingml/2006/main">
              <a:ext uri="{FF2B5EF4-FFF2-40B4-BE49-F238E27FC236}">
                <a16:creationId xmlns:a16="http://schemas.microsoft.com/office/drawing/2014/main" id="{20F1024F-F847-4FF7-A1BF-94C23661093E}"/>
              </a:ext>
            </a:extLst>
          </p:cNvPr>
          <p:cNvSpPr>
            <a:spLocks xmlns:a="http://schemas.openxmlformats.org/drawingml/2006/main" noGrp="1"/>
          </p:cNvSpPr>
          <p:nvPr/>
        </p:nvSpPr>
        <p:spPr>
          <a:xfrm xmlns:a="http://schemas.openxmlformats.org/drawingml/2006/main">
            <a:off x="609600" y="42386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44A"/>
                </a:solidFill>
                <a:latin typeface="DejaVu Sans"/>
                <a:ea typeface="DejaVu Sans"/>
                <a:cs typeface="DejaVu Sans"/>
              </a:defRPr>
            </a:pPr>
            <a:r>
              <a:rPr sz="2100" b="1">
                <a:solidFill>
                  <a:srgbClr val="15344A"/>
                </a:solidFill>
                <a:latin typeface="DejaVu Sans"/>
                <a:ea typeface="DejaVu Sans"/>
                <a:cs typeface="DejaVu Sans"/>
              </a:rPr>
              <a:t>Saloni Pandey</a:t>
            </a:r>
          </a:p>
        </p:txBody>
      </p:sp>
      <p:sp>
        <p:nvSpPr>
          <p:cNvPr id="4" name="">
            <a:extLst xmlns:a="http://schemas.openxmlformats.org/drawingml/2006/main">
              <a:ext uri="{FF2B5EF4-FFF2-40B4-BE49-F238E27FC236}">
                <a16:creationId xmlns:a16="http://schemas.microsoft.com/office/drawing/2014/main" id="{BE155774-65C4-44D3-9DF6-695BF8BE8C38}"/>
              </a:ext>
            </a:extLst>
          </p:cNvPr>
          <p:cNvSpPr>
            <a:spLocks xmlns:a="http://schemas.openxmlformats.org/drawingml/2006/main" noGrp="1"/>
          </p:cNvSpPr>
          <p:nvPr/>
        </p:nvSpPr>
        <p:spPr>
          <a:xfrm xmlns:a="http://schemas.openxmlformats.org/drawingml/2006/main">
            <a:off x="609600" y="47244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Enrollment No. 2302305089</a:t>
            </a:r>
          </a:p>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B.Tech CSE</a:t>
            </a:r>
          </a:p>
        </p:txBody>
      </p:sp>
      <p:sp>
        <p:nvSpPr>
          <p:cNvPr id="5" name="">
            <a:extLst xmlns:a="http://schemas.openxmlformats.org/drawingml/2006/main">
              <a:ext uri="{FF2B5EF4-FFF2-40B4-BE49-F238E27FC236}">
                <a16:creationId xmlns:a16="http://schemas.microsoft.com/office/drawing/2014/main" id="{86CDA70A-68EC-45E1-B053-DE03B7D5C564}"/>
              </a:ext>
            </a:extLst>
          </p:cNvPr>
          <p:cNvSpPr>
            <a:spLocks xmlns:a="http://schemas.openxmlformats.org/drawingml/2006/main" noGrp="1"/>
          </p:cNvSpPr>
          <p:nvPr/>
        </p:nvSpPr>
        <p:spPr>
          <a:xfrm xmlns:a="http://schemas.openxmlformats.org/drawingml/2006/main">
            <a:off x="609600" y="5724525"/>
            <a:ext cx="638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44A"/>
                </a:solidFill>
                <a:latin typeface="DejaVu Sans"/>
                <a:ea typeface="DejaVu Sans"/>
                <a:cs typeface="DejaVu Sans"/>
              </a:defRPr>
            </a:pPr>
            <a:r>
              <a:rPr sz="1575" b="0">
                <a:solidFill>
                  <a:srgbClr val="15344A"/>
                </a:solidFill>
                <a:latin typeface="DejaVu Sans"/>
                <a:ea typeface="DejaVu Sans"/>
                <a:cs typeface="DejaVu Sans"/>
              </a:rPr>
              <a:t>Under the Guidance of Mr. Amit Jain</a:t>
            </a:r>
          </a:p>
          <a:p xmlns:a="http://schemas.openxmlformats.org/drawingml/2006/main">
            <a:pPr>
              <a:defRPr sz="1575" b="0">
                <a:solidFill>
                  <a:srgbClr val="15344A"/>
                </a:solidFill>
                <a:latin typeface="DejaVu Sans"/>
                <a:ea typeface="DejaVu Sans"/>
                <a:cs typeface="DejaVu Sans"/>
              </a:defRPr>
            </a:pPr>
            <a:r>
              <a:rPr sz="1575" b="0">
                <a:solidFill>
                  <a:srgbClr val="15344A"/>
                </a:solidFill>
                <a:latin typeface="DejaVu Sans"/>
                <a:ea typeface="DejaVu Sans"/>
                <a:cs typeface="DejaVu Sans"/>
              </a:rPr>
              <a:t>SOEIT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ac30b04ff664801"/>
          <a:stretch xmlns:a="http://schemas.openxmlformats.org/drawingml/2006/main"/>
        </p:blipFill>
        <p:spPr>
          <a:xfrm xmlns:a="http://schemas.openxmlformats.org/drawingml/2006/main">
            <a:off x="7143750" y="1524000"/>
            <a:ext cx="4667250" cy="4667250"/>
          </a:xfrm>
          <a:prstGeom xmlns:a="http://schemas.openxmlformats.org/drawingml/2006/main" prst="rect">
            <a:avLst/>
          </a:prstGeom>
        </p:spPr>
      </p:pic>
    </p:spTree>
    <p:extLst>
      <p:ext uri="{BB962C8B-B14F-4D97-AF65-F5344CB8AC3E}">
        <p14:creationId xmlns:p14="http://schemas.microsoft.com/office/powerpoint/2010/main" val="609869066"/>
      </p:ext>
    </p:extLst>
  </p:cSld>
  <p:transition spd="fast">
    <p:fade/>
  </p:transition>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cxnSp>
        <p:nvCxnSpPr>
          <p:cNvPr id="24" name=""/>
          <p:cNvCxnSpPr>
            <a:stCxn xmlns:a="http://schemas.openxmlformats.org/drawingml/2006/main" id="16" idx="0"/>
            <a:endCxn xmlns:a="http://schemas.openxmlformats.org/drawingml/2006/main" id="8" idx="2"/>
          </p:cNvCxnSpPr>
          <p:nvPr/>
        </p:nvCxnSpPr>
        <p:spPr>
          <a:xfrm xmlns:a="http://schemas.openxmlformats.org/drawingml/2006/main" flipV="1">
            <a:off x="6119813" y="3390900"/>
            <a:ext cx="0" cy="8001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25" name=""/>
          <p:cNvCxnSpPr>
            <a:stCxn xmlns:a="http://schemas.openxmlformats.org/drawingml/2006/main" id="8" idx="3"/>
            <a:endCxn xmlns:a="http://schemas.openxmlformats.org/drawingml/2006/main" id="11" idx="1"/>
          </p:cNvCxnSpPr>
          <p:nvPr/>
        </p:nvCxnSpPr>
        <p:spPr>
          <a:xfrm xmlns:a="http://schemas.openxmlformats.org/drawingml/2006/main">
            <a:off x="7715250" y="2819400"/>
            <a:ext cx="66675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26" name=""/>
          <p:cNvCxnSpPr>
            <a:stCxn xmlns:a="http://schemas.openxmlformats.org/drawingml/2006/main" id="5" idx="3"/>
            <a:endCxn xmlns:a="http://schemas.openxmlformats.org/drawingml/2006/main" id="8" idx="1"/>
          </p:cNvCxnSpPr>
          <p:nvPr/>
        </p:nvCxnSpPr>
        <p:spPr>
          <a:xfrm xmlns:a="http://schemas.openxmlformats.org/drawingml/2006/main">
            <a:off x="3857625" y="2819400"/>
            <a:ext cx="666750" cy="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27" name="">
            <a:extLst xmlns:a="http://schemas.openxmlformats.org/drawingml/2006/main">
              <a:ext uri="{FF2B5EF4-FFF2-40B4-BE49-F238E27FC236}">
                <a16:creationId xmlns:a16="http://schemas.microsoft.com/office/drawing/2014/main" id="{5601ED78-7740-4894-B058-C8239710D7FE}"/>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Introduction</a:t>
            </a:r>
          </a:p>
        </p:txBody>
      </p:sp>
      <p:sp>
        <p:nvSpPr>
          <p:cNvPr id="2" name="">
            <a:extLst xmlns:a="http://schemas.openxmlformats.org/drawingml/2006/main">
              <a:ext uri="{FF2B5EF4-FFF2-40B4-BE49-F238E27FC236}">
                <a16:creationId xmlns:a16="http://schemas.microsoft.com/office/drawing/2014/main" id="{368D0430-C3E7-47FB-B99D-1EF8CE5AF2C5}"/>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A centralized platform for patient information and coordinated doctor review</a:t>
            </a:r>
          </a:p>
        </p:txBody>
      </p:sp>
      <p:sp>
        <p:nvSpPr>
          <p:cNvPr id="3" name="">
            <a:extLst xmlns:a="http://schemas.openxmlformats.org/drawingml/2006/main">
              <a:ext uri="{FF2B5EF4-FFF2-40B4-BE49-F238E27FC236}">
                <a16:creationId xmlns:a16="http://schemas.microsoft.com/office/drawing/2014/main" id="{60A99B11-2121-433A-80BC-A4DEB3EBA1E5}"/>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F34D8420-C875-419F-B6D7-0D7A74F9BD1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2AF6DF43-B450-44D1-9071-8EE34BD807D3}"/>
              </a:ext>
            </a:extLst>
          </p:cNvPr>
          <p:cNvSpPr>
            <a:spLocks xmlns:a="http://schemas.openxmlformats.org/drawingml/2006/main" noGrp="1"/>
          </p:cNvSpPr>
          <p:nvPr/>
        </p:nvSpPr>
        <p:spPr>
          <a:xfrm xmlns:a="http://schemas.openxmlformats.org/drawingml/2006/main">
            <a:off x="666750" y="2247900"/>
            <a:ext cx="3190875"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2E2E9"/>
            </a:solidFill>
          </a:ln>
        </p:spPr>
      </p:sp>
      <p:sp>
        <p:nvSpPr>
          <p:cNvPr id="6" name="">
            <a:extLst xmlns:a="http://schemas.openxmlformats.org/drawingml/2006/main">
              <a:ext uri="{FF2B5EF4-FFF2-40B4-BE49-F238E27FC236}">
                <a16:creationId xmlns:a16="http://schemas.microsoft.com/office/drawing/2014/main" id="{DBEC22F2-2FC9-483B-B398-86E139483449}"/>
              </a:ext>
            </a:extLst>
          </p:cNvPr>
          <p:cNvSpPr>
            <a:spLocks xmlns:a="http://schemas.openxmlformats.org/drawingml/2006/main" noGrp="1"/>
          </p:cNvSpPr>
          <p:nvPr/>
        </p:nvSpPr>
        <p:spPr>
          <a:xfrm xmlns:a="http://schemas.openxmlformats.org/drawingml/2006/main">
            <a:off x="781050" y="2343150"/>
            <a:ext cx="2962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Patient information</a:t>
            </a:r>
          </a:p>
        </p:txBody>
      </p:sp>
      <p:sp>
        <p:nvSpPr>
          <p:cNvPr id="7" name="">
            <a:extLst xmlns:a="http://schemas.openxmlformats.org/drawingml/2006/main">
              <a:ext uri="{FF2B5EF4-FFF2-40B4-BE49-F238E27FC236}">
                <a16:creationId xmlns:a16="http://schemas.microsoft.com/office/drawing/2014/main" id="{FD4F2805-5E54-4F77-A61A-ACCEE88D1C7E}"/>
              </a:ext>
            </a:extLst>
          </p:cNvPr>
          <p:cNvSpPr>
            <a:spLocks xmlns:a="http://schemas.openxmlformats.org/drawingml/2006/main" noGrp="1"/>
          </p:cNvSpPr>
          <p:nvPr/>
        </p:nvSpPr>
        <p:spPr>
          <a:xfrm xmlns:a="http://schemas.openxmlformats.org/drawingml/2006/main">
            <a:off x="781050" y="2705100"/>
            <a:ext cx="29622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Profiles, symptoms and reports</a:t>
            </a:r>
          </a:p>
        </p:txBody>
      </p:sp>
      <p:sp>
        <p:nvSpPr>
          <p:cNvPr id="8" name="">
            <a:extLst xmlns:a="http://schemas.openxmlformats.org/drawingml/2006/main">
              <a:ext uri="{FF2B5EF4-FFF2-40B4-BE49-F238E27FC236}">
                <a16:creationId xmlns:a16="http://schemas.microsoft.com/office/drawing/2014/main" id="{1AC71C16-2ECB-41E7-A12C-B487E5398581}"/>
              </a:ext>
            </a:extLst>
          </p:cNvPr>
          <p:cNvSpPr>
            <a:spLocks xmlns:a="http://schemas.openxmlformats.org/drawingml/2006/main" noGrp="1"/>
          </p:cNvSpPr>
          <p:nvPr/>
        </p:nvSpPr>
        <p:spPr>
          <a:xfrm xmlns:a="http://schemas.openxmlformats.org/drawingml/2006/main">
            <a:off x="4524375" y="2247900"/>
            <a:ext cx="3190875" cy="1143000"/>
          </a:xfrm>
          <a:prstGeom xmlns:a="http://schemas.openxmlformats.org/drawingml/2006/main" prst="roundRect">
            <a:avLst>
              <a:gd name="adj" fmla="val 11667"/>
            </a:avLst>
          </a:prstGeom>
          <a:solidFill xmlns:a="http://schemas.openxmlformats.org/drawingml/2006/main">
            <a:srgbClr val="EAF6F6"/>
          </a:solidFill>
          <a:ln xmlns:a="http://schemas.openxmlformats.org/drawingml/2006/main" w="9525">
            <a:solidFill>
              <a:srgbClr val="D2E2E9"/>
            </a:solidFill>
          </a:ln>
        </p:spPr>
      </p:sp>
      <p:sp>
        <p:nvSpPr>
          <p:cNvPr id="9" name="">
            <a:extLst xmlns:a="http://schemas.openxmlformats.org/drawingml/2006/main">
              <a:ext uri="{FF2B5EF4-FFF2-40B4-BE49-F238E27FC236}">
                <a16:creationId xmlns:a16="http://schemas.microsoft.com/office/drawing/2014/main" id="{B592B4E5-04DB-4AB7-8927-B0D1AEB3AA1D}"/>
              </a:ext>
            </a:extLst>
          </p:cNvPr>
          <p:cNvSpPr>
            <a:spLocks xmlns:a="http://schemas.openxmlformats.org/drawingml/2006/main" noGrp="1"/>
          </p:cNvSpPr>
          <p:nvPr/>
        </p:nvSpPr>
        <p:spPr>
          <a:xfrm xmlns:a="http://schemas.openxmlformats.org/drawingml/2006/main">
            <a:off x="4638675" y="2343150"/>
            <a:ext cx="2962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MedAssist</a:t>
            </a:r>
          </a:p>
        </p:txBody>
      </p:sp>
      <p:sp>
        <p:nvSpPr>
          <p:cNvPr id="10" name="">
            <a:extLst xmlns:a="http://schemas.openxmlformats.org/drawingml/2006/main">
              <a:ext uri="{FF2B5EF4-FFF2-40B4-BE49-F238E27FC236}">
                <a16:creationId xmlns:a16="http://schemas.microsoft.com/office/drawing/2014/main" id="{1FAFC497-3F90-402A-B58B-0F9948FA4AA2}"/>
              </a:ext>
            </a:extLst>
          </p:cNvPr>
          <p:cNvSpPr>
            <a:spLocks xmlns:a="http://schemas.openxmlformats.org/drawingml/2006/main" noGrp="1"/>
          </p:cNvSpPr>
          <p:nvPr/>
        </p:nvSpPr>
        <p:spPr>
          <a:xfrm xmlns:a="http://schemas.openxmlformats.org/drawingml/2006/main">
            <a:off x="4638675" y="2705100"/>
            <a:ext cx="29622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Healthcare management platform</a:t>
            </a:r>
          </a:p>
        </p:txBody>
      </p:sp>
      <p:sp>
        <p:nvSpPr>
          <p:cNvPr id="11" name="">
            <a:extLst xmlns:a="http://schemas.openxmlformats.org/drawingml/2006/main">
              <a:ext uri="{FF2B5EF4-FFF2-40B4-BE49-F238E27FC236}">
                <a16:creationId xmlns:a16="http://schemas.microsoft.com/office/drawing/2014/main" id="{5B3B29F7-7623-4587-BD07-BF721F76D8FB}"/>
              </a:ext>
            </a:extLst>
          </p:cNvPr>
          <p:cNvSpPr>
            <a:spLocks xmlns:a="http://schemas.openxmlformats.org/drawingml/2006/main" noGrp="1"/>
          </p:cNvSpPr>
          <p:nvPr/>
        </p:nvSpPr>
        <p:spPr>
          <a:xfrm xmlns:a="http://schemas.openxmlformats.org/drawingml/2006/main">
            <a:off x="8382000" y="2247900"/>
            <a:ext cx="314325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2E2E9"/>
            </a:solidFill>
          </a:ln>
        </p:spPr>
      </p:sp>
      <p:sp>
        <p:nvSpPr>
          <p:cNvPr id="12" name="">
            <a:extLst xmlns:a="http://schemas.openxmlformats.org/drawingml/2006/main">
              <a:ext uri="{FF2B5EF4-FFF2-40B4-BE49-F238E27FC236}">
                <a16:creationId xmlns:a16="http://schemas.microsoft.com/office/drawing/2014/main" id="{D89C824E-2637-4787-A1EE-3878223A71BA}"/>
              </a:ext>
            </a:extLst>
          </p:cNvPr>
          <p:cNvSpPr>
            <a:spLocks xmlns:a="http://schemas.openxmlformats.org/drawingml/2006/main" noGrp="1"/>
          </p:cNvSpPr>
          <p:nvPr/>
        </p:nvSpPr>
        <p:spPr>
          <a:xfrm xmlns:a="http://schemas.openxmlformats.org/drawingml/2006/main">
            <a:off x="8496300" y="2343150"/>
            <a:ext cx="2914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Doctor review</a:t>
            </a:r>
          </a:p>
        </p:txBody>
      </p:sp>
      <p:sp>
        <p:nvSpPr>
          <p:cNvPr id="13" name="">
            <a:extLst xmlns:a="http://schemas.openxmlformats.org/drawingml/2006/main">
              <a:ext uri="{FF2B5EF4-FFF2-40B4-BE49-F238E27FC236}">
                <a16:creationId xmlns:a16="http://schemas.microsoft.com/office/drawing/2014/main" id="{4268B712-DE06-4AFE-BC7B-90D89FDA34ED}"/>
              </a:ext>
            </a:extLst>
          </p:cNvPr>
          <p:cNvSpPr>
            <a:spLocks xmlns:a="http://schemas.openxmlformats.org/drawingml/2006/main" noGrp="1"/>
          </p:cNvSpPr>
          <p:nvPr/>
        </p:nvSpPr>
        <p:spPr>
          <a:xfrm xmlns:a="http://schemas.openxmlformats.org/drawingml/2006/main">
            <a:off x="8496300" y="270510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Independent professional assessment</a:t>
            </a:r>
          </a:p>
        </p:txBody>
      </p:sp>
      <p:sp>
        <p:nvSpPr>
          <p:cNvPr id="16" name="">
            <a:extLst xmlns:a="http://schemas.openxmlformats.org/drawingml/2006/main">
              <a:ext uri="{FF2B5EF4-FFF2-40B4-BE49-F238E27FC236}">
                <a16:creationId xmlns:a16="http://schemas.microsoft.com/office/drawing/2014/main" id="{4D58F318-DB23-441C-AAEB-D61DD31158D4}"/>
              </a:ext>
            </a:extLst>
          </p:cNvPr>
          <p:cNvSpPr>
            <a:spLocks xmlns:a="http://schemas.openxmlformats.org/drawingml/2006/main" noGrp="1"/>
          </p:cNvSpPr>
          <p:nvPr/>
        </p:nvSpPr>
        <p:spPr>
          <a:xfrm xmlns:a="http://schemas.openxmlformats.org/drawingml/2006/main">
            <a:off x="4524375" y="4191000"/>
            <a:ext cx="3190875"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2E2E9"/>
            </a:solidFill>
          </a:ln>
        </p:spPr>
      </p:sp>
      <p:sp>
        <p:nvSpPr>
          <p:cNvPr id="17" name="">
            <a:extLst xmlns:a="http://schemas.openxmlformats.org/drawingml/2006/main">
              <a:ext uri="{FF2B5EF4-FFF2-40B4-BE49-F238E27FC236}">
                <a16:creationId xmlns:a16="http://schemas.microsoft.com/office/drawing/2014/main" id="{B1982CDA-D65A-496B-A634-A2D9D8B9CF55}"/>
              </a:ext>
            </a:extLst>
          </p:cNvPr>
          <p:cNvSpPr>
            <a:spLocks xmlns:a="http://schemas.openxmlformats.org/drawingml/2006/main" noGrp="1"/>
          </p:cNvSpPr>
          <p:nvPr/>
        </p:nvSpPr>
        <p:spPr>
          <a:xfrm xmlns:a="http://schemas.openxmlformats.org/drawingml/2006/main">
            <a:off x="4638675" y="4286250"/>
            <a:ext cx="2962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AI-assisted triage</a:t>
            </a:r>
          </a:p>
        </p:txBody>
      </p:sp>
      <p:sp>
        <p:nvSpPr>
          <p:cNvPr id="18" name="">
            <a:extLst xmlns:a="http://schemas.openxmlformats.org/drawingml/2006/main">
              <a:ext uri="{FF2B5EF4-FFF2-40B4-BE49-F238E27FC236}">
                <a16:creationId xmlns:a16="http://schemas.microsoft.com/office/drawing/2014/main" id="{F8357103-55F1-4819-A5EB-DB5322835163}"/>
              </a:ext>
            </a:extLst>
          </p:cNvPr>
          <p:cNvSpPr>
            <a:spLocks xmlns:a="http://schemas.openxmlformats.org/drawingml/2006/main" noGrp="1"/>
          </p:cNvSpPr>
          <p:nvPr/>
        </p:nvSpPr>
        <p:spPr>
          <a:xfrm xmlns:a="http://schemas.openxmlformats.org/drawingml/2006/main">
            <a:off x="4638675" y="4648200"/>
            <a:ext cx="29622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Preliminary urgency classification</a:t>
            </a:r>
          </a:p>
        </p:txBody>
      </p:sp>
      <p:sp>
        <p:nvSpPr>
          <p:cNvPr id="20" name="">
            <a:extLst xmlns:a="http://schemas.openxmlformats.org/drawingml/2006/main">
              <a:ext uri="{FF2B5EF4-FFF2-40B4-BE49-F238E27FC236}">
                <a16:creationId xmlns:a16="http://schemas.microsoft.com/office/drawing/2014/main" id="{A269E5C4-F6AE-4AA4-9BC7-5DFA814F1991}"/>
              </a:ext>
            </a:extLst>
          </p:cNvPr>
          <p:cNvSpPr>
            <a:spLocks xmlns:a="http://schemas.openxmlformats.org/drawingml/2006/main" noGrp="1"/>
          </p:cNvSpPr>
          <p:nvPr/>
        </p:nvSpPr>
        <p:spPr>
          <a:xfrm xmlns:a="http://schemas.openxmlformats.org/drawingml/2006/main">
            <a:off x="666750" y="5638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44A"/>
                </a:solidFill>
                <a:latin typeface="DejaVu Sans"/>
                <a:ea typeface="DejaVu Sans"/>
                <a:cs typeface="DejaVu Sans"/>
              </a:defRPr>
            </a:pPr>
            <a:r>
              <a:rPr sz="1875" b="0">
                <a:solidFill>
                  <a:srgbClr val="15344A"/>
                </a:solidFill>
                <a:latin typeface="DejaVu Sans"/>
                <a:ea typeface="DejaVu Sans"/>
                <a:cs typeface="DejaVu Sans"/>
              </a:rPr>
              <a:t>Appointments and case tracking support the complete workflow.</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550ba4cf03249c7">
            <a:extLst>
              <a:ext uri="{96DAC541-7B7A-43D3-8B79-37D633B846F1}">
                <asvg:svgBlip xmlns:asvg="http://schemas.microsoft.com/office/drawing/2016/SVG/main" r:embed="R30b3ca305bf3447a"/>
              </a:ext>
            </a:extLst>
          </a:blip>
          <a:stretch xmlns:a="http://schemas.openxmlformats.org/drawingml/2006/main"/>
        </p:blipFill>
        <p:spPr>
          <a:xfrm xmlns:a="http://schemas.openxmlformats.org/drawingml/2006/main">
            <a:off x="762000" y="1676400"/>
            <a:ext cx="342900" cy="34290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700270e675e412b">
            <a:extLst>
              <a:ext uri="{96DAC541-7B7A-43D3-8B79-37D633B846F1}">
                <asvg:svgBlip xmlns:asvg="http://schemas.microsoft.com/office/drawing/2016/SVG/main" r:embed="R5e44bdac9b3048f6"/>
              </a:ext>
            </a:extLst>
          </a:blip>
          <a:stretch xmlns:a="http://schemas.openxmlformats.org/drawingml/2006/main"/>
        </p:blipFill>
        <p:spPr>
          <a:xfrm xmlns:a="http://schemas.openxmlformats.org/drawingml/2006/main">
            <a:off x="4629150" y="1676400"/>
            <a:ext cx="342900" cy="3429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5286e47810f4442">
            <a:extLst>
              <a:ext uri="{96DAC541-7B7A-43D3-8B79-37D633B846F1}">
                <asvg:svgBlip xmlns:asvg="http://schemas.microsoft.com/office/drawing/2016/SVG/main" r:embed="R3265b5351a024135"/>
              </a:ext>
            </a:extLst>
          </a:blip>
          <a:stretch xmlns:a="http://schemas.openxmlformats.org/drawingml/2006/main"/>
        </p:blipFill>
        <p:spPr>
          <a:xfrm xmlns:a="http://schemas.openxmlformats.org/drawingml/2006/main">
            <a:off x="8477250" y="1676400"/>
            <a:ext cx="342900" cy="342900"/>
          </a:xfrm>
          <a:prstGeom xmlns:a="http://schemas.openxmlformats.org/drawingml/2006/main" prst="rect">
            <a:avLst/>
          </a:prstGeom>
        </p:spPr>
      </p:pic>
    </p:spTree>
    <p:extLst>
      <p:ext uri="{BB962C8B-B14F-4D97-AF65-F5344CB8AC3E}">
        <p14:creationId xmlns:p14="http://schemas.microsoft.com/office/powerpoint/2010/main" val="2100140332"/>
      </p:ext>
    </p:extLst>
  </p:cSld>
  <p:transition spd="fast">
    <p:fade/>
  </p:transition>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005D51F-86D1-4EEB-9CEB-60E6D88D279B}"/>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Problem Statement</a:t>
            </a:r>
          </a:p>
        </p:txBody>
      </p:sp>
      <p:sp>
        <p:nvSpPr>
          <p:cNvPr id="2" name="">
            <a:extLst xmlns:a="http://schemas.openxmlformats.org/drawingml/2006/main">
              <a:ext uri="{FF2B5EF4-FFF2-40B4-BE49-F238E27FC236}">
                <a16:creationId xmlns:a16="http://schemas.microsoft.com/office/drawing/2014/main" id="{4B65236F-A885-47F3-A79C-00D4FC30C53D}"/>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Fragmented information makes case coordination difficult</a:t>
            </a:r>
          </a:p>
        </p:txBody>
      </p:sp>
      <p:sp>
        <p:nvSpPr>
          <p:cNvPr id="3" name="">
            <a:extLst xmlns:a="http://schemas.openxmlformats.org/drawingml/2006/main">
              <a:ext uri="{FF2B5EF4-FFF2-40B4-BE49-F238E27FC236}">
                <a16:creationId xmlns:a16="http://schemas.microsoft.com/office/drawing/2014/main" id="{A78EB3F9-8D68-45AC-BAB5-00E4769BC67F}"/>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BF8582FF-E6E7-4296-A657-D61C354339B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03</a:t>
            </a:r>
          </a:p>
        </p:txBody>
      </p:sp>
      <p:sp>
        <p:nvSpPr>
          <p:cNvPr id="5" name="">
            <a:extLst xmlns:a="http://schemas.openxmlformats.org/drawingml/2006/main">
              <a:ext uri="{FF2B5EF4-FFF2-40B4-BE49-F238E27FC236}">
                <a16:creationId xmlns:a16="http://schemas.microsoft.com/office/drawing/2014/main" id="{2B1C6750-4154-4ECA-B6AA-AF2AB8ECC695}"/>
              </a:ext>
            </a:extLst>
          </p:cNvPr>
          <p:cNvSpPr>
            <a:spLocks xmlns:a="http://schemas.openxmlformats.org/drawingml/2006/main" noGrp="1"/>
          </p:cNvSpPr>
          <p:nvPr/>
        </p:nvSpPr>
        <p:spPr>
          <a:xfrm xmlns:a="http://schemas.openxmlformats.org/drawingml/2006/main">
            <a:off x="762000" y="17621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26776"/>
                </a:solidFill>
                <a:latin typeface="DejaVu Sans"/>
                <a:ea typeface="DejaVu Sans"/>
                <a:cs typeface="DejaVu Sans"/>
              </a:defRPr>
            </a:pPr>
            <a:r>
              <a:rPr sz="1500" b="1">
                <a:solidFill>
                  <a:srgbClr val="526776"/>
                </a:solidFill>
                <a:latin typeface="DejaVu Sans"/>
                <a:ea typeface="DejaVu Sans"/>
                <a:cs typeface="DejaVu Sans"/>
              </a:rPr>
              <a:t>CURRENT CHALLENGE</a:t>
            </a:r>
          </a:p>
        </p:txBody>
      </p:sp>
      <p:sp>
        <p:nvSpPr>
          <p:cNvPr id="6" name="">
            <a:extLst xmlns:a="http://schemas.openxmlformats.org/drawingml/2006/main">
              <a:ext uri="{FF2B5EF4-FFF2-40B4-BE49-F238E27FC236}">
                <a16:creationId xmlns:a16="http://schemas.microsoft.com/office/drawing/2014/main" id="{B9058138-E5DB-463D-8902-4524F0867953}"/>
              </a:ext>
            </a:extLst>
          </p:cNvPr>
          <p:cNvSpPr>
            <a:spLocks xmlns:a="http://schemas.openxmlformats.org/drawingml/2006/main" noGrp="1"/>
          </p:cNvSpPr>
          <p:nvPr/>
        </p:nvSpPr>
        <p:spPr>
          <a:xfrm xmlns:a="http://schemas.openxmlformats.org/drawingml/2006/main">
            <a:off x="6715125" y="17621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MEDASSIST RESPONSE</a:t>
            </a:r>
          </a:p>
        </p:txBody>
      </p:sp>
      <p:sp>
        <p:nvSpPr>
          <p:cNvPr id="7" name="">
            <a:extLst xmlns:a="http://schemas.openxmlformats.org/drawingml/2006/main">
              <a:ext uri="{FF2B5EF4-FFF2-40B4-BE49-F238E27FC236}">
                <a16:creationId xmlns:a16="http://schemas.microsoft.com/office/drawing/2014/main" id="{CEF9265F-CA9C-4917-8A6D-86EE8E0C7386}"/>
              </a:ext>
            </a:extLst>
          </p:cNvPr>
          <p:cNvSpPr>
            <a:spLocks xmlns:a="http://schemas.openxmlformats.org/drawingml/2006/main" noGrp="1"/>
          </p:cNvSpPr>
          <p:nvPr/>
        </p:nvSpPr>
        <p:spPr>
          <a:xfrm xmlns:a="http://schemas.openxmlformats.org/drawingml/2006/main">
            <a:off x="762000" y="226695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Scattered patient records</a:t>
            </a:r>
          </a:p>
        </p:txBody>
      </p:sp>
      <p:sp>
        <p:nvSpPr>
          <p:cNvPr id="8" name="">
            <a:extLst xmlns:a="http://schemas.openxmlformats.org/drawingml/2006/main">
              <a:ext uri="{FF2B5EF4-FFF2-40B4-BE49-F238E27FC236}">
                <a16:creationId xmlns:a16="http://schemas.microsoft.com/office/drawing/2014/main" id="{C1E5F0E2-B3C0-457D-AC77-B47DEDAF9B38}"/>
              </a:ext>
            </a:extLst>
          </p:cNvPr>
          <p:cNvSpPr>
            <a:spLocks xmlns:a="http://schemas.openxmlformats.org/drawingml/2006/main" noGrp="1"/>
          </p:cNvSpPr>
          <p:nvPr/>
        </p:nvSpPr>
        <p:spPr>
          <a:xfrm xmlns:a="http://schemas.openxmlformats.org/drawingml/2006/main">
            <a:off x="5981700" y="22669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9" name="">
            <a:extLst xmlns:a="http://schemas.openxmlformats.org/drawingml/2006/main">
              <a:ext uri="{FF2B5EF4-FFF2-40B4-BE49-F238E27FC236}">
                <a16:creationId xmlns:a16="http://schemas.microsoft.com/office/drawing/2014/main" id="{4006A8B9-FDDB-4B9C-897D-B0043C1DD3DE}"/>
              </a:ext>
            </a:extLst>
          </p:cNvPr>
          <p:cNvSpPr>
            <a:spLocks xmlns:a="http://schemas.openxmlformats.org/drawingml/2006/main" noGrp="1"/>
          </p:cNvSpPr>
          <p:nvPr/>
        </p:nvSpPr>
        <p:spPr>
          <a:xfrm xmlns:a="http://schemas.openxmlformats.org/drawingml/2006/main">
            <a:off x="6715125" y="22669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rPr>
              <a:t>Centralized profiles and history</a:t>
            </a:r>
          </a:p>
        </p:txBody>
      </p:sp>
      <p:sp>
        <p:nvSpPr>
          <p:cNvPr id="10" name="">
            <a:extLst xmlns:a="http://schemas.openxmlformats.org/drawingml/2006/main">
              <a:ext uri="{FF2B5EF4-FFF2-40B4-BE49-F238E27FC236}">
                <a16:creationId xmlns:a16="http://schemas.microsoft.com/office/drawing/2014/main" id="{F74D3BF6-39F4-4CEE-8809-EA35222885BF}"/>
              </a:ext>
            </a:extLst>
          </p:cNvPr>
          <p:cNvSpPr>
            <a:spLocks xmlns:a="http://schemas.openxmlformats.org/drawingml/2006/main" noGrp="1"/>
          </p:cNvSpPr>
          <p:nvPr/>
        </p:nvSpPr>
        <p:spPr>
          <a:xfrm xmlns:a="http://schemas.openxmlformats.org/drawingml/2006/main">
            <a:off x="762000" y="288607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Reports are difficult to organize</a:t>
            </a:r>
          </a:p>
        </p:txBody>
      </p:sp>
      <p:sp>
        <p:nvSpPr>
          <p:cNvPr id="11" name="">
            <a:extLst xmlns:a="http://schemas.openxmlformats.org/drawingml/2006/main">
              <a:ext uri="{FF2B5EF4-FFF2-40B4-BE49-F238E27FC236}">
                <a16:creationId xmlns:a16="http://schemas.microsoft.com/office/drawing/2014/main" id="{9E02AC4F-10D9-47C8-9167-798D9E3470C5}"/>
              </a:ext>
            </a:extLst>
          </p:cNvPr>
          <p:cNvSpPr>
            <a:spLocks xmlns:a="http://schemas.openxmlformats.org/drawingml/2006/main" noGrp="1"/>
          </p:cNvSpPr>
          <p:nvPr/>
        </p:nvSpPr>
        <p:spPr>
          <a:xfrm xmlns:a="http://schemas.openxmlformats.org/drawingml/2006/main">
            <a:off x="5981700" y="288607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60FE227C-5850-406F-9EF0-A1D009475E66}"/>
              </a:ext>
            </a:extLst>
          </p:cNvPr>
          <p:cNvSpPr>
            <a:spLocks xmlns:a="http://schemas.openxmlformats.org/drawingml/2006/main" noGrp="1"/>
          </p:cNvSpPr>
          <p:nvPr/>
        </p:nvSpPr>
        <p:spPr>
          <a:xfrm xmlns:a="http://schemas.openxmlformats.org/drawingml/2006/main">
            <a:off x="6715125" y="28860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rPr>
              <a:t>Controlled report uploads and access</a:t>
            </a:r>
          </a:p>
        </p:txBody>
      </p:sp>
      <p:sp>
        <p:nvSpPr>
          <p:cNvPr id="13" name="">
            <a:extLst xmlns:a="http://schemas.openxmlformats.org/drawingml/2006/main">
              <a:ext uri="{FF2B5EF4-FFF2-40B4-BE49-F238E27FC236}">
                <a16:creationId xmlns:a16="http://schemas.microsoft.com/office/drawing/2014/main" id="{1857D229-0C4A-4D10-AA5F-A98AFB8F352D}"/>
              </a:ext>
            </a:extLst>
          </p:cNvPr>
          <p:cNvSpPr>
            <a:spLocks xmlns:a="http://schemas.openxmlformats.org/drawingml/2006/main" noGrp="1"/>
          </p:cNvSpPr>
          <p:nvPr/>
        </p:nvSpPr>
        <p:spPr>
          <a:xfrm xmlns:a="http://schemas.openxmlformats.org/drawingml/2006/main">
            <a:off x="762000" y="350520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Informal symptom descriptions</a:t>
            </a:r>
          </a:p>
        </p:txBody>
      </p:sp>
      <p:sp>
        <p:nvSpPr>
          <p:cNvPr id="14" name="">
            <a:extLst xmlns:a="http://schemas.openxmlformats.org/drawingml/2006/main">
              <a:ext uri="{FF2B5EF4-FFF2-40B4-BE49-F238E27FC236}">
                <a16:creationId xmlns:a16="http://schemas.microsoft.com/office/drawing/2014/main" id="{70FC62FF-4101-4A6E-9634-CF3DD64A076F}"/>
              </a:ext>
            </a:extLst>
          </p:cNvPr>
          <p:cNvSpPr>
            <a:spLocks xmlns:a="http://schemas.openxmlformats.org/drawingml/2006/main" noGrp="1"/>
          </p:cNvSpPr>
          <p:nvPr/>
        </p:nvSpPr>
        <p:spPr>
          <a:xfrm xmlns:a="http://schemas.openxmlformats.org/drawingml/2006/main">
            <a:off x="5981700" y="35052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15" name="">
            <a:extLst xmlns:a="http://schemas.openxmlformats.org/drawingml/2006/main">
              <a:ext uri="{FF2B5EF4-FFF2-40B4-BE49-F238E27FC236}">
                <a16:creationId xmlns:a16="http://schemas.microsoft.com/office/drawing/2014/main" id="{12E3CB32-641B-4024-ABC6-CA80356F8FB2}"/>
              </a:ext>
            </a:extLst>
          </p:cNvPr>
          <p:cNvSpPr>
            <a:spLocks xmlns:a="http://schemas.openxmlformats.org/drawingml/2006/main" noGrp="1"/>
          </p:cNvSpPr>
          <p:nvPr/>
        </p:nvSpPr>
        <p:spPr>
          <a:xfrm xmlns:a="http://schemas.openxmlformats.org/drawingml/2006/main">
            <a:off x="6715125" y="35052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rPr>
              <a:t>Structured symptom assessments</a:t>
            </a:r>
          </a:p>
        </p:txBody>
      </p:sp>
      <p:sp>
        <p:nvSpPr>
          <p:cNvPr id="16" name="">
            <a:extLst xmlns:a="http://schemas.openxmlformats.org/drawingml/2006/main">
              <a:ext uri="{FF2B5EF4-FFF2-40B4-BE49-F238E27FC236}">
                <a16:creationId xmlns:a16="http://schemas.microsoft.com/office/drawing/2014/main" id="{DD2D28C7-22BA-4044-95F3-F2A4F595C3BC}"/>
              </a:ext>
            </a:extLst>
          </p:cNvPr>
          <p:cNvSpPr>
            <a:spLocks xmlns:a="http://schemas.openxmlformats.org/drawingml/2006/main" noGrp="1"/>
          </p:cNvSpPr>
          <p:nvPr/>
        </p:nvSpPr>
        <p:spPr>
          <a:xfrm xmlns:a="http://schemas.openxmlformats.org/drawingml/2006/main">
            <a:off x="762000" y="41243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Cases are difficult to prioritize</a:t>
            </a:r>
          </a:p>
        </p:txBody>
      </p:sp>
      <p:sp>
        <p:nvSpPr>
          <p:cNvPr id="17" name="">
            <a:extLst xmlns:a="http://schemas.openxmlformats.org/drawingml/2006/main">
              <a:ext uri="{FF2B5EF4-FFF2-40B4-BE49-F238E27FC236}">
                <a16:creationId xmlns:a16="http://schemas.microsoft.com/office/drawing/2014/main" id="{F5161E10-8798-42CD-8AC6-CA9C79C5D1B7}"/>
              </a:ext>
            </a:extLst>
          </p:cNvPr>
          <p:cNvSpPr>
            <a:spLocks xmlns:a="http://schemas.openxmlformats.org/drawingml/2006/main" noGrp="1"/>
          </p:cNvSpPr>
          <p:nvPr/>
        </p:nvSpPr>
        <p:spPr>
          <a:xfrm xmlns:a="http://schemas.openxmlformats.org/drawingml/2006/main">
            <a:off x="5981700" y="41243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C63D046C-0C35-483A-BD99-88ABDF33F82F}"/>
              </a:ext>
            </a:extLst>
          </p:cNvPr>
          <p:cNvSpPr>
            <a:spLocks xmlns:a="http://schemas.openxmlformats.org/drawingml/2006/main" noGrp="1"/>
          </p:cNvSpPr>
          <p:nvPr/>
        </p:nvSpPr>
        <p:spPr>
          <a:xfrm xmlns:a="http://schemas.openxmlformats.org/drawingml/2006/main">
            <a:off x="6715125" y="41243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rPr>
              <a:t>Preliminary urgency classification</a:t>
            </a:r>
          </a:p>
        </p:txBody>
      </p:sp>
      <p:sp>
        <p:nvSpPr>
          <p:cNvPr id="19" name="">
            <a:extLst xmlns:a="http://schemas.openxmlformats.org/drawingml/2006/main">
              <a:ext uri="{FF2B5EF4-FFF2-40B4-BE49-F238E27FC236}">
                <a16:creationId xmlns:a16="http://schemas.microsoft.com/office/drawing/2014/main" id="{4AC0E9ED-42DA-42B2-A947-8453024CD900}"/>
              </a:ext>
            </a:extLst>
          </p:cNvPr>
          <p:cNvSpPr>
            <a:spLocks xmlns:a="http://schemas.openxmlformats.org/drawingml/2006/main" noGrp="1"/>
          </p:cNvSpPr>
          <p:nvPr/>
        </p:nvSpPr>
        <p:spPr>
          <a:xfrm xmlns:a="http://schemas.openxmlformats.org/drawingml/2006/main">
            <a:off x="762000" y="474345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Limited appointment / case visibility</a:t>
            </a:r>
          </a:p>
        </p:txBody>
      </p:sp>
      <p:sp>
        <p:nvSpPr>
          <p:cNvPr id="20" name="">
            <a:extLst xmlns:a="http://schemas.openxmlformats.org/drawingml/2006/main">
              <a:ext uri="{FF2B5EF4-FFF2-40B4-BE49-F238E27FC236}">
                <a16:creationId xmlns:a16="http://schemas.microsoft.com/office/drawing/2014/main" id="{251AFF58-CF24-42A9-BE3D-313E21A41EB9}"/>
              </a:ext>
            </a:extLst>
          </p:cNvPr>
          <p:cNvSpPr>
            <a:spLocks xmlns:a="http://schemas.openxmlformats.org/drawingml/2006/main" noGrp="1"/>
          </p:cNvSpPr>
          <p:nvPr/>
        </p:nvSpPr>
        <p:spPr>
          <a:xfrm xmlns:a="http://schemas.openxmlformats.org/drawingml/2006/main">
            <a:off x="5981700" y="47434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21" name="">
            <a:extLst xmlns:a="http://schemas.openxmlformats.org/drawingml/2006/main">
              <a:ext uri="{FF2B5EF4-FFF2-40B4-BE49-F238E27FC236}">
                <a16:creationId xmlns:a16="http://schemas.microsoft.com/office/drawing/2014/main" id="{70DFDFF9-64BD-4BE1-80CD-AA4366032407}"/>
              </a:ext>
            </a:extLst>
          </p:cNvPr>
          <p:cNvSpPr>
            <a:spLocks xmlns:a="http://schemas.openxmlformats.org/drawingml/2006/main" noGrp="1"/>
          </p:cNvSpPr>
          <p:nvPr/>
        </p:nvSpPr>
        <p:spPr>
          <a:xfrm xmlns:a="http://schemas.openxmlformats.org/drawingml/2006/main">
            <a:off x="6715125" y="47434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rPr>
              <a:t>Appointment and status management</a:t>
            </a:r>
          </a:p>
        </p:txBody>
      </p:sp>
      <p:sp>
        <p:nvSpPr>
          <p:cNvPr id="22" name="">
            <a:extLst xmlns:a="http://schemas.openxmlformats.org/drawingml/2006/main">
              <a:ext uri="{FF2B5EF4-FFF2-40B4-BE49-F238E27FC236}">
                <a16:creationId xmlns:a16="http://schemas.microsoft.com/office/drawing/2014/main" id="{2380E28D-78B0-448A-89AF-06695C069817}"/>
              </a:ext>
            </a:extLst>
          </p:cNvPr>
          <p:cNvSpPr>
            <a:spLocks xmlns:a="http://schemas.openxmlformats.org/drawingml/2006/main" noGrp="1"/>
          </p:cNvSpPr>
          <p:nvPr/>
        </p:nvSpPr>
        <p:spPr>
          <a:xfrm xmlns:a="http://schemas.openxmlformats.org/drawingml/2006/main">
            <a:off x="762000" y="536257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Disconnected patient–doctor workflows</a:t>
            </a:r>
          </a:p>
        </p:txBody>
      </p:sp>
      <p:sp>
        <p:nvSpPr>
          <p:cNvPr id="23" name="">
            <a:extLst xmlns:a="http://schemas.openxmlformats.org/drawingml/2006/main">
              <a:ext uri="{FF2B5EF4-FFF2-40B4-BE49-F238E27FC236}">
                <a16:creationId xmlns:a16="http://schemas.microsoft.com/office/drawing/2014/main" id="{BDA3E0CE-7638-4FEE-8049-AFB26429FF14}"/>
              </a:ext>
            </a:extLst>
          </p:cNvPr>
          <p:cNvSpPr>
            <a:spLocks xmlns:a="http://schemas.openxmlformats.org/drawingml/2006/main" noGrp="1"/>
          </p:cNvSpPr>
          <p:nvPr/>
        </p:nvSpPr>
        <p:spPr>
          <a:xfrm xmlns:a="http://schemas.openxmlformats.org/drawingml/2006/main">
            <a:off x="5981700" y="536257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24" name="">
            <a:extLst xmlns:a="http://schemas.openxmlformats.org/drawingml/2006/main">
              <a:ext uri="{FF2B5EF4-FFF2-40B4-BE49-F238E27FC236}">
                <a16:creationId xmlns:a16="http://schemas.microsoft.com/office/drawing/2014/main" id="{D55B33E9-0FAB-44DA-A621-1633477461E5}"/>
              </a:ext>
            </a:extLst>
          </p:cNvPr>
          <p:cNvSpPr>
            <a:spLocks xmlns:a="http://schemas.openxmlformats.org/drawingml/2006/main" noGrp="1"/>
          </p:cNvSpPr>
          <p:nvPr/>
        </p:nvSpPr>
        <p:spPr>
          <a:xfrm xmlns:a="http://schemas.openxmlformats.org/drawingml/2006/main">
            <a:off x="6715125" y="53625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rPr>
              <a:t>Shared platform with role-based access</a:t>
            </a:r>
          </a:p>
        </p:txBody>
      </p:sp>
    </p:spTree>
    <p:extLst>
      <p:ext uri="{BB962C8B-B14F-4D97-AF65-F5344CB8AC3E}">
        <p14:creationId xmlns:p14="http://schemas.microsoft.com/office/powerpoint/2010/main" val="954845634"/>
      </p:ext>
    </p:extLst>
  </p:cSld>
  <p:transition spd="fast">
    <p:fade/>
  </p:transition>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63A580B-4C20-4466-8A75-EDD46826F7CC}"/>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Project Objectives</a:t>
            </a:r>
          </a:p>
        </p:txBody>
      </p:sp>
      <p:sp>
        <p:nvSpPr>
          <p:cNvPr id="2" name="">
            <a:extLst xmlns:a="http://schemas.openxmlformats.org/drawingml/2006/main">
              <a:ext uri="{FF2B5EF4-FFF2-40B4-BE49-F238E27FC236}">
                <a16:creationId xmlns:a16="http://schemas.microsoft.com/office/drawing/2014/main" id="{C275D14F-0EBC-4BA5-A1B7-F5158B85EFAE}"/>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Organized information, useful decision support and accountable access</a:t>
            </a:r>
          </a:p>
        </p:txBody>
      </p:sp>
      <p:sp>
        <p:nvSpPr>
          <p:cNvPr id="3" name="">
            <a:extLst xmlns:a="http://schemas.openxmlformats.org/drawingml/2006/main">
              <a:ext uri="{FF2B5EF4-FFF2-40B4-BE49-F238E27FC236}">
                <a16:creationId xmlns:a16="http://schemas.microsoft.com/office/drawing/2014/main" id="{FC353F3E-C0A4-4137-B68D-DFA88A376672}"/>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B672B932-7350-4CD0-AF9A-2471629180D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04</a:t>
            </a:r>
          </a:p>
        </p:txBody>
      </p:sp>
      <p:sp>
        <p:nvSpPr>
          <p:cNvPr id="5" name="">
            <a:extLst xmlns:a="http://schemas.openxmlformats.org/drawingml/2006/main">
              <a:ext uri="{FF2B5EF4-FFF2-40B4-BE49-F238E27FC236}">
                <a16:creationId xmlns:a16="http://schemas.microsoft.com/office/drawing/2014/main" id="{EDA7A27E-2120-40FF-8BD9-07C55E301E3D}"/>
              </a:ext>
            </a:extLst>
          </p:cNvPr>
          <p:cNvSpPr>
            <a:spLocks xmlns:a="http://schemas.openxmlformats.org/drawingml/2006/main" noGrp="1"/>
          </p:cNvSpPr>
          <p:nvPr/>
        </p:nvSpPr>
        <p:spPr>
          <a:xfrm xmlns:a="http://schemas.openxmlformats.org/drawingml/2006/main">
            <a:off x="609600" y="1790700"/>
            <a:ext cx="342900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9525">
            <a:solidFill>
              <a:srgbClr val="D2E2E9"/>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47932ab3cb84121">
            <a:extLst>
              <a:ext uri="{96DAC541-7B7A-43D3-8B79-37D633B846F1}">
                <asvg:svgBlip xmlns:asvg="http://schemas.microsoft.com/office/drawing/2016/SVG/main" r:embed="R3ebf9031045d4001"/>
              </a:ext>
            </a:extLst>
          </a:blip>
          <a:stretch xmlns:a="http://schemas.openxmlformats.org/drawingml/2006/main"/>
        </p:blipFill>
        <p:spPr>
          <a:xfrm xmlns:a="http://schemas.openxmlformats.org/drawingml/2006/main">
            <a:off x="800100" y="2000250"/>
            <a:ext cx="342900" cy="342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6D3CB0A-3870-472D-B083-27EAF938192E}"/>
              </a:ext>
            </a:extLst>
          </p:cNvPr>
          <p:cNvSpPr>
            <a:spLocks xmlns:a="http://schemas.openxmlformats.org/drawingml/2006/main" noGrp="1"/>
          </p:cNvSpPr>
          <p:nvPr/>
        </p:nvSpPr>
        <p:spPr>
          <a:xfrm xmlns:a="http://schemas.openxmlformats.org/drawingml/2006/main">
            <a:off x="1276350" y="20002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Patient information</a:t>
            </a:r>
          </a:p>
        </p:txBody>
      </p:sp>
      <p:sp>
        <p:nvSpPr>
          <p:cNvPr id="8" name="">
            <a:extLst xmlns:a="http://schemas.openxmlformats.org/drawingml/2006/main">
              <a:ext uri="{FF2B5EF4-FFF2-40B4-BE49-F238E27FC236}">
                <a16:creationId xmlns:a16="http://schemas.microsoft.com/office/drawing/2014/main" id="{04969879-670D-46D8-A85B-900930ABB50B}"/>
              </a:ext>
            </a:extLst>
          </p:cNvPr>
          <p:cNvSpPr>
            <a:spLocks xmlns:a="http://schemas.openxmlformats.org/drawingml/2006/main" noGrp="1"/>
          </p:cNvSpPr>
          <p:nvPr/>
        </p:nvSpPr>
        <p:spPr>
          <a:xfrm xmlns:a="http://schemas.openxmlformats.org/drawingml/2006/main">
            <a:off x="819150" y="2581275"/>
            <a:ext cx="3009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Centralize profiles and medical history</a:t>
            </a:r>
          </a:p>
        </p:txBody>
      </p:sp>
      <p:sp>
        <p:nvSpPr>
          <p:cNvPr id="9" name="">
            <a:extLst xmlns:a="http://schemas.openxmlformats.org/drawingml/2006/main">
              <a:ext uri="{FF2B5EF4-FFF2-40B4-BE49-F238E27FC236}">
                <a16:creationId xmlns:a16="http://schemas.microsoft.com/office/drawing/2014/main" id="{382E3BD9-B2A5-497D-AB7F-52254B6C93D2}"/>
              </a:ext>
            </a:extLst>
          </p:cNvPr>
          <p:cNvSpPr>
            <a:spLocks xmlns:a="http://schemas.openxmlformats.org/drawingml/2006/main" noGrp="1"/>
          </p:cNvSpPr>
          <p:nvPr/>
        </p:nvSpPr>
        <p:spPr>
          <a:xfrm xmlns:a="http://schemas.openxmlformats.org/drawingml/2006/main">
            <a:off x="4295775" y="1790700"/>
            <a:ext cx="342900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9525">
            <a:solidFill>
              <a:srgbClr val="D2E2E9"/>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a7d76c5d3574493">
            <a:extLst>
              <a:ext uri="{96DAC541-7B7A-43D3-8B79-37D633B846F1}">
                <asvg:svgBlip xmlns:asvg="http://schemas.microsoft.com/office/drawing/2016/SVG/main" r:embed="R967d5535778e4c3d"/>
              </a:ext>
            </a:extLst>
          </a:blip>
          <a:stretch xmlns:a="http://schemas.openxmlformats.org/drawingml/2006/main"/>
        </p:blipFill>
        <p:spPr>
          <a:xfrm xmlns:a="http://schemas.openxmlformats.org/drawingml/2006/main">
            <a:off x="4486275" y="2000250"/>
            <a:ext cx="342900" cy="342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CEB8201-7B4B-4CA6-A6AE-0213698B8028}"/>
              </a:ext>
            </a:extLst>
          </p:cNvPr>
          <p:cNvSpPr>
            <a:spLocks xmlns:a="http://schemas.openxmlformats.org/drawingml/2006/main" noGrp="1"/>
          </p:cNvSpPr>
          <p:nvPr/>
        </p:nvSpPr>
        <p:spPr>
          <a:xfrm xmlns:a="http://schemas.openxmlformats.org/drawingml/2006/main">
            <a:off x="4962525" y="20002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Symptom assessment</a:t>
            </a:r>
          </a:p>
        </p:txBody>
      </p:sp>
      <p:sp>
        <p:nvSpPr>
          <p:cNvPr id="12" name="">
            <a:extLst xmlns:a="http://schemas.openxmlformats.org/drawingml/2006/main">
              <a:ext uri="{FF2B5EF4-FFF2-40B4-BE49-F238E27FC236}">
                <a16:creationId xmlns:a16="http://schemas.microsoft.com/office/drawing/2014/main" id="{4A6A6906-995E-4FA5-BB61-F4E64A29946C}"/>
              </a:ext>
            </a:extLst>
          </p:cNvPr>
          <p:cNvSpPr>
            <a:spLocks xmlns:a="http://schemas.openxmlformats.org/drawingml/2006/main" noGrp="1"/>
          </p:cNvSpPr>
          <p:nvPr/>
        </p:nvSpPr>
        <p:spPr>
          <a:xfrm xmlns:a="http://schemas.openxmlformats.org/drawingml/2006/main">
            <a:off x="4505325" y="2581275"/>
            <a:ext cx="3009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Capture structured health information</a:t>
            </a:r>
          </a:p>
        </p:txBody>
      </p:sp>
      <p:sp>
        <p:nvSpPr>
          <p:cNvPr id="13" name="">
            <a:extLst xmlns:a="http://schemas.openxmlformats.org/drawingml/2006/main">
              <a:ext uri="{FF2B5EF4-FFF2-40B4-BE49-F238E27FC236}">
                <a16:creationId xmlns:a16="http://schemas.microsoft.com/office/drawing/2014/main" id="{A74F300E-7A31-4CCE-B207-5542BB40C181}"/>
              </a:ext>
            </a:extLst>
          </p:cNvPr>
          <p:cNvSpPr>
            <a:spLocks xmlns:a="http://schemas.openxmlformats.org/drawingml/2006/main" noGrp="1"/>
          </p:cNvSpPr>
          <p:nvPr/>
        </p:nvSpPr>
        <p:spPr>
          <a:xfrm xmlns:a="http://schemas.openxmlformats.org/drawingml/2006/main">
            <a:off x="7981950" y="1790700"/>
            <a:ext cx="342900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9525">
            <a:solidFill>
              <a:srgbClr val="D2E2E9"/>
            </a:solid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0d05e524ab14ff0">
            <a:extLst>
              <a:ext uri="{96DAC541-7B7A-43D3-8B79-37D633B846F1}">
                <asvg:svgBlip xmlns:asvg="http://schemas.microsoft.com/office/drawing/2016/SVG/main" r:embed="R98f7670ed25f4552"/>
              </a:ext>
            </a:extLst>
          </a:blip>
          <a:stretch xmlns:a="http://schemas.openxmlformats.org/drawingml/2006/main"/>
        </p:blipFill>
        <p:spPr>
          <a:xfrm xmlns:a="http://schemas.openxmlformats.org/drawingml/2006/main">
            <a:off x="8172450" y="2000250"/>
            <a:ext cx="342900" cy="3429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060B5D0-B933-49A8-BA1C-9DB8AA2122B0}"/>
              </a:ext>
            </a:extLst>
          </p:cNvPr>
          <p:cNvSpPr>
            <a:spLocks xmlns:a="http://schemas.openxmlformats.org/drawingml/2006/main" noGrp="1"/>
          </p:cNvSpPr>
          <p:nvPr/>
        </p:nvSpPr>
        <p:spPr>
          <a:xfrm xmlns:a="http://schemas.openxmlformats.org/drawingml/2006/main">
            <a:off x="8648700" y="20002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Preliminary triage</a:t>
            </a:r>
          </a:p>
        </p:txBody>
      </p:sp>
      <p:sp>
        <p:nvSpPr>
          <p:cNvPr id="16" name="">
            <a:extLst xmlns:a="http://schemas.openxmlformats.org/drawingml/2006/main">
              <a:ext uri="{FF2B5EF4-FFF2-40B4-BE49-F238E27FC236}">
                <a16:creationId xmlns:a16="http://schemas.microsoft.com/office/drawing/2014/main" id="{9CC54AD0-97BF-4E1B-82D1-D16C2960258A}"/>
              </a:ext>
            </a:extLst>
          </p:cNvPr>
          <p:cNvSpPr>
            <a:spLocks xmlns:a="http://schemas.openxmlformats.org/drawingml/2006/main" noGrp="1"/>
          </p:cNvSpPr>
          <p:nvPr/>
        </p:nvSpPr>
        <p:spPr>
          <a:xfrm xmlns:a="http://schemas.openxmlformats.org/drawingml/2006/main">
            <a:off x="8191500" y="2581275"/>
            <a:ext cx="3009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Classify cases by urgency</a:t>
            </a:r>
          </a:p>
        </p:txBody>
      </p:sp>
      <p:sp>
        <p:nvSpPr>
          <p:cNvPr id="17" name="">
            <a:extLst xmlns:a="http://schemas.openxmlformats.org/drawingml/2006/main">
              <a:ext uri="{FF2B5EF4-FFF2-40B4-BE49-F238E27FC236}">
                <a16:creationId xmlns:a16="http://schemas.microsoft.com/office/drawing/2014/main" id="{8E78478D-07E8-462D-81EA-6A68DA946BD7}"/>
              </a:ext>
            </a:extLst>
          </p:cNvPr>
          <p:cNvSpPr>
            <a:spLocks xmlns:a="http://schemas.openxmlformats.org/drawingml/2006/main" noGrp="1"/>
          </p:cNvSpPr>
          <p:nvPr/>
        </p:nvSpPr>
        <p:spPr>
          <a:xfrm xmlns:a="http://schemas.openxmlformats.org/drawingml/2006/main">
            <a:off x="609600" y="3895725"/>
            <a:ext cx="342900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9525">
            <a:solidFill>
              <a:srgbClr val="D2E2E9"/>
            </a:solidFill>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1544f9878db7431f">
            <a:extLst>
              <a:ext uri="{96DAC541-7B7A-43D3-8B79-37D633B846F1}">
                <asvg:svgBlip xmlns:asvg="http://schemas.microsoft.com/office/drawing/2016/SVG/main" r:embed="R8bcefb62a7cf4381"/>
              </a:ext>
            </a:extLst>
          </a:blip>
          <a:stretch xmlns:a="http://schemas.openxmlformats.org/drawingml/2006/main"/>
        </p:blipFill>
        <p:spPr>
          <a:xfrm xmlns:a="http://schemas.openxmlformats.org/drawingml/2006/main">
            <a:off x="800100" y="4105275"/>
            <a:ext cx="342900" cy="3429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0A47D901-C2FC-4288-9CE8-328FB4B8FB0C}"/>
              </a:ext>
            </a:extLst>
          </p:cNvPr>
          <p:cNvSpPr>
            <a:spLocks xmlns:a="http://schemas.openxmlformats.org/drawingml/2006/main" noGrp="1"/>
          </p:cNvSpPr>
          <p:nvPr/>
        </p:nvSpPr>
        <p:spPr>
          <a:xfrm xmlns:a="http://schemas.openxmlformats.org/drawingml/2006/main">
            <a:off x="1276350" y="410527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Doctor decision support</a:t>
            </a:r>
          </a:p>
        </p:txBody>
      </p:sp>
      <p:sp>
        <p:nvSpPr>
          <p:cNvPr id="20" name="">
            <a:extLst xmlns:a="http://schemas.openxmlformats.org/drawingml/2006/main">
              <a:ext uri="{FF2B5EF4-FFF2-40B4-BE49-F238E27FC236}">
                <a16:creationId xmlns:a16="http://schemas.microsoft.com/office/drawing/2014/main" id="{A91289A5-B743-4C69-9A96-9DEA2298576F}"/>
              </a:ext>
            </a:extLst>
          </p:cNvPr>
          <p:cNvSpPr>
            <a:spLocks xmlns:a="http://schemas.openxmlformats.org/drawingml/2006/main" noGrp="1"/>
          </p:cNvSpPr>
          <p:nvPr/>
        </p:nvSpPr>
        <p:spPr>
          <a:xfrm xmlns:a="http://schemas.openxmlformats.org/drawingml/2006/main">
            <a:off x="819150" y="4686300"/>
            <a:ext cx="3009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Keep professional review independent</a:t>
            </a:r>
          </a:p>
        </p:txBody>
      </p:sp>
      <p:sp>
        <p:nvSpPr>
          <p:cNvPr id="21" name="">
            <a:extLst xmlns:a="http://schemas.openxmlformats.org/drawingml/2006/main">
              <a:ext uri="{FF2B5EF4-FFF2-40B4-BE49-F238E27FC236}">
                <a16:creationId xmlns:a16="http://schemas.microsoft.com/office/drawing/2014/main" id="{C4DCABD2-25CE-47D6-9093-0423A1C57D0F}"/>
              </a:ext>
            </a:extLst>
          </p:cNvPr>
          <p:cNvSpPr>
            <a:spLocks xmlns:a="http://schemas.openxmlformats.org/drawingml/2006/main" noGrp="1"/>
          </p:cNvSpPr>
          <p:nvPr/>
        </p:nvSpPr>
        <p:spPr>
          <a:xfrm xmlns:a="http://schemas.openxmlformats.org/drawingml/2006/main">
            <a:off x="4295775" y="3895725"/>
            <a:ext cx="342900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9525">
            <a:solidFill>
              <a:srgbClr val="D2E2E9"/>
            </a:solidFill>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560653604c364219">
            <a:extLst>
              <a:ext uri="{96DAC541-7B7A-43D3-8B79-37D633B846F1}">
                <asvg:svgBlip xmlns:asvg="http://schemas.microsoft.com/office/drawing/2016/SVG/main" r:embed="R95c1be59e6124556"/>
              </a:ext>
            </a:extLst>
          </a:blip>
          <a:stretch xmlns:a="http://schemas.openxmlformats.org/drawingml/2006/main"/>
        </p:blipFill>
        <p:spPr>
          <a:xfrm xmlns:a="http://schemas.openxmlformats.org/drawingml/2006/main">
            <a:off x="4486275" y="4105275"/>
            <a:ext cx="342900" cy="3429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754803BA-7712-4018-B7E2-118BBE9865CA}"/>
              </a:ext>
            </a:extLst>
          </p:cNvPr>
          <p:cNvSpPr>
            <a:spLocks xmlns:a="http://schemas.openxmlformats.org/drawingml/2006/main" noGrp="1"/>
          </p:cNvSpPr>
          <p:nvPr/>
        </p:nvSpPr>
        <p:spPr>
          <a:xfrm xmlns:a="http://schemas.openxmlformats.org/drawingml/2006/main">
            <a:off x="4962525" y="410527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Reports &amp; appointments</a:t>
            </a:r>
          </a:p>
        </p:txBody>
      </p:sp>
      <p:sp>
        <p:nvSpPr>
          <p:cNvPr id="24" name="">
            <a:extLst xmlns:a="http://schemas.openxmlformats.org/drawingml/2006/main">
              <a:ext uri="{FF2B5EF4-FFF2-40B4-BE49-F238E27FC236}">
                <a16:creationId xmlns:a16="http://schemas.microsoft.com/office/drawing/2014/main" id="{8EC12EE2-3D1E-4A61-98D0-5756892DB10F}"/>
              </a:ext>
            </a:extLst>
          </p:cNvPr>
          <p:cNvSpPr>
            <a:spLocks xmlns:a="http://schemas.openxmlformats.org/drawingml/2006/main" noGrp="1"/>
          </p:cNvSpPr>
          <p:nvPr/>
        </p:nvSpPr>
        <p:spPr>
          <a:xfrm xmlns:a="http://schemas.openxmlformats.org/drawingml/2006/main">
            <a:off x="4505325" y="4686300"/>
            <a:ext cx="3009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Coordinate documents and scheduling</a:t>
            </a:r>
          </a:p>
        </p:txBody>
      </p:sp>
      <p:sp>
        <p:nvSpPr>
          <p:cNvPr id="25" name="">
            <a:extLst xmlns:a="http://schemas.openxmlformats.org/drawingml/2006/main">
              <a:ext uri="{FF2B5EF4-FFF2-40B4-BE49-F238E27FC236}">
                <a16:creationId xmlns:a16="http://schemas.microsoft.com/office/drawing/2014/main" id="{E9AD490A-F4BF-4AFF-8FB4-AC4DE298B112}"/>
              </a:ext>
            </a:extLst>
          </p:cNvPr>
          <p:cNvSpPr>
            <a:spLocks xmlns:a="http://schemas.openxmlformats.org/drawingml/2006/main" noGrp="1"/>
          </p:cNvSpPr>
          <p:nvPr/>
        </p:nvSpPr>
        <p:spPr>
          <a:xfrm xmlns:a="http://schemas.openxmlformats.org/drawingml/2006/main">
            <a:off x="7981950" y="3895725"/>
            <a:ext cx="342900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9525">
            <a:solidFill>
              <a:srgbClr val="D2E2E9"/>
            </a:solidFill>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219bab6c362413a">
            <a:extLst>
              <a:ext uri="{96DAC541-7B7A-43D3-8B79-37D633B846F1}">
                <asvg:svgBlip xmlns:asvg="http://schemas.microsoft.com/office/drawing/2016/SVG/main" r:embed="Re3d823f086e74b4b"/>
              </a:ext>
            </a:extLst>
          </a:blip>
          <a:stretch xmlns:a="http://schemas.openxmlformats.org/drawingml/2006/main"/>
        </p:blipFill>
        <p:spPr>
          <a:xfrm xmlns:a="http://schemas.openxmlformats.org/drawingml/2006/main">
            <a:off x="8172450" y="4105275"/>
            <a:ext cx="342900" cy="3429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B0C79FB8-C946-4410-B4DD-8DFF1DD61255}"/>
              </a:ext>
            </a:extLst>
          </p:cNvPr>
          <p:cNvSpPr>
            <a:spLocks xmlns:a="http://schemas.openxmlformats.org/drawingml/2006/main" noGrp="1"/>
          </p:cNvSpPr>
          <p:nvPr/>
        </p:nvSpPr>
        <p:spPr>
          <a:xfrm xmlns:a="http://schemas.openxmlformats.org/drawingml/2006/main">
            <a:off x="8648700" y="410527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Case tracking &amp; security</a:t>
            </a:r>
          </a:p>
        </p:txBody>
      </p:sp>
      <p:sp>
        <p:nvSpPr>
          <p:cNvPr id="28" name="">
            <a:extLst xmlns:a="http://schemas.openxmlformats.org/drawingml/2006/main">
              <a:ext uri="{FF2B5EF4-FFF2-40B4-BE49-F238E27FC236}">
                <a16:creationId xmlns:a16="http://schemas.microsoft.com/office/drawing/2014/main" id="{7A7487F2-6AB2-4E14-9FFC-9F0C3A16D23B}"/>
              </a:ext>
            </a:extLst>
          </p:cNvPr>
          <p:cNvSpPr>
            <a:spLocks xmlns:a="http://schemas.openxmlformats.org/drawingml/2006/main" noGrp="1"/>
          </p:cNvSpPr>
          <p:nvPr/>
        </p:nvSpPr>
        <p:spPr>
          <a:xfrm xmlns:a="http://schemas.openxmlformats.org/drawingml/2006/main">
            <a:off x="8191500" y="4686300"/>
            <a:ext cx="3009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Track progress with controlled access and audit logs</a:t>
            </a:r>
          </a:p>
        </p:txBody>
      </p:sp>
    </p:spTree>
    <p:extLst>
      <p:ext uri="{BB962C8B-B14F-4D97-AF65-F5344CB8AC3E}">
        <p14:creationId xmlns:p14="http://schemas.microsoft.com/office/powerpoint/2010/main" val="1482162234"/>
      </p:ext>
    </p:extLst>
  </p:cSld>
  <p:transition spd="fast">
    <p:fade/>
  </p:transition>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cxnSp>
        <p:nvCxnSpPr>
          <p:cNvPr id="26" name=""/>
          <p:cNvCxnSpPr>
            <a:stCxn xmlns:a="http://schemas.openxmlformats.org/drawingml/2006/main" id="16" idx="3"/>
            <a:endCxn xmlns:a="http://schemas.openxmlformats.org/drawingml/2006/main" id="20" idx="1"/>
          </p:cNvCxnSpPr>
          <p:nvPr/>
        </p:nvCxnSpPr>
        <p:spPr>
          <a:xfrm xmlns:a="http://schemas.openxmlformats.org/drawingml/2006/main">
            <a:off x="9677400" y="3133725"/>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27" name=""/>
          <p:cNvCxnSpPr>
            <a:stCxn xmlns:a="http://schemas.openxmlformats.org/drawingml/2006/main" id="12" idx="3"/>
            <a:endCxn xmlns:a="http://schemas.openxmlformats.org/drawingml/2006/main" id="16" idx="1"/>
          </p:cNvCxnSpPr>
          <p:nvPr/>
        </p:nvCxnSpPr>
        <p:spPr>
          <a:xfrm xmlns:a="http://schemas.openxmlformats.org/drawingml/2006/main">
            <a:off x="7334250" y="3133725"/>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28" name=""/>
          <p:cNvCxnSpPr>
            <a:stCxn xmlns:a="http://schemas.openxmlformats.org/drawingml/2006/main" id="8" idx="3"/>
            <a:endCxn xmlns:a="http://schemas.openxmlformats.org/drawingml/2006/main" id="12" idx="1"/>
          </p:cNvCxnSpPr>
          <p:nvPr/>
        </p:nvCxnSpPr>
        <p:spPr>
          <a:xfrm xmlns:a="http://schemas.openxmlformats.org/drawingml/2006/main">
            <a:off x="4991100" y="3133725"/>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29" name=""/>
          <p:cNvCxnSpPr>
            <a:stCxn xmlns:a="http://schemas.openxmlformats.org/drawingml/2006/main" id="5" idx="3"/>
            <a:endCxn xmlns:a="http://schemas.openxmlformats.org/drawingml/2006/main" id="8" idx="1"/>
          </p:cNvCxnSpPr>
          <p:nvPr/>
        </p:nvCxnSpPr>
        <p:spPr>
          <a:xfrm xmlns:a="http://schemas.openxmlformats.org/drawingml/2006/main">
            <a:off x="2647950" y="3133725"/>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30" name="">
            <a:extLst xmlns:a="http://schemas.openxmlformats.org/drawingml/2006/main">
              <a:ext uri="{FF2B5EF4-FFF2-40B4-BE49-F238E27FC236}">
                <a16:creationId xmlns:a16="http://schemas.microsoft.com/office/drawing/2014/main" id="{5EACFB1D-7BD9-43C7-876C-A54EAC6EFE75}"/>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Proposed Solution</a:t>
            </a:r>
          </a:p>
        </p:txBody>
      </p:sp>
      <p:sp>
        <p:nvSpPr>
          <p:cNvPr id="2" name="">
            <a:extLst xmlns:a="http://schemas.openxmlformats.org/drawingml/2006/main">
              <a:ext uri="{FF2B5EF4-FFF2-40B4-BE49-F238E27FC236}">
                <a16:creationId xmlns:a16="http://schemas.microsoft.com/office/drawing/2014/main" id="{788EEEEF-324F-4FC2-8271-FB2A1AB5A5C2}"/>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One coordinated workflow with human medical judgment at its center</a:t>
            </a:r>
          </a:p>
        </p:txBody>
      </p:sp>
      <p:sp>
        <p:nvSpPr>
          <p:cNvPr id="3" name="">
            <a:extLst xmlns:a="http://schemas.openxmlformats.org/drawingml/2006/main">
              <a:ext uri="{FF2B5EF4-FFF2-40B4-BE49-F238E27FC236}">
                <a16:creationId xmlns:a16="http://schemas.microsoft.com/office/drawing/2014/main" id="{3EAF1A35-5B9E-4079-AE2D-1FF4AE0564FE}"/>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5379D957-4D2C-4D01-AE97-777939810A60}"/>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05</a:t>
            </a:r>
          </a:p>
        </p:txBody>
      </p:sp>
      <p:sp>
        <p:nvSpPr>
          <p:cNvPr id="5" name="">
            <a:extLst xmlns:a="http://schemas.openxmlformats.org/drawingml/2006/main">
              <a:ext uri="{FF2B5EF4-FFF2-40B4-BE49-F238E27FC236}">
                <a16:creationId xmlns:a16="http://schemas.microsoft.com/office/drawing/2014/main" id="{0EC5BABF-1A9C-4E92-9A13-4DE38878E7BB}"/>
              </a:ext>
            </a:extLst>
          </p:cNvPr>
          <p:cNvSpPr>
            <a:spLocks xmlns:a="http://schemas.openxmlformats.org/drawingml/2006/main" noGrp="1"/>
          </p:cNvSpPr>
          <p:nvPr/>
        </p:nvSpPr>
        <p:spPr>
          <a:xfrm xmlns:a="http://schemas.openxmlformats.org/drawingml/2006/main">
            <a:off x="571500" y="2333625"/>
            <a:ext cx="2076450" cy="16002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2E2E9"/>
            </a:solidFill>
          </a:ln>
        </p:spPr>
      </p:sp>
      <p:sp>
        <p:nvSpPr>
          <p:cNvPr id="6" name="">
            <a:extLst xmlns:a="http://schemas.openxmlformats.org/drawingml/2006/main">
              <a:ext uri="{FF2B5EF4-FFF2-40B4-BE49-F238E27FC236}">
                <a16:creationId xmlns:a16="http://schemas.microsoft.com/office/drawing/2014/main" id="{FE18588F-4BA2-4E45-8770-088E43F4543E}"/>
              </a:ext>
            </a:extLst>
          </p:cNvPr>
          <p:cNvSpPr>
            <a:spLocks xmlns:a="http://schemas.openxmlformats.org/drawingml/2006/main" noGrp="1"/>
          </p:cNvSpPr>
          <p:nvPr/>
        </p:nvSpPr>
        <p:spPr>
          <a:xfrm xmlns:a="http://schemas.openxmlformats.org/drawingml/2006/main">
            <a:off x="685800" y="2428875"/>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Patient</a:t>
            </a:r>
          </a:p>
        </p:txBody>
      </p:sp>
      <p:sp>
        <p:nvSpPr>
          <p:cNvPr id="7" name="">
            <a:extLst xmlns:a="http://schemas.openxmlformats.org/drawingml/2006/main">
              <a:ext uri="{FF2B5EF4-FFF2-40B4-BE49-F238E27FC236}">
                <a16:creationId xmlns:a16="http://schemas.microsoft.com/office/drawing/2014/main" id="{BAB8F5BE-95F2-453D-9332-325BB20AAB0D}"/>
              </a:ext>
            </a:extLst>
          </p:cNvPr>
          <p:cNvSpPr>
            <a:spLocks xmlns:a="http://schemas.openxmlformats.org/drawingml/2006/main" noGrp="1"/>
          </p:cNvSpPr>
          <p:nvPr/>
        </p:nvSpPr>
        <p:spPr>
          <a:xfrm xmlns:a="http://schemas.openxmlformats.org/drawingml/2006/main">
            <a:off x="685800" y="2790825"/>
            <a:ext cx="1847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Symptoms and reports</a:t>
            </a:r>
          </a:p>
        </p:txBody>
      </p:sp>
      <p:sp>
        <p:nvSpPr>
          <p:cNvPr id="8" name="">
            <a:extLst xmlns:a="http://schemas.openxmlformats.org/drawingml/2006/main">
              <a:ext uri="{FF2B5EF4-FFF2-40B4-BE49-F238E27FC236}">
                <a16:creationId xmlns:a16="http://schemas.microsoft.com/office/drawing/2014/main" id="{07AF2067-965D-4027-BE0E-6CE938414F80}"/>
              </a:ext>
            </a:extLst>
          </p:cNvPr>
          <p:cNvSpPr>
            <a:spLocks xmlns:a="http://schemas.openxmlformats.org/drawingml/2006/main" noGrp="1"/>
          </p:cNvSpPr>
          <p:nvPr/>
        </p:nvSpPr>
        <p:spPr>
          <a:xfrm xmlns:a="http://schemas.openxmlformats.org/drawingml/2006/main">
            <a:off x="2914650" y="2333625"/>
            <a:ext cx="2076450" cy="16002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2E2E9"/>
            </a:solidFill>
          </a:ln>
        </p:spPr>
      </p:sp>
      <p:sp>
        <p:nvSpPr>
          <p:cNvPr id="9" name="">
            <a:extLst xmlns:a="http://schemas.openxmlformats.org/drawingml/2006/main">
              <a:ext uri="{FF2B5EF4-FFF2-40B4-BE49-F238E27FC236}">
                <a16:creationId xmlns:a16="http://schemas.microsoft.com/office/drawing/2014/main" id="{30376882-4322-4AD6-984E-34DDA39FA8AD}"/>
              </a:ext>
            </a:extLst>
          </p:cNvPr>
          <p:cNvSpPr>
            <a:spLocks xmlns:a="http://schemas.openxmlformats.org/drawingml/2006/main" noGrp="1"/>
          </p:cNvSpPr>
          <p:nvPr/>
        </p:nvSpPr>
        <p:spPr>
          <a:xfrm xmlns:a="http://schemas.openxmlformats.org/drawingml/2006/main">
            <a:off x="3028950" y="2428875"/>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MedAssist</a:t>
            </a:r>
          </a:p>
        </p:txBody>
      </p:sp>
      <p:sp>
        <p:nvSpPr>
          <p:cNvPr id="10" name="">
            <a:extLst xmlns:a="http://schemas.openxmlformats.org/drawingml/2006/main">
              <a:ext uri="{FF2B5EF4-FFF2-40B4-BE49-F238E27FC236}">
                <a16:creationId xmlns:a16="http://schemas.microsoft.com/office/drawing/2014/main" id="{0A963927-3F06-4A36-956A-208AFF2185AF}"/>
              </a:ext>
            </a:extLst>
          </p:cNvPr>
          <p:cNvSpPr>
            <a:spLocks xmlns:a="http://schemas.openxmlformats.org/drawingml/2006/main" noGrp="1"/>
          </p:cNvSpPr>
          <p:nvPr/>
        </p:nvSpPr>
        <p:spPr>
          <a:xfrm xmlns:a="http://schemas.openxmlformats.org/drawingml/2006/main">
            <a:off x="3028950" y="2790825"/>
            <a:ext cx="1847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Organized case data</a:t>
            </a:r>
          </a:p>
        </p:txBody>
      </p:sp>
      <p:sp>
        <p:nvSpPr>
          <p:cNvPr id="12" name="">
            <a:extLst xmlns:a="http://schemas.openxmlformats.org/drawingml/2006/main">
              <a:ext uri="{FF2B5EF4-FFF2-40B4-BE49-F238E27FC236}">
                <a16:creationId xmlns:a16="http://schemas.microsoft.com/office/drawing/2014/main" id="{0D654A9D-2C96-42D1-BABD-FA77B99A696E}"/>
              </a:ext>
            </a:extLst>
          </p:cNvPr>
          <p:cNvSpPr>
            <a:spLocks xmlns:a="http://schemas.openxmlformats.org/drawingml/2006/main" noGrp="1"/>
          </p:cNvSpPr>
          <p:nvPr/>
        </p:nvSpPr>
        <p:spPr>
          <a:xfrm xmlns:a="http://schemas.openxmlformats.org/drawingml/2006/main">
            <a:off x="5257800" y="2333625"/>
            <a:ext cx="2076450" cy="16002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2E2E9"/>
            </a:solidFill>
          </a:ln>
        </p:spPr>
      </p:sp>
      <p:sp>
        <p:nvSpPr>
          <p:cNvPr id="13" name="">
            <a:extLst xmlns:a="http://schemas.openxmlformats.org/drawingml/2006/main">
              <a:ext uri="{FF2B5EF4-FFF2-40B4-BE49-F238E27FC236}">
                <a16:creationId xmlns:a16="http://schemas.microsoft.com/office/drawing/2014/main" id="{A7F27D94-99EB-4EA3-B1B6-5841F2F9955D}"/>
              </a:ext>
            </a:extLst>
          </p:cNvPr>
          <p:cNvSpPr>
            <a:spLocks xmlns:a="http://schemas.openxmlformats.org/drawingml/2006/main" noGrp="1"/>
          </p:cNvSpPr>
          <p:nvPr/>
        </p:nvSpPr>
        <p:spPr>
          <a:xfrm xmlns:a="http://schemas.openxmlformats.org/drawingml/2006/main">
            <a:off x="5372100" y="2428875"/>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AI assistance</a:t>
            </a:r>
          </a:p>
        </p:txBody>
      </p:sp>
      <p:sp>
        <p:nvSpPr>
          <p:cNvPr id="14" name="">
            <a:extLst xmlns:a="http://schemas.openxmlformats.org/drawingml/2006/main">
              <a:ext uri="{FF2B5EF4-FFF2-40B4-BE49-F238E27FC236}">
                <a16:creationId xmlns:a16="http://schemas.microsoft.com/office/drawing/2014/main" id="{87773DBE-BCD2-48B1-B8E5-CE55054462B7}"/>
              </a:ext>
            </a:extLst>
          </p:cNvPr>
          <p:cNvSpPr>
            <a:spLocks xmlns:a="http://schemas.openxmlformats.org/drawingml/2006/main" noGrp="1"/>
          </p:cNvSpPr>
          <p:nvPr/>
        </p:nvSpPr>
        <p:spPr>
          <a:xfrm xmlns:a="http://schemas.openxmlformats.org/drawingml/2006/main">
            <a:off x="5372100" y="2790825"/>
            <a:ext cx="1847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Urgency category</a:t>
            </a:r>
          </a:p>
        </p:txBody>
      </p:sp>
      <p:sp>
        <p:nvSpPr>
          <p:cNvPr id="16" name="">
            <a:extLst xmlns:a="http://schemas.openxmlformats.org/drawingml/2006/main">
              <a:ext uri="{FF2B5EF4-FFF2-40B4-BE49-F238E27FC236}">
                <a16:creationId xmlns:a16="http://schemas.microsoft.com/office/drawing/2014/main" id="{D7163D8A-B5F9-4827-A77A-67B5ABAA3A09}"/>
              </a:ext>
            </a:extLst>
          </p:cNvPr>
          <p:cNvSpPr>
            <a:spLocks xmlns:a="http://schemas.openxmlformats.org/drawingml/2006/main" noGrp="1"/>
          </p:cNvSpPr>
          <p:nvPr/>
        </p:nvSpPr>
        <p:spPr>
          <a:xfrm xmlns:a="http://schemas.openxmlformats.org/drawingml/2006/main">
            <a:off x="7600950" y="2333625"/>
            <a:ext cx="2076450" cy="1600200"/>
          </a:xfrm>
          <a:prstGeom xmlns:a="http://schemas.openxmlformats.org/drawingml/2006/main" prst="roundRect">
            <a:avLst>
              <a:gd name="adj" fmla="val 8333"/>
            </a:avLst>
          </a:prstGeom>
          <a:solidFill xmlns:a="http://schemas.openxmlformats.org/drawingml/2006/main">
            <a:srgbClr val="EAF6F6"/>
          </a:solidFill>
          <a:ln xmlns:a="http://schemas.openxmlformats.org/drawingml/2006/main" w="9525">
            <a:solidFill>
              <a:srgbClr val="D2E2E9"/>
            </a:solidFill>
          </a:ln>
        </p:spPr>
      </p:sp>
      <p:sp>
        <p:nvSpPr>
          <p:cNvPr id="17" name="">
            <a:extLst xmlns:a="http://schemas.openxmlformats.org/drawingml/2006/main">
              <a:ext uri="{FF2B5EF4-FFF2-40B4-BE49-F238E27FC236}">
                <a16:creationId xmlns:a16="http://schemas.microsoft.com/office/drawing/2014/main" id="{379B0534-FDC7-43CD-9FB9-8FC2E283AEB1}"/>
              </a:ext>
            </a:extLst>
          </p:cNvPr>
          <p:cNvSpPr>
            <a:spLocks xmlns:a="http://schemas.openxmlformats.org/drawingml/2006/main" noGrp="1"/>
          </p:cNvSpPr>
          <p:nvPr/>
        </p:nvSpPr>
        <p:spPr>
          <a:xfrm xmlns:a="http://schemas.openxmlformats.org/drawingml/2006/main">
            <a:off x="7715250" y="2428875"/>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Doctor review</a:t>
            </a:r>
          </a:p>
        </p:txBody>
      </p:sp>
      <p:sp>
        <p:nvSpPr>
          <p:cNvPr id="18" name="">
            <a:extLst xmlns:a="http://schemas.openxmlformats.org/drawingml/2006/main">
              <a:ext uri="{FF2B5EF4-FFF2-40B4-BE49-F238E27FC236}">
                <a16:creationId xmlns:a16="http://schemas.microsoft.com/office/drawing/2014/main" id="{D09EA9C9-AD87-4EC8-B8ED-9D69AFAB3BE6}"/>
              </a:ext>
            </a:extLst>
          </p:cNvPr>
          <p:cNvSpPr>
            <a:spLocks xmlns:a="http://schemas.openxmlformats.org/drawingml/2006/main" noGrp="1"/>
          </p:cNvSpPr>
          <p:nvPr/>
        </p:nvSpPr>
        <p:spPr>
          <a:xfrm xmlns:a="http://schemas.openxmlformats.org/drawingml/2006/main">
            <a:off x="7715250" y="2790825"/>
            <a:ext cx="1847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Independent assessment</a:t>
            </a:r>
          </a:p>
        </p:txBody>
      </p:sp>
      <p:sp>
        <p:nvSpPr>
          <p:cNvPr id="20" name="">
            <a:extLst xmlns:a="http://schemas.openxmlformats.org/drawingml/2006/main">
              <a:ext uri="{FF2B5EF4-FFF2-40B4-BE49-F238E27FC236}">
                <a16:creationId xmlns:a16="http://schemas.microsoft.com/office/drawing/2014/main" id="{68A40679-4F20-4DE8-A811-B134A8D24136}"/>
              </a:ext>
            </a:extLst>
          </p:cNvPr>
          <p:cNvSpPr>
            <a:spLocks xmlns:a="http://schemas.openxmlformats.org/drawingml/2006/main" noGrp="1"/>
          </p:cNvSpPr>
          <p:nvPr/>
        </p:nvSpPr>
        <p:spPr>
          <a:xfrm xmlns:a="http://schemas.openxmlformats.org/drawingml/2006/main">
            <a:off x="9944100" y="2333625"/>
            <a:ext cx="2076450" cy="16002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2E2E9"/>
            </a:solidFill>
          </a:ln>
        </p:spPr>
      </p:sp>
      <p:sp>
        <p:nvSpPr>
          <p:cNvPr id="21" name="">
            <a:extLst xmlns:a="http://schemas.openxmlformats.org/drawingml/2006/main">
              <a:ext uri="{FF2B5EF4-FFF2-40B4-BE49-F238E27FC236}">
                <a16:creationId xmlns:a16="http://schemas.microsoft.com/office/drawing/2014/main" id="{7E6C0DC3-3CDF-42F5-BA29-456340FD2691}"/>
              </a:ext>
            </a:extLst>
          </p:cNvPr>
          <p:cNvSpPr>
            <a:spLocks xmlns:a="http://schemas.openxmlformats.org/drawingml/2006/main" noGrp="1"/>
          </p:cNvSpPr>
          <p:nvPr/>
        </p:nvSpPr>
        <p:spPr>
          <a:xfrm xmlns:a="http://schemas.openxmlformats.org/drawingml/2006/main">
            <a:off x="10058400" y="2428875"/>
            <a:ext cx="1847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Case management</a:t>
            </a:r>
          </a:p>
        </p:txBody>
      </p:sp>
      <p:sp>
        <p:nvSpPr>
          <p:cNvPr id="22" name="">
            <a:extLst xmlns:a="http://schemas.openxmlformats.org/drawingml/2006/main">
              <a:ext uri="{FF2B5EF4-FFF2-40B4-BE49-F238E27FC236}">
                <a16:creationId xmlns:a16="http://schemas.microsoft.com/office/drawing/2014/main" id="{D0A918BE-0000-4EB4-809A-122202CEE1A7}"/>
              </a:ext>
            </a:extLst>
          </p:cNvPr>
          <p:cNvSpPr>
            <a:spLocks xmlns:a="http://schemas.openxmlformats.org/drawingml/2006/main" noGrp="1"/>
          </p:cNvSpPr>
          <p:nvPr/>
        </p:nvSpPr>
        <p:spPr>
          <a:xfrm xmlns:a="http://schemas.openxmlformats.org/drawingml/2006/main">
            <a:off x="10058400" y="3019425"/>
            <a:ext cx="1847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Status and follow-up</a:t>
            </a:r>
          </a:p>
        </p:txBody>
      </p:sp>
      <p:sp>
        <p:nvSpPr>
          <p:cNvPr id="24" name="">
            <a:extLst xmlns:a="http://schemas.openxmlformats.org/drawingml/2006/main">
              <a:ext uri="{FF2B5EF4-FFF2-40B4-BE49-F238E27FC236}">
                <a16:creationId xmlns:a16="http://schemas.microsoft.com/office/drawing/2014/main" id="{F7A13673-FDB0-45F0-AE15-F57C56EEF6BD}"/>
              </a:ext>
            </a:extLst>
          </p:cNvPr>
          <p:cNvSpPr>
            <a:spLocks xmlns:a="http://schemas.openxmlformats.org/drawingml/2006/main" noGrp="1"/>
          </p:cNvSpPr>
          <p:nvPr/>
        </p:nvSpPr>
        <p:spPr>
          <a:xfrm xmlns:a="http://schemas.openxmlformats.org/drawingml/2006/main">
            <a:off x="809625" y="44196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DejaVu Sans"/>
                <a:ea typeface="DejaVu Sans"/>
                <a:cs typeface="DejaVu Sans"/>
              </a:defRPr>
            </a:pPr>
            <a:r>
              <a:rPr sz="2250" b="1">
                <a:solidFill>
                  <a:srgbClr val="087F8C"/>
                </a:solidFill>
                <a:latin typeface="DejaVu Sans"/>
                <a:ea typeface="DejaVu Sans"/>
                <a:cs typeface="DejaVu Sans"/>
              </a:rPr>
              <a:t>“AI assists healthcare professionals; it does not replace medical judgment.”</a:t>
            </a:r>
          </a:p>
        </p:txBody>
      </p:sp>
      <p:sp>
        <p:nvSpPr>
          <p:cNvPr id="25" name="">
            <a:extLst xmlns:a="http://schemas.openxmlformats.org/drawingml/2006/main">
              <a:ext uri="{FF2B5EF4-FFF2-40B4-BE49-F238E27FC236}">
                <a16:creationId xmlns:a16="http://schemas.microsoft.com/office/drawing/2014/main" id="{E43B4314-1F96-42E6-B5DF-4E94DC277ADA}"/>
              </a:ext>
            </a:extLst>
          </p:cNvPr>
          <p:cNvSpPr>
            <a:spLocks xmlns:a="http://schemas.openxmlformats.org/drawingml/2006/main" noGrp="1"/>
          </p:cNvSpPr>
          <p:nvPr/>
        </p:nvSpPr>
        <p:spPr>
          <a:xfrm xmlns:a="http://schemas.openxmlformats.org/drawingml/2006/main">
            <a:off x="809625" y="56102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6"/>
                </a:solidFill>
                <a:latin typeface="DejaVu Sans"/>
                <a:ea typeface="DejaVu Sans"/>
                <a:cs typeface="DejaVu Sans"/>
              </a:defRPr>
            </a:pPr>
            <a:r>
              <a:rPr sz="1725" b="0">
                <a:solidFill>
                  <a:srgbClr val="526776"/>
                </a:solidFill>
                <a:latin typeface="DejaVu Sans"/>
                <a:ea typeface="DejaVu Sans"/>
                <a:cs typeface="DejaVu Sans"/>
              </a:rPr>
              <a:t>No autonomous diagnosis, prescription or treatment.</a:t>
            </a:r>
          </a:p>
        </p:txBody>
      </p:sp>
    </p:spTree>
    <p:extLst>
      <p:ext uri="{BB962C8B-B14F-4D97-AF65-F5344CB8AC3E}">
        <p14:creationId xmlns:p14="http://schemas.microsoft.com/office/powerpoint/2010/main" val="1509517169"/>
      </p:ext>
    </p:extLst>
  </p:cSld>
  <p:transition spd="fast">
    <p:fade/>
  </p:transition>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481D721-4F51-400E-AD10-71C26AF8B59A}"/>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Major Modules</a:t>
            </a:r>
          </a:p>
        </p:txBody>
      </p:sp>
      <p:sp>
        <p:nvSpPr>
          <p:cNvPr id="2" name="">
            <a:extLst xmlns:a="http://schemas.openxmlformats.org/drawingml/2006/main">
              <a:ext uri="{FF2B5EF4-FFF2-40B4-BE49-F238E27FC236}">
                <a16:creationId xmlns:a16="http://schemas.microsoft.com/office/drawing/2014/main" id="{D56FD2F1-E2BC-4914-AE83-74B055ECAE03}"/>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Three roles with distinct access and responsibilities</a:t>
            </a:r>
          </a:p>
        </p:txBody>
      </p:sp>
      <p:sp>
        <p:nvSpPr>
          <p:cNvPr id="3" name="">
            <a:extLst xmlns:a="http://schemas.openxmlformats.org/drawingml/2006/main">
              <a:ext uri="{FF2B5EF4-FFF2-40B4-BE49-F238E27FC236}">
                <a16:creationId xmlns:a16="http://schemas.microsoft.com/office/drawing/2014/main" id="{29518188-68EF-408B-AC18-D1CC2E01ED2B}"/>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351BED2D-7ACE-4DA3-AE52-01C5559BB56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082717D6-6F5A-46EC-9684-C21B97358E40}"/>
              </a:ext>
            </a:extLst>
          </p:cNvPr>
          <p:cNvSpPr>
            <a:spLocks xmlns:a="http://schemas.openxmlformats.org/drawingml/2006/main" noGrp="1"/>
          </p:cNvSpPr>
          <p:nvPr/>
        </p:nvSpPr>
        <p:spPr>
          <a:xfrm xmlns:a="http://schemas.openxmlformats.org/drawingml/2006/main">
            <a:off x="609600" y="1885950"/>
            <a:ext cx="3429000" cy="4038600"/>
          </a:xfrm>
          <a:prstGeom xmlns:a="http://schemas.openxmlformats.org/drawingml/2006/main" prst="roundRect">
            <a:avLst>
              <a:gd name="adj" fmla="val 3889"/>
            </a:avLst>
          </a:prstGeom>
          <a:solidFill xmlns:a="http://schemas.openxmlformats.org/drawingml/2006/main">
            <a:srgbClr val="FFFFFF"/>
          </a:solidFill>
          <a:ln xmlns:a="http://schemas.openxmlformats.org/drawingml/2006/main" w="9525">
            <a:solidFill>
              <a:srgbClr val="D2E2E9"/>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139c4f0517f4bd9">
            <a:extLst>
              <a:ext uri="{96DAC541-7B7A-43D3-8B79-37D633B846F1}">
                <asvg:svgBlip xmlns:asvg="http://schemas.microsoft.com/office/drawing/2016/SVG/main" r:embed="Ra2bf07c881fd4188"/>
              </a:ext>
            </a:extLst>
          </a:blip>
          <a:stretch xmlns:a="http://schemas.openxmlformats.org/drawingml/2006/main"/>
        </p:blipFill>
        <p:spPr>
          <a:xfrm xmlns:a="http://schemas.openxmlformats.org/drawingml/2006/main">
            <a:off x="838200" y="2133600"/>
            <a:ext cx="400050" cy="400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F8DC818-5A86-4C69-B8D3-76E61DC530FC}"/>
              </a:ext>
            </a:extLst>
          </p:cNvPr>
          <p:cNvSpPr>
            <a:spLocks xmlns:a="http://schemas.openxmlformats.org/drawingml/2006/main" noGrp="1"/>
          </p:cNvSpPr>
          <p:nvPr/>
        </p:nvSpPr>
        <p:spPr>
          <a:xfrm xmlns:a="http://schemas.openxmlformats.org/drawingml/2006/main">
            <a:off x="1428750" y="21526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PATIENT</a:t>
            </a:r>
          </a:p>
        </p:txBody>
      </p:sp>
      <p:sp>
        <p:nvSpPr>
          <p:cNvPr id="8" name="">
            <a:extLst xmlns:a="http://schemas.openxmlformats.org/drawingml/2006/main">
              <a:ext uri="{FF2B5EF4-FFF2-40B4-BE49-F238E27FC236}">
                <a16:creationId xmlns:a16="http://schemas.microsoft.com/office/drawing/2014/main" id="{06E60A1F-3F66-4054-96D7-230CE4DB2743}"/>
              </a:ext>
            </a:extLst>
          </p:cNvPr>
          <p:cNvSpPr>
            <a:spLocks xmlns:a="http://schemas.openxmlformats.org/drawingml/2006/main" noGrp="1"/>
          </p:cNvSpPr>
          <p:nvPr/>
        </p:nvSpPr>
        <p:spPr>
          <a:xfrm xmlns:a="http://schemas.openxmlformats.org/drawingml/2006/main">
            <a:off x="838200" y="29622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Profile and medical history</a:t>
            </a:r>
          </a:p>
        </p:txBody>
      </p:sp>
      <p:sp>
        <p:nvSpPr>
          <p:cNvPr id="9" name="">
            <a:extLst xmlns:a="http://schemas.openxmlformats.org/drawingml/2006/main">
              <a:ext uri="{FF2B5EF4-FFF2-40B4-BE49-F238E27FC236}">
                <a16:creationId xmlns:a16="http://schemas.microsoft.com/office/drawing/2014/main" id="{9A5CC04E-9AF0-4CA2-AE41-E5F2783E14BA}"/>
              </a:ext>
            </a:extLst>
          </p:cNvPr>
          <p:cNvSpPr>
            <a:spLocks xmlns:a="http://schemas.openxmlformats.org/drawingml/2006/main" noGrp="1"/>
          </p:cNvSpPr>
          <p:nvPr/>
        </p:nvSpPr>
        <p:spPr>
          <a:xfrm xmlns:a="http://schemas.openxmlformats.org/drawingml/2006/main">
            <a:off x="838200" y="34956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Symptoms and assessments</a:t>
            </a:r>
          </a:p>
        </p:txBody>
      </p:sp>
      <p:sp>
        <p:nvSpPr>
          <p:cNvPr id="10" name="">
            <a:extLst xmlns:a="http://schemas.openxmlformats.org/drawingml/2006/main">
              <a:ext uri="{FF2B5EF4-FFF2-40B4-BE49-F238E27FC236}">
                <a16:creationId xmlns:a16="http://schemas.microsoft.com/office/drawing/2014/main" id="{A3B1957C-C0E1-4DF5-8EF3-DE03E612CB72}"/>
              </a:ext>
            </a:extLst>
          </p:cNvPr>
          <p:cNvSpPr>
            <a:spLocks xmlns:a="http://schemas.openxmlformats.org/drawingml/2006/main" noGrp="1"/>
          </p:cNvSpPr>
          <p:nvPr/>
        </p:nvSpPr>
        <p:spPr>
          <a:xfrm xmlns:a="http://schemas.openxmlformats.org/drawingml/2006/main">
            <a:off x="838200" y="40290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Medical reports</a:t>
            </a:r>
          </a:p>
        </p:txBody>
      </p:sp>
      <p:sp>
        <p:nvSpPr>
          <p:cNvPr id="11" name="">
            <a:extLst xmlns:a="http://schemas.openxmlformats.org/drawingml/2006/main">
              <a:ext uri="{FF2B5EF4-FFF2-40B4-BE49-F238E27FC236}">
                <a16:creationId xmlns:a16="http://schemas.microsoft.com/office/drawing/2014/main" id="{E9D9B386-7205-4D6E-A26D-1AF3B235F76E}"/>
              </a:ext>
            </a:extLst>
          </p:cNvPr>
          <p:cNvSpPr>
            <a:spLocks xmlns:a="http://schemas.openxmlformats.org/drawingml/2006/main" noGrp="1"/>
          </p:cNvSpPr>
          <p:nvPr/>
        </p:nvSpPr>
        <p:spPr>
          <a:xfrm xmlns:a="http://schemas.openxmlformats.org/drawingml/2006/main">
            <a:off x="838200" y="45624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Appointment requests</a:t>
            </a:r>
          </a:p>
        </p:txBody>
      </p:sp>
      <p:sp>
        <p:nvSpPr>
          <p:cNvPr id="12" name="">
            <a:extLst xmlns:a="http://schemas.openxmlformats.org/drawingml/2006/main">
              <a:ext uri="{FF2B5EF4-FFF2-40B4-BE49-F238E27FC236}">
                <a16:creationId xmlns:a16="http://schemas.microsoft.com/office/drawing/2014/main" id="{EE4A2DE6-0FE6-4C83-ADB7-0A1C9505D45A}"/>
              </a:ext>
            </a:extLst>
          </p:cNvPr>
          <p:cNvSpPr>
            <a:spLocks xmlns:a="http://schemas.openxmlformats.org/drawingml/2006/main" noGrp="1"/>
          </p:cNvSpPr>
          <p:nvPr/>
        </p:nvSpPr>
        <p:spPr>
          <a:xfrm xmlns:a="http://schemas.openxmlformats.org/drawingml/2006/main">
            <a:off x="838200" y="50958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Case status</a:t>
            </a:r>
          </a:p>
        </p:txBody>
      </p:sp>
      <p:sp>
        <p:nvSpPr>
          <p:cNvPr id="13" name="">
            <a:extLst xmlns:a="http://schemas.openxmlformats.org/drawingml/2006/main">
              <a:ext uri="{FF2B5EF4-FFF2-40B4-BE49-F238E27FC236}">
                <a16:creationId xmlns:a16="http://schemas.microsoft.com/office/drawing/2014/main" id="{46ECE797-319E-40B4-8F0A-8CF19A6D517B}"/>
              </a:ext>
            </a:extLst>
          </p:cNvPr>
          <p:cNvSpPr>
            <a:spLocks xmlns:a="http://schemas.openxmlformats.org/drawingml/2006/main" noGrp="1"/>
          </p:cNvSpPr>
          <p:nvPr/>
        </p:nvSpPr>
        <p:spPr>
          <a:xfrm xmlns:a="http://schemas.openxmlformats.org/drawingml/2006/main">
            <a:off x="4295775" y="1885950"/>
            <a:ext cx="3429000" cy="4038600"/>
          </a:xfrm>
          <a:prstGeom xmlns:a="http://schemas.openxmlformats.org/drawingml/2006/main" prst="roundRect">
            <a:avLst>
              <a:gd name="adj" fmla="val 3889"/>
            </a:avLst>
          </a:prstGeom>
          <a:solidFill xmlns:a="http://schemas.openxmlformats.org/drawingml/2006/main">
            <a:srgbClr val="EAF6F6"/>
          </a:solidFill>
          <a:ln xmlns:a="http://schemas.openxmlformats.org/drawingml/2006/main" w="9525">
            <a:solidFill>
              <a:srgbClr val="D2E2E9"/>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1bcaea2ae244fb0">
            <a:extLst>
              <a:ext uri="{96DAC541-7B7A-43D3-8B79-37D633B846F1}">
                <asvg:svgBlip xmlns:asvg="http://schemas.microsoft.com/office/drawing/2016/SVG/main" r:embed="R00f32e6c199c44d2"/>
              </a:ext>
            </a:extLst>
          </a:blip>
          <a:stretch xmlns:a="http://schemas.openxmlformats.org/drawingml/2006/main"/>
        </p:blipFill>
        <p:spPr>
          <a:xfrm xmlns:a="http://schemas.openxmlformats.org/drawingml/2006/main">
            <a:off x="4524375" y="2133600"/>
            <a:ext cx="400050" cy="4000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F9C1143-9357-46FD-B3E3-726ABC9AB959}"/>
              </a:ext>
            </a:extLst>
          </p:cNvPr>
          <p:cNvSpPr>
            <a:spLocks xmlns:a="http://schemas.openxmlformats.org/drawingml/2006/main" noGrp="1"/>
          </p:cNvSpPr>
          <p:nvPr/>
        </p:nvSpPr>
        <p:spPr>
          <a:xfrm xmlns:a="http://schemas.openxmlformats.org/drawingml/2006/main">
            <a:off x="5114925" y="21526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DOCTOR</a:t>
            </a:r>
          </a:p>
        </p:txBody>
      </p:sp>
      <p:sp>
        <p:nvSpPr>
          <p:cNvPr id="16" name="">
            <a:extLst xmlns:a="http://schemas.openxmlformats.org/drawingml/2006/main">
              <a:ext uri="{FF2B5EF4-FFF2-40B4-BE49-F238E27FC236}">
                <a16:creationId xmlns:a16="http://schemas.microsoft.com/office/drawing/2014/main" id="{D2923CA3-CE13-44B6-A788-C425BD48F537}"/>
              </a:ext>
            </a:extLst>
          </p:cNvPr>
          <p:cNvSpPr>
            <a:spLocks xmlns:a="http://schemas.openxmlformats.org/drawingml/2006/main" noGrp="1"/>
          </p:cNvSpPr>
          <p:nvPr/>
        </p:nvSpPr>
        <p:spPr>
          <a:xfrm xmlns:a="http://schemas.openxmlformats.org/drawingml/2006/main">
            <a:off x="4524375" y="29622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Assigned patient cases</a:t>
            </a:r>
          </a:p>
        </p:txBody>
      </p:sp>
      <p:sp>
        <p:nvSpPr>
          <p:cNvPr id="17" name="">
            <a:extLst xmlns:a="http://schemas.openxmlformats.org/drawingml/2006/main">
              <a:ext uri="{FF2B5EF4-FFF2-40B4-BE49-F238E27FC236}">
                <a16:creationId xmlns:a16="http://schemas.microsoft.com/office/drawing/2014/main" id="{35869CE2-623E-4942-974B-BEB493611382}"/>
              </a:ext>
            </a:extLst>
          </p:cNvPr>
          <p:cNvSpPr>
            <a:spLocks xmlns:a="http://schemas.openxmlformats.org/drawingml/2006/main" noGrp="1"/>
          </p:cNvSpPr>
          <p:nvPr/>
        </p:nvSpPr>
        <p:spPr>
          <a:xfrm xmlns:a="http://schemas.openxmlformats.org/drawingml/2006/main">
            <a:off x="4524375" y="34956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Reports and patient history</a:t>
            </a:r>
          </a:p>
        </p:txBody>
      </p:sp>
      <p:sp>
        <p:nvSpPr>
          <p:cNvPr id="18" name="">
            <a:extLst xmlns:a="http://schemas.openxmlformats.org/drawingml/2006/main">
              <a:ext uri="{FF2B5EF4-FFF2-40B4-BE49-F238E27FC236}">
                <a16:creationId xmlns:a16="http://schemas.microsoft.com/office/drawing/2014/main" id="{E64ABF5D-E4B7-49C9-B3D5-5160D1F90598}"/>
              </a:ext>
            </a:extLst>
          </p:cNvPr>
          <p:cNvSpPr>
            <a:spLocks xmlns:a="http://schemas.openxmlformats.org/drawingml/2006/main" noGrp="1"/>
          </p:cNvSpPr>
          <p:nvPr/>
        </p:nvSpPr>
        <p:spPr>
          <a:xfrm xmlns:a="http://schemas.openxmlformats.org/drawingml/2006/main">
            <a:off x="4524375" y="40290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AI-assisted priority</a:t>
            </a:r>
          </a:p>
        </p:txBody>
      </p:sp>
      <p:sp>
        <p:nvSpPr>
          <p:cNvPr id="19" name="">
            <a:extLst xmlns:a="http://schemas.openxmlformats.org/drawingml/2006/main">
              <a:ext uri="{FF2B5EF4-FFF2-40B4-BE49-F238E27FC236}">
                <a16:creationId xmlns:a16="http://schemas.microsoft.com/office/drawing/2014/main" id="{FAF1BF32-07B6-4C65-9844-90A9D61B52B4}"/>
              </a:ext>
            </a:extLst>
          </p:cNvPr>
          <p:cNvSpPr>
            <a:spLocks xmlns:a="http://schemas.openxmlformats.org/drawingml/2006/main" noGrp="1"/>
          </p:cNvSpPr>
          <p:nvPr/>
        </p:nvSpPr>
        <p:spPr>
          <a:xfrm xmlns:a="http://schemas.openxmlformats.org/drawingml/2006/main">
            <a:off x="4524375" y="45624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Independent review</a:t>
            </a:r>
          </a:p>
        </p:txBody>
      </p:sp>
      <p:sp>
        <p:nvSpPr>
          <p:cNvPr id="20" name="">
            <a:extLst xmlns:a="http://schemas.openxmlformats.org/drawingml/2006/main">
              <a:ext uri="{FF2B5EF4-FFF2-40B4-BE49-F238E27FC236}">
                <a16:creationId xmlns:a16="http://schemas.microsoft.com/office/drawing/2014/main" id="{48993EAF-F465-432C-A5BD-AA8F49F5556E}"/>
              </a:ext>
            </a:extLst>
          </p:cNvPr>
          <p:cNvSpPr>
            <a:spLocks xmlns:a="http://schemas.openxmlformats.org/drawingml/2006/main" noGrp="1"/>
          </p:cNvSpPr>
          <p:nvPr/>
        </p:nvSpPr>
        <p:spPr>
          <a:xfrm xmlns:a="http://schemas.openxmlformats.org/drawingml/2006/main">
            <a:off x="4524375" y="50958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Status and appointment updates</a:t>
            </a:r>
          </a:p>
        </p:txBody>
      </p:sp>
      <p:sp>
        <p:nvSpPr>
          <p:cNvPr id="21" name="">
            <a:extLst xmlns:a="http://schemas.openxmlformats.org/drawingml/2006/main">
              <a:ext uri="{FF2B5EF4-FFF2-40B4-BE49-F238E27FC236}">
                <a16:creationId xmlns:a16="http://schemas.microsoft.com/office/drawing/2014/main" id="{9E7C5C6D-C17D-46F8-A32F-A96DAF25A461}"/>
              </a:ext>
            </a:extLst>
          </p:cNvPr>
          <p:cNvSpPr>
            <a:spLocks xmlns:a="http://schemas.openxmlformats.org/drawingml/2006/main" noGrp="1"/>
          </p:cNvSpPr>
          <p:nvPr/>
        </p:nvSpPr>
        <p:spPr>
          <a:xfrm xmlns:a="http://schemas.openxmlformats.org/drawingml/2006/main">
            <a:off x="7981950" y="1885950"/>
            <a:ext cx="3429000" cy="4038600"/>
          </a:xfrm>
          <a:prstGeom xmlns:a="http://schemas.openxmlformats.org/drawingml/2006/main" prst="roundRect">
            <a:avLst>
              <a:gd name="adj" fmla="val 3889"/>
            </a:avLst>
          </a:prstGeom>
          <a:solidFill xmlns:a="http://schemas.openxmlformats.org/drawingml/2006/main">
            <a:srgbClr val="FFFFFF"/>
          </a:solidFill>
          <a:ln xmlns:a="http://schemas.openxmlformats.org/drawingml/2006/main" w="9525">
            <a:solidFill>
              <a:srgbClr val="D2E2E9"/>
            </a:solidFill>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203f69a6e374b33">
            <a:extLst>
              <a:ext uri="{96DAC541-7B7A-43D3-8B79-37D633B846F1}">
                <asvg:svgBlip xmlns:asvg="http://schemas.microsoft.com/office/drawing/2016/SVG/main" r:embed="R8bc6a9e368084984"/>
              </a:ext>
            </a:extLst>
          </a:blip>
          <a:stretch xmlns:a="http://schemas.openxmlformats.org/drawingml/2006/main"/>
        </p:blipFill>
        <p:spPr>
          <a:xfrm xmlns:a="http://schemas.openxmlformats.org/drawingml/2006/main">
            <a:off x="8210550" y="2133600"/>
            <a:ext cx="400050" cy="4000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22C75248-9544-4CD9-BA10-8996EF8DDB62}"/>
              </a:ext>
            </a:extLst>
          </p:cNvPr>
          <p:cNvSpPr>
            <a:spLocks xmlns:a="http://schemas.openxmlformats.org/drawingml/2006/main" noGrp="1"/>
          </p:cNvSpPr>
          <p:nvPr/>
        </p:nvSpPr>
        <p:spPr>
          <a:xfrm xmlns:a="http://schemas.openxmlformats.org/drawingml/2006/main">
            <a:off x="8801100" y="21526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ADMIN</a:t>
            </a:r>
          </a:p>
        </p:txBody>
      </p:sp>
      <p:sp>
        <p:nvSpPr>
          <p:cNvPr id="24" name="">
            <a:extLst xmlns:a="http://schemas.openxmlformats.org/drawingml/2006/main">
              <a:ext uri="{FF2B5EF4-FFF2-40B4-BE49-F238E27FC236}">
                <a16:creationId xmlns:a16="http://schemas.microsoft.com/office/drawing/2014/main" id="{EDC4235D-CFF1-43BB-A080-C10BBC2C26EF}"/>
              </a:ext>
            </a:extLst>
          </p:cNvPr>
          <p:cNvSpPr>
            <a:spLocks xmlns:a="http://schemas.openxmlformats.org/drawingml/2006/main" noGrp="1"/>
          </p:cNvSpPr>
          <p:nvPr/>
        </p:nvSpPr>
        <p:spPr>
          <a:xfrm xmlns:a="http://schemas.openxmlformats.org/drawingml/2006/main">
            <a:off x="8210550" y="29622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User management</a:t>
            </a:r>
          </a:p>
        </p:txBody>
      </p:sp>
      <p:sp>
        <p:nvSpPr>
          <p:cNvPr id="25" name="">
            <a:extLst xmlns:a="http://schemas.openxmlformats.org/drawingml/2006/main">
              <a:ext uri="{FF2B5EF4-FFF2-40B4-BE49-F238E27FC236}">
                <a16:creationId xmlns:a16="http://schemas.microsoft.com/office/drawing/2014/main" id="{23C950A6-16FD-4035-B221-CE8042F6E317}"/>
              </a:ext>
            </a:extLst>
          </p:cNvPr>
          <p:cNvSpPr>
            <a:spLocks xmlns:a="http://schemas.openxmlformats.org/drawingml/2006/main" noGrp="1"/>
          </p:cNvSpPr>
          <p:nvPr/>
        </p:nvSpPr>
        <p:spPr>
          <a:xfrm xmlns:a="http://schemas.openxmlformats.org/drawingml/2006/main">
            <a:off x="8210550" y="34956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Dashboard analytics</a:t>
            </a:r>
          </a:p>
        </p:txBody>
      </p:sp>
      <p:sp>
        <p:nvSpPr>
          <p:cNvPr id="26" name="">
            <a:extLst xmlns:a="http://schemas.openxmlformats.org/drawingml/2006/main">
              <a:ext uri="{FF2B5EF4-FFF2-40B4-BE49-F238E27FC236}">
                <a16:creationId xmlns:a16="http://schemas.microsoft.com/office/drawing/2014/main" id="{CFC72E98-BB18-4DC3-9195-B6189962CBDB}"/>
              </a:ext>
            </a:extLst>
          </p:cNvPr>
          <p:cNvSpPr>
            <a:spLocks xmlns:a="http://schemas.openxmlformats.org/drawingml/2006/main" noGrp="1"/>
          </p:cNvSpPr>
          <p:nvPr/>
        </p:nvSpPr>
        <p:spPr>
          <a:xfrm xmlns:a="http://schemas.openxmlformats.org/drawingml/2006/main">
            <a:off x="8210550" y="40290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System monitoring</a:t>
            </a:r>
          </a:p>
        </p:txBody>
      </p:sp>
      <p:sp>
        <p:nvSpPr>
          <p:cNvPr id="27" name="">
            <a:extLst xmlns:a="http://schemas.openxmlformats.org/drawingml/2006/main">
              <a:ext uri="{FF2B5EF4-FFF2-40B4-BE49-F238E27FC236}">
                <a16:creationId xmlns:a16="http://schemas.microsoft.com/office/drawing/2014/main" id="{B2E98AE0-A095-4370-BD57-4014C95A89FC}"/>
              </a:ext>
            </a:extLst>
          </p:cNvPr>
          <p:cNvSpPr>
            <a:spLocks xmlns:a="http://schemas.openxmlformats.org/drawingml/2006/main" noGrp="1"/>
          </p:cNvSpPr>
          <p:nvPr/>
        </p:nvSpPr>
        <p:spPr>
          <a:xfrm xmlns:a="http://schemas.openxmlformats.org/drawingml/2006/main">
            <a:off x="8210550" y="4562475"/>
            <a:ext cx="300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5344A"/>
                </a:solidFill>
                <a:latin typeface="DejaVu Sans"/>
                <a:ea typeface="DejaVu Sans"/>
                <a:cs typeface="DejaVu Sans"/>
              </a:defRPr>
            </a:pPr>
            <a:r>
              <a:rPr sz="1650" b="0">
                <a:solidFill>
                  <a:srgbClr val="15344A"/>
                </a:solidFill>
                <a:latin typeface="DejaVu Sans"/>
                <a:ea typeface="DejaVu Sans"/>
                <a:cs typeface="DejaVu Sans"/>
              </a:rPr>
              <a:t>Audit logs</a:t>
            </a:r>
          </a:p>
        </p:txBody>
      </p:sp>
    </p:spTree>
    <p:extLst>
      <p:ext uri="{BB962C8B-B14F-4D97-AF65-F5344CB8AC3E}">
        <p14:creationId xmlns:p14="http://schemas.microsoft.com/office/powerpoint/2010/main" val="592168005"/>
      </p:ext>
    </p:extLst>
  </p:cSld>
  <p:transition spd="fast">
    <p:fade/>
  </p:transition>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cxnSp>
        <p:nvCxnSpPr>
          <p:cNvPr id="32" name=""/>
          <p:cNvCxnSpPr>
            <a:stCxn xmlns:a="http://schemas.openxmlformats.org/drawingml/2006/main" id="23" idx="2"/>
            <a:endCxn xmlns:a="http://schemas.openxmlformats.org/drawingml/2006/main" id="26" idx="0"/>
          </p:cNvCxnSpPr>
          <p:nvPr/>
        </p:nvCxnSpPr>
        <p:spPr>
          <a:xfrm xmlns:a="http://schemas.openxmlformats.org/drawingml/2006/main">
            <a:off x="9734550" y="4410075"/>
            <a:ext cx="0" cy="47625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3" name=""/>
          <p:cNvCxnSpPr>
            <a:stCxn xmlns:a="http://schemas.openxmlformats.org/drawingml/2006/main" id="20" idx="2"/>
            <a:endCxn xmlns:a="http://schemas.openxmlformats.org/drawingml/2006/main" id="23" idx="0"/>
          </p:cNvCxnSpPr>
          <p:nvPr/>
        </p:nvCxnSpPr>
        <p:spPr>
          <a:xfrm xmlns:a="http://schemas.openxmlformats.org/drawingml/2006/main">
            <a:off x="9734550" y="3028950"/>
            <a:ext cx="0" cy="447675"/>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4" name=""/>
          <p:cNvCxnSpPr>
            <a:stCxn xmlns:a="http://schemas.openxmlformats.org/drawingml/2006/main" id="11" idx="3"/>
            <a:endCxn xmlns:a="http://schemas.openxmlformats.org/drawingml/2006/main" id="20" idx="1"/>
          </p:cNvCxnSpPr>
          <p:nvPr/>
        </p:nvCxnSpPr>
        <p:spPr>
          <a:xfrm xmlns:a="http://schemas.openxmlformats.org/drawingml/2006/main" flipV="1">
            <a:off x="6381750" y="2552700"/>
            <a:ext cx="1638300" cy="18669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5" name=""/>
          <p:cNvCxnSpPr>
            <a:stCxn xmlns:a="http://schemas.openxmlformats.org/drawingml/2006/main" id="11" idx="2"/>
            <a:endCxn xmlns:a="http://schemas.openxmlformats.org/drawingml/2006/main" id="14" idx="0"/>
          </p:cNvCxnSpPr>
          <p:nvPr/>
        </p:nvCxnSpPr>
        <p:spPr>
          <a:xfrm xmlns:a="http://schemas.openxmlformats.org/drawingml/2006/main">
            <a:off x="3524250" y="4848225"/>
            <a:ext cx="0" cy="4191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6" name=""/>
          <p:cNvCxnSpPr>
            <a:stCxn xmlns:a="http://schemas.openxmlformats.org/drawingml/2006/main" id="8" idx="2"/>
            <a:endCxn xmlns:a="http://schemas.openxmlformats.org/drawingml/2006/main" id="11" idx="0"/>
          </p:cNvCxnSpPr>
          <p:nvPr/>
        </p:nvCxnSpPr>
        <p:spPr>
          <a:xfrm xmlns:a="http://schemas.openxmlformats.org/drawingml/2006/main">
            <a:off x="3524250" y="3609975"/>
            <a:ext cx="0" cy="3810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7" name=""/>
          <p:cNvCxnSpPr>
            <a:stCxn xmlns:a="http://schemas.openxmlformats.org/drawingml/2006/main" id="5" idx="2"/>
            <a:endCxn xmlns:a="http://schemas.openxmlformats.org/drawingml/2006/main" id="8" idx="0"/>
          </p:cNvCxnSpPr>
          <p:nvPr/>
        </p:nvCxnSpPr>
        <p:spPr>
          <a:xfrm xmlns:a="http://schemas.openxmlformats.org/drawingml/2006/main">
            <a:off x="3524250" y="2476500"/>
            <a:ext cx="0" cy="32385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38" name="">
            <a:extLst xmlns:a="http://schemas.openxmlformats.org/drawingml/2006/main">
              <a:ext uri="{FF2B5EF4-FFF2-40B4-BE49-F238E27FC236}">
                <a16:creationId xmlns:a16="http://schemas.microsoft.com/office/drawing/2014/main" id="{F6FA7C76-2839-4BFD-8A39-0C42C3911212}"/>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System Architecture</a:t>
            </a:r>
          </a:p>
        </p:txBody>
      </p:sp>
      <p:sp>
        <p:nvSpPr>
          <p:cNvPr id="2" name="">
            <a:extLst xmlns:a="http://schemas.openxmlformats.org/drawingml/2006/main">
              <a:ext uri="{FF2B5EF4-FFF2-40B4-BE49-F238E27FC236}">
                <a16:creationId xmlns:a16="http://schemas.microsoft.com/office/drawing/2014/main" id="{5F523987-2346-4C02-96F8-BC3B960F0AA8}"/>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Proposed separation of the web application, relational data and ML inference</a:t>
            </a:r>
          </a:p>
        </p:txBody>
      </p:sp>
      <p:sp>
        <p:nvSpPr>
          <p:cNvPr id="3" name="">
            <a:extLst xmlns:a="http://schemas.openxmlformats.org/drawingml/2006/main">
              <a:ext uri="{FF2B5EF4-FFF2-40B4-BE49-F238E27FC236}">
                <a16:creationId xmlns:a16="http://schemas.microsoft.com/office/drawing/2014/main" id="{6622282C-E0D8-4F33-8353-FB270D081D38}"/>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3CFD4675-2E51-42BA-B51C-791DF672613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7981D2DF-01A3-45D5-B074-8927E056FB10}"/>
              </a:ext>
            </a:extLst>
          </p:cNvPr>
          <p:cNvSpPr>
            <a:spLocks xmlns:a="http://schemas.openxmlformats.org/drawingml/2006/main" noGrp="1"/>
          </p:cNvSpPr>
          <p:nvPr/>
        </p:nvSpPr>
        <p:spPr>
          <a:xfrm xmlns:a="http://schemas.openxmlformats.org/drawingml/2006/main">
            <a:off x="666750" y="1695450"/>
            <a:ext cx="57150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2E2E9"/>
            </a:solidFill>
          </a:ln>
        </p:spPr>
      </p:sp>
      <p:sp>
        <p:nvSpPr>
          <p:cNvPr id="6" name="">
            <a:extLst xmlns:a="http://schemas.openxmlformats.org/drawingml/2006/main">
              <a:ext uri="{FF2B5EF4-FFF2-40B4-BE49-F238E27FC236}">
                <a16:creationId xmlns:a16="http://schemas.microsoft.com/office/drawing/2014/main" id="{450E2B39-C67A-4FDD-ABC9-F59BA6813F64}"/>
              </a:ext>
            </a:extLst>
          </p:cNvPr>
          <p:cNvSpPr>
            <a:spLocks xmlns:a="http://schemas.openxmlformats.org/drawingml/2006/main" noGrp="1"/>
          </p:cNvSpPr>
          <p:nvPr/>
        </p:nvSpPr>
        <p:spPr>
          <a:xfrm xmlns:a="http://schemas.openxmlformats.org/drawingml/2006/main">
            <a:off x="781050" y="1790700"/>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Patient   /   Doctor   /   Admin</a:t>
            </a:r>
          </a:p>
        </p:txBody>
      </p:sp>
      <p:sp>
        <p:nvSpPr>
          <p:cNvPr id="7" name="">
            <a:extLst xmlns:a="http://schemas.openxmlformats.org/drawingml/2006/main">
              <a:ext uri="{FF2B5EF4-FFF2-40B4-BE49-F238E27FC236}">
                <a16:creationId xmlns:a16="http://schemas.microsoft.com/office/drawing/2014/main" id="{79F3BA51-3480-4A15-B8DF-6E713CFD21F2}"/>
              </a:ext>
            </a:extLst>
          </p:cNvPr>
          <p:cNvSpPr>
            <a:spLocks xmlns:a="http://schemas.openxmlformats.org/drawingml/2006/main" noGrp="1"/>
          </p:cNvSpPr>
          <p:nvPr/>
        </p:nvSpPr>
        <p:spPr>
          <a:xfrm xmlns:a="http://schemas.openxmlformats.org/drawingml/2006/main">
            <a:off x="781050" y="2152650"/>
            <a:ext cx="5486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Role-specific web access</a:t>
            </a:r>
          </a:p>
        </p:txBody>
      </p:sp>
      <p:sp>
        <p:nvSpPr>
          <p:cNvPr id="8" name="">
            <a:extLst xmlns:a="http://schemas.openxmlformats.org/drawingml/2006/main">
              <a:ext uri="{FF2B5EF4-FFF2-40B4-BE49-F238E27FC236}">
                <a16:creationId xmlns:a16="http://schemas.microsoft.com/office/drawing/2014/main" id="{F59377C6-3FB1-42C5-AB42-4C1BF9D210B0}"/>
              </a:ext>
            </a:extLst>
          </p:cNvPr>
          <p:cNvSpPr>
            <a:spLocks xmlns:a="http://schemas.openxmlformats.org/drawingml/2006/main" noGrp="1"/>
          </p:cNvSpPr>
          <p:nvPr/>
        </p:nvSpPr>
        <p:spPr>
          <a:xfrm xmlns:a="http://schemas.openxmlformats.org/drawingml/2006/main">
            <a:off x="666750" y="2800350"/>
            <a:ext cx="5715000" cy="809625"/>
          </a:xfrm>
          <a:prstGeom xmlns:a="http://schemas.openxmlformats.org/drawingml/2006/main" prst="roundRect">
            <a:avLst>
              <a:gd name="adj" fmla="val 16471"/>
            </a:avLst>
          </a:prstGeom>
          <a:solidFill xmlns:a="http://schemas.openxmlformats.org/drawingml/2006/main">
            <a:srgbClr val="FFFFFF"/>
          </a:solidFill>
          <a:ln xmlns:a="http://schemas.openxmlformats.org/drawingml/2006/main" w="9525">
            <a:solidFill>
              <a:srgbClr val="D2E2E9"/>
            </a:solidFill>
          </a:ln>
        </p:spPr>
      </p:sp>
      <p:sp>
        <p:nvSpPr>
          <p:cNvPr id="9" name="">
            <a:extLst xmlns:a="http://schemas.openxmlformats.org/drawingml/2006/main">
              <a:ext uri="{FF2B5EF4-FFF2-40B4-BE49-F238E27FC236}">
                <a16:creationId xmlns:a16="http://schemas.microsoft.com/office/drawing/2014/main" id="{27F7BD52-0198-415E-BA80-F43081927940}"/>
              </a:ext>
            </a:extLst>
          </p:cNvPr>
          <p:cNvSpPr>
            <a:spLocks xmlns:a="http://schemas.openxmlformats.org/drawingml/2006/main" noGrp="1"/>
          </p:cNvSpPr>
          <p:nvPr/>
        </p:nvSpPr>
        <p:spPr>
          <a:xfrm xmlns:a="http://schemas.openxmlformats.org/drawingml/2006/main">
            <a:off x="781050" y="2895600"/>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React.js + Tailwind CSS</a:t>
            </a:r>
          </a:p>
        </p:txBody>
      </p:sp>
      <p:sp>
        <p:nvSpPr>
          <p:cNvPr id="10" name="">
            <a:extLst xmlns:a="http://schemas.openxmlformats.org/drawingml/2006/main">
              <a:ext uri="{FF2B5EF4-FFF2-40B4-BE49-F238E27FC236}">
                <a16:creationId xmlns:a16="http://schemas.microsoft.com/office/drawing/2014/main" id="{E5B91BEE-3B81-4EF0-849C-4CA1D3974BC7}"/>
              </a:ext>
            </a:extLst>
          </p:cNvPr>
          <p:cNvSpPr>
            <a:spLocks xmlns:a="http://schemas.openxmlformats.org/drawingml/2006/main" noGrp="1"/>
          </p:cNvSpPr>
          <p:nvPr/>
        </p:nvSpPr>
        <p:spPr>
          <a:xfrm xmlns:a="http://schemas.openxmlformats.org/drawingml/2006/main">
            <a:off x="781050" y="3257550"/>
            <a:ext cx="5486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Frontend interface</a:t>
            </a:r>
          </a:p>
        </p:txBody>
      </p:sp>
      <p:sp>
        <p:nvSpPr>
          <p:cNvPr id="11" name="">
            <a:extLst xmlns:a="http://schemas.openxmlformats.org/drawingml/2006/main">
              <a:ext uri="{FF2B5EF4-FFF2-40B4-BE49-F238E27FC236}">
                <a16:creationId xmlns:a16="http://schemas.microsoft.com/office/drawing/2014/main" id="{C0D82C04-2466-44DD-9E34-B352E6E85543}"/>
              </a:ext>
            </a:extLst>
          </p:cNvPr>
          <p:cNvSpPr>
            <a:spLocks xmlns:a="http://schemas.openxmlformats.org/drawingml/2006/main" noGrp="1"/>
          </p:cNvSpPr>
          <p:nvPr/>
        </p:nvSpPr>
        <p:spPr>
          <a:xfrm xmlns:a="http://schemas.openxmlformats.org/drawingml/2006/main">
            <a:off x="666750" y="3990975"/>
            <a:ext cx="5715000" cy="857250"/>
          </a:xfrm>
          <a:prstGeom xmlns:a="http://schemas.openxmlformats.org/drawingml/2006/main" prst="roundRect">
            <a:avLst>
              <a:gd name="adj" fmla="val 15556"/>
            </a:avLst>
          </a:prstGeom>
          <a:solidFill xmlns:a="http://schemas.openxmlformats.org/drawingml/2006/main">
            <a:srgbClr val="FFFFFF"/>
          </a:solidFill>
          <a:ln xmlns:a="http://schemas.openxmlformats.org/drawingml/2006/main" w="9525">
            <a:solidFill>
              <a:srgbClr val="D2E2E9"/>
            </a:solidFill>
          </a:ln>
        </p:spPr>
      </p:sp>
      <p:sp>
        <p:nvSpPr>
          <p:cNvPr id="12" name="">
            <a:extLst xmlns:a="http://schemas.openxmlformats.org/drawingml/2006/main">
              <a:ext uri="{FF2B5EF4-FFF2-40B4-BE49-F238E27FC236}">
                <a16:creationId xmlns:a16="http://schemas.microsoft.com/office/drawing/2014/main" id="{F36704FD-A299-43CA-BAA8-2918E508AE73}"/>
              </a:ext>
            </a:extLst>
          </p:cNvPr>
          <p:cNvSpPr>
            <a:spLocks xmlns:a="http://schemas.openxmlformats.org/drawingml/2006/main" noGrp="1"/>
          </p:cNvSpPr>
          <p:nvPr/>
        </p:nvSpPr>
        <p:spPr>
          <a:xfrm xmlns:a="http://schemas.openxmlformats.org/drawingml/2006/main">
            <a:off x="781050" y="4086225"/>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Node.js + Express.js</a:t>
            </a:r>
          </a:p>
        </p:txBody>
      </p:sp>
      <p:sp>
        <p:nvSpPr>
          <p:cNvPr id="13" name="">
            <a:extLst xmlns:a="http://schemas.openxmlformats.org/drawingml/2006/main">
              <a:ext uri="{FF2B5EF4-FFF2-40B4-BE49-F238E27FC236}">
                <a16:creationId xmlns:a16="http://schemas.microsoft.com/office/drawing/2014/main" id="{00B1F5E1-4DDC-43AD-8CCD-44E79EFB1480}"/>
              </a:ext>
            </a:extLst>
          </p:cNvPr>
          <p:cNvSpPr>
            <a:spLocks xmlns:a="http://schemas.openxmlformats.org/drawingml/2006/main" noGrp="1"/>
          </p:cNvSpPr>
          <p:nvPr/>
        </p:nvSpPr>
        <p:spPr>
          <a:xfrm xmlns:a="http://schemas.openxmlformats.org/drawingml/2006/main">
            <a:off x="781050" y="4448175"/>
            <a:ext cx="5486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REST APIs, validation and authorization</a:t>
            </a:r>
          </a:p>
        </p:txBody>
      </p:sp>
      <p:sp>
        <p:nvSpPr>
          <p:cNvPr id="14" name="">
            <a:extLst xmlns:a="http://schemas.openxmlformats.org/drawingml/2006/main">
              <a:ext uri="{FF2B5EF4-FFF2-40B4-BE49-F238E27FC236}">
                <a16:creationId xmlns:a16="http://schemas.microsoft.com/office/drawing/2014/main" id="{7DB40A60-2D5C-40F9-AFD4-50DD4EA258F6}"/>
              </a:ext>
            </a:extLst>
          </p:cNvPr>
          <p:cNvSpPr>
            <a:spLocks xmlns:a="http://schemas.openxmlformats.org/drawingml/2006/main" noGrp="1"/>
          </p:cNvSpPr>
          <p:nvPr/>
        </p:nvSpPr>
        <p:spPr>
          <a:xfrm xmlns:a="http://schemas.openxmlformats.org/drawingml/2006/main">
            <a:off x="666750" y="5267325"/>
            <a:ext cx="5715000" cy="8001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2E2E9"/>
            </a:solidFill>
          </a:ln>
        </p:spPr>
      </p:sp>
      <p:sp>
        <p:nvSpPr>
          <p:cNvPr id="15" name="">
            <a:extLst xmlns:a="http://schemas.openxmlformats.org/drawingml/2006/main">
              <a:ext uri="{FF2B5EF4-FFF2-40B4-BE49-F238E27FC236}">
                <a16:creationId xmlns:a16="http://schemas.microsoft.com/office/drawing/2014/main" id="{A1A0700A-CA40-4153-ADAA-8EB786246211}"/>
              </a:ext>
            </a:extLst>
          </p:cNvPr>
          <p:cNvSpPr>
            <a:spLocks xmlns:a="http://schemas.openxmlformats.org/drawingml/2006/main" noGrp="1"/>
          </p:cNvSpPr>
          <p:nvPr/>
        </p:nvSpPr>
        <p:spPr>
          <a:xfrm xmlns:a="http://schemas.openxmlformats.org/drawingml/2006/main">
            <a:off x="781050" y="5362575"/>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PostgreSQL</a:t>
            </a:r>
          </a:p>
        </p:txBody>
      </p:sp>
      <p:sp>
        <p:nvSpPr>
          <p:cNvPr id="16" name="">
            <a:extLst xmlns:a="http://schemas.openxmlformats.org/drawingml/2006/main">
              <a:ext uri="{FF2B5EF4-FFF2-40B4-BE49-F238E27FC236}">
                <a16:creationId xmlns:a16="http://schemas.microsoft.com/office/drawing/2014/main" id="{A6D381E5-2473-4806-9075-EF2A2E22D4E3}"/>
              </a:ext>
            </a:extLst>
          </p:cNvPr>
          <p:cNvSpPr>
            <a:spLocks xmlns:a="http://schemas.openxmlformats.org/drawingml/2006/main" noGrp="1"/>
          </p:cNvSpPr>
          <p:nvPr/>
        </p:nvSpPr>
        <p:spPr>
          <a:xfrm xmlns:a="http://schemas.openxmlformats.org/drawingml/2006/main">
            <a:off x="781050" y="5724525"/>
            <a:ext cx="5486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Structured patient and case records</a:t>
            </a:r>
          </a:p>
        </p:txBody>
      </p:sp>
      <p:sp>
        <p:nvSpPr>
          <p:cNvPr id="20" name="">
            <a:extLst xmlns:a="http://schemas.openxmlformats.org/drawingml/2006/main">
              <a:ext uri="{FF2B5EF4-FFF2-40B4-BE49-F238E27FC236}">
                <a16:creationId xmlns:a16="http://schemas.microsoft.com/office/drawing/2014/main" id="{DDF47027-8201-49F6-BE7C-6861B4D8D276}"/>
              </a:ext>
            </a:extLst>
          </p:cNvPr>
          <p:cNvSpPr>
            <a:spLocks xmlns:a="http://schemas.openxmlformats.org/drawingml/2006/main" noGrp="1"/>
          </p:cNvSpPr>
          <p:nvPr/>
        </p:nvSpPr>
        <p:spPr>
          <a:xfrm xmlns:a="http://schemas.openxmlformats.org/drawingml/2006/main">
            <a:off x="8020050" y="2076450"/>
            <a:ext cx="3429000" cy="952500"/>
          </a:xfrm>
          <a:prstGeom xmlns:a="http://schemas.openxmlformats.org/drawingml/2006/main" prst="roundRect">
            <a:avLst>
              <a:gd name="adj" fmla="val 14000"/>
            </a:avLst>
          </a:prstGeom>
          <a:solidFill xmlns:a="http://schemas.openxmlformats.org/drawingml/2006/main">
            <a:srgbClr val="EAF6F6"/>
          </a:solidFill>
          <a:ln xmlns:a="http://schemas.openxmlformats.org/drawingml/2006/main" w="9525">
            <a:solidFill>
              <a:srgbClr val="D2E2E9"/>
            </a:solidFill>
          </a:ln>
        </p:spPr>
      </p:sp>
      <p:sp>
        <p:nvSpPr>
          <p:cNvPr id="21" name="">
            <a:extLst xmlns:a="http://schemas.openxmlformats.org/drawingml/2006/main">
              <a:ext uri="{FF2B5EF4-FFF2-40B4-BE49-F238E27FC236}">
                <a16:creationId xmlns:a16="http://schemas.microsoft.com/office/drawing/2014/main" id="{C10C2371-CFDC-4CF6-B9C6-E82AD64B2641}"/>
              </a:ext>
            </a:extLst>
          </p:cNvPr>
          <p:cNvSpPr>
            <a:spLocks xmlns:a="http://schemas.openxmlformats.org/drawingml/2006/main" noGrp="1"/>
          </p:cNvSpPr>
          <p:nvPr/>
        </p:nvSpPr>
        <p:spPr>
          <a:xfrm xmlns:a="http://schemas.openxmlformats.org/drawingml/2006/main">
            <a:off x="8134350" y="2171700"/>
            <a:ext cx="320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Python + FastAPI</a:t>
            </a:r>
          </a:p>
        </p:txBody>
      </p:sp>
      <p:sp>
        <p:nvSpPr>
          <p:cNvPr id="22" name="">
            <a:extLst xmlns:a="http://schemas.openxmlformats.org/drawingml/2006/main">
              <a:ext uri="{FF2B5EF4-FFF2-40B4-BE49-F238E27FC236}">
                <a16:creationId xmlns:a16="http://schemas.microsoft.com/office/drawing/2014/main" id="{D0BBC3A1-1F44-447C-8B70-B644C1B12840}"/>
              </a:ext>
            </a:extLst>
          </p:cNvPr>
          <p:cNvSpPr>
            <a:spLocks xmlns:a="http://schemas.openxmlformats.org/drawingml/2006/main" noGrp="1"/>
          </p:cNvSpPr>
          <p:nvPr/>
        </p:nvSpPr>
        <p:spPr>
          <a:xfrm xmlns:a="http://schemas.openxmlformats.org/drawingml/2006/main">
            <a:off x="8134350" y="2533650"/>
            <a:ext cx="320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Machine-learning service</a:t>
            </a:r>
          </a:p>
        </p:txBody>
      </p:sp>
      <p:sp>
        <p:nvSpPr>
          <p:cNvPr id="23" name="">
            <a:extLst xmlns:a="http://schemas.openxmlformats.org/drawingml/2006/main">
              <a:ext uri="{FF2B5EF4-FFF2-40B4-BE49-F238E27FC236}">
                <a16:creationId xmlns:a16="http://schemas.microsoft.com/office/drawing/2014/main" id="{381BDB5A-82FE-4110-B62E-2C1D937EF401}"/>
              </a:ext>
            </a:extLst>
          </p:cNvPr>
          <p:cNvSpPr>
            <a:spLocks xmlns:a="http://schemas.openxmlformats.org/drawingml/2006/main" noGrp="1"/>
          </p:cNvSpPr>
          <p:nvPr/>
        </p:nvSpPr>
        <p:spPr>
          <a:xfrm xmlns:a="http://schemas.openxmlformats.org/drawingml/2006/main">
            <a:off x="8020050" y="3476625"/>
            <a:ext cx="3429000" cy="9334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2E2E9"/>
            </a:solidFill>
          </a:ln>
        </p:spPr>
      </p:sp>
      <p:sp>
        <p:nvSpPr>
          <p:cNvPr id="24" name="">
            <a:extLst xmlns:a="http://schemas.openxmlformats.org/drawingml/2006/main">
              <a:ext uri="{FF2B5EF4-FFF2-40B4-BE49-F238E27FC236}">
                <a16:creationId xmlns:a16="http://schemas.microsoft.com/office/drawing/2014/main" id="{02835529-AC17-459A-9E06-B4C99505760F}"/>
              </a:ext>
            </a:extLst>
          </p:cNvPr>
          <p:cNvSpPr>
            <a:spLocks xmlns:a="http://schemas.openxmlformats.org/drawingml/2006/main" noGrp="1"/>
          </p:cNvSpPr>
          <p:nvPr/>
        </p:nvSpPr>
        <p:spPr>
          <a:xfrm xmlns:a="http://schemas.openxmlformats.org/drawingml/2006/main">
            <a:off x="8134350" y="3571875"/>
            <a:ext cx="320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Scikit-learn models</a:t>
            </a:r>
          </a:p>
        </p:txBody>
      </p:sp>
      <p:sp>
        <p:nvSpPr>
          <p:cNvPr id="25" name="">
            <a:extLst xmlns:a="http://schemas.openxmlformats.org/drawingml/2006/main">
              <a:ext uri="{FF2B5EF4-FFF2-40B4-BE49-F238E27FC236}">
                <a16:creationId xmlns:a16="http://schemas.microsoft.com/office/drawing/2014/main" id="{71006070-484F-4F62-8EE1-1843C8E21EB9}"/>
              </a:ext>
            </a:extLst>
          </p:cNvPr>
          <p:cNvSpPr>
            <a:spLocks xmlns:a="http://schemas.openxmlformats.org/drawingml/2006/main" noGrp="1"/>
          </p:cNvSpPr>
          <p:nvPr/>
        </p:nvSpPr>
        <p:spPr>
          <a:xfrm xmlns:a="http://schemas.openxmlformats.org/drawingml/2006/main">
            <a:off x="8134350" y="3933825"/>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Urgency classification</a:t>
            </a:r>
          </a:p>
        </p:txBody>
      </p:sp>
      <p:sp>
        <p:nvSpPr>
          <p:cNvPr id="26" name="">
            <a:extLst xmlns:a="http://schemas.openxmlformats.org/drawingml/2006/main">
              <a:ext uri="{FF2B5EF4-FFF2-40B4-BE49-F238E27FC236}">
                <a16:creationId xmlns:a16="http://schemas.microsoft.com/office/drawing/2014/main" id="{73E1D84A-5FE6-4EBB-ADDF-F5B392CC539D}"/>
              </a:ext>
            </a:extLst>
          </p:cNvPr>
          <p:cNvSpPr>
            <a:spLocks xmlns:a="http://schemas.openxmlformats.org/drawingml/2006/main" noGrp="1"/>
          </p:cNvSpPr>
          <p:nvPr/>
        </p:nvSpPr>
        <p:spPr>
          <a:xfrm xmlns:a="http://schemas.openxmlformats.org/drawingml/2006/main">
            <a:off x="8020050" y="4886325"/>
            <a:ext cx="3429000" cy="9334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2E2E9"/>
            </a:solidFill>
          </a:ln>
        </p:spPr>
      </p:sp>
      <p:sp>
        <p:nvSpPr>
          <p:cNvPr id="27" name="">
            <a:extLst xmlns:a="http://schemas.openxmlformats.org/drawingml/2006/main">
              <a:ext uri="{FF2B5EF4-FFF2-40B4-BE49-F238E27FC236}">
                <a16:creationId xmlns:a16="http://schemas.microsoft.com/office/drawing/2014/main" id="{8238DCB2-1A56-4F72-89FB-D811D0438772}"/>
              </a:ext>
            </a:extLst>
          </p:cNvPr>
          <p:cNvSpPr>
            <a:spLocks xmlns:a="http://schemas.openxmlformats.org/drawingml/2006/main" noGrp="1"/>
          </p:cNvSpPr>
          <p:nvPr/>
        </p:nvSpPr>
        <p:spPr>
          <a:xfrm xmlns:a="http://schemas.openxmlformats.org/drawingml/2006/main">
            <a:off x="8134350" y="4981575"/>
            <a:ext cx="320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SHAP explainability</a:t>
            </a:r>
          </a:p>
        </p:txBody>
      </p:sp>
      <p:sp>
        <p:nvSpPr>
          <p:cNvPr id="28" name="">
            <a:extLst xmlns:a="http://schemas.openxmlformats.org/drawingml/2006/main">
              <a:ext uri="{FF2B5EF4-FFF2-40B4-BE49-F238E27FC236}">
                <a16:creationId xmlns:a16="http://schemas.microsoft.com/office/drawing/2014/main" id="{E2BC647D-E89E-4BAE-96F6-F51823904107}"/>
              </a:ext>
            </a:extLst>
          </p:cNvPr>
          <p:cNvSpPr>
            <a:spLocks xmlns:a="http://schemas.openxmlformats.org/drawingml/2006/main" noGrp="1"/>
          </p:cNvSpPr>
          <p:nvPr/>
        </p:nvSpPr>
        <p:spPr>
          <a:xfrm xmlns:a="http://schemas.openxmlformats.org/drawingml/2006/main">
            <a:off x="8134350" y="5343525"/>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Feature-level contributions</a:t>
            </a:r>
          </a:p>
        </p:txBody>
      </p:sp>
    </p:spTree>
    <p:extLst>
      <p:ext uri="{BB962C8B-B14F-4D97-AF65-F5344CB8AC3E}">
        <p14:creationId xmlns:p14="http://schemas.microsoft.com/office/powerpoint/2010/main" val="1372627542"/>
      </p:ext>
    </p:extLst>
  </p:cSld>
  <p:transition spd="fast">
    <p:fade/>
  </p:transition>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cxnSp>
        <p:nvCxnSpPr>
          <p:cNvPr id="55" name=""/>
          <p:cNvCxnSpPr>
            <a:stCxn xmlns:a="http://schemas.openxmlformats.org/drawingml/2006/main" id="47" idx="2"/>
            <a:endCxn xmlns:a="http://schemas.openxmlformats.org/drawingml/2006/main" id="51" idx="0"/>
          </p:cNvCxnSpPr>
          <p:nvPr/>
        </p:nvCxnSpPr>
        <p:spPr>
          <a:xfrm xmlns:a="http://schemas.openxmlformats.org/drawingml/2006/main">
            <a:off x="9763125" y="481012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56" name=""/>
          <p:cNvCxnSpPr>
            <a:stCxn xmlns:a="http://schemas.openxmlformats.org/drawingml/2006/main" id="43" idx="2"/>
            <a:endCxn xmlns:a="http://schemas.openxmlformats.org/drawingml/2006/main" id="47" idx="0"/>
          </p:cNvCxnSpPr>
          <p:nvPr/>
        </p:nvCxnSpPr>
        <p:spPr>
          <a:xfrm xmlns:a="http://schemas.openxmlformats.org/drawingml/2006/main">
            <a:off x="9763125" y="391477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57" name=""/>
          <p:cNvCxnSpPr>
            <a:stCxn xmlns:a="http://schemas.openxmlformats.org/drawingml/2006/main" id="40" idx="2"/>
            <a:endCxn xmlns:a="http://schemas.openxmlformats.org/drawingml/2006/main" id="43" idx="0"/>
          </p:cNvCxnSpPr>
          <p:nvPr/>
        </p:nvCxnSpPr>
        <p:spPr>
          <a:xfrm xmlns:a="http://schemas.openxmlformats.org/drawingml/2006/main">
            <a:off x="9763125" y="301942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58" name=""/>
          <p:cNvCxnSpPr>
            <a:stCxn xmlns:a="http://schemas.openxmlformats.org/drawingml/2006/main" id="30" idx="2"/>
            <a:endCxn xmlns:a="http://schemas.openxmlformats.org/drawingml/2006/main" id="34" idx="0"/>
          </p:cNvCxnSpPr>
          <p:nvPr/>
        </p:nvCxnSpPr>
        <p:spPr>
          <a:xfrm xmlns:a="http://schemas.openxmlformats.org/drawingml/2006/main">
            <a:off x="6048375" y="481012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59" name=""/>
          <p:cNvCxnSpPr>
            <a:stCxn xmlns:a="http://schemas.openxmlformats.org/drawingml/2006/main" id="26" idx="2"/>
            <a:endCxn xmlns:a="http://schemas.openxmlformats.org/drawingml/2006/main" id="30" idx="0"/>
          </p:cNvCxnSpPr>
          <p:nvPr/>
        </p:nvCxnSpPr>
        <p:spPr>
          <a:xfrm xmlns:a="http://schemas.openxmlformats.org/drawingml/2006/main">
            <a:off x="6048375" y="391477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60" name=""/>
          <p:cNvCxnSpPr>
            <a:stCxn xmlns:a="http://schemas.openxmlformats.org/drawingml/2006/main" id="23" idx="2"/>
            <a:endCxn xmlns:a="http://schemas.openxmlformats.org/drawingml/2006/main" id="26" idx="0"/>
          </p:cNvCxnSpPr>
          <p:nvPr/>
        </p:nvCxnSpPr>
        <p:spPr>
          <a:xfrm xmlns:a="http://schemas.openxmlformats.org/drawingml/2006/main">
            <a:off x="6048375" y="301942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61" name=""/>
          <p:cNvCxnSpPr>
            <a:stCxn xmlns:a="http://schemas.openxmlformats.org/drawingml/2006/main" id="13" idx="2"/>
            <a:endCxn xmlns:a="http://schemas.openxmlformats.org/drawingml/2006/main" id="17" idx="0"/>
          </p:cNvCxnSpPr>
          <p:nvPr/>
        </p:nvCxnSpPr>
        <p:spPr>
          <a:xfrm xmlns:a="http://schemas.openxmlformats.org/drawingml/2006/main">
            <a:off x="2333625" y="481012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62" name=""/>
          <p:cNvCxnSpPr>
            <a:stCxn xmlns:a="http://schemas.openxmlformats.org/drawingml/2006/main" id="9" idx="2"/>
            <a:endCxn xmlns:a="http://schemas.openxmlformats.org/drawingml/2006/main" id="13" idx="0"/>
          </p:cNvCxnSpPr>
          <p:nvPr/>
        </p:nvCxnSpPr>
        <p:spPr>
          <a:xfrm xmlns:a="http://schemas.openxmlformats.org/drawingml/2006/main">
            <a:off x="2333625" y="391477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63" name=""/>
          <p:cNvCxnSpPr>
            <a:stCxn xmlns:a="http://schemas.openxmlformats.org/drawingml/2006/main" id="6" idx="2"/>
            <a:endCxn xmlns:a="http://schemas.openxmlformats.org/drawingml/2006/main" id="9" idx="0"/>
          </p:cNvCxnSpPr>
          <p:nvPr/>
        </p:nvCxnSpPr>
        <p:spPr>
          <a:xfrm xmlns:a="http://schemas.openxmlformats.org/drawingml/2006/main">
            <a:off x="2333625" y="3019425"/>
            <a:ext cx="0" cy="22860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64" name="">
            <a:extLst xmlns:a="http://schemas.openxmlformats.org/drawingml/2006/main">
              <a:ext uri="{FF2B5EF4-FFF2-40B4-BE49-F238E27FC236}">
                <a16:creationId xmlns:a16="http://schemas.microsoft.com/office/drawing/2014/main" id="{9A1F6748-7FCE-4302-A876-6C2CEE36B4B4}"/>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System Workflow</a:t>
            </a:r>
          </a:p>
        </p:txBody>
      </p:sp>
      <p:sp>
        <p:nvSpPr>
          <p:cNvPr id="2" name="">
            <a:extLst xmlns:a="http://schemas.openxmlformats.org/drawingml/2006/main">
              <a:ext uri="{FF2B5EF4-FFF2-40B4-BE49-F238E27FC236}">
                <a16:creationId xmlns:a16="http://schemas.microsoft.com/office/drawing/2014/main" id="{5571B9F1-1BE6-4359-A5A8-81D654CF06FA}"/>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Twelve steps from patient login to a reviewed case</a:t>
            </a:r>
          </a:p>
        </p:txBody>
      </p:sp>
      <p:sp>
        <p:nvSpPr>
          <p:cNvPr id="3" name="">
            <a:extLst xmlns:a="http://schemas.openxmlformats.org/drawingml/2006/main">
              <a:ext uri="{FF2B5EF4-FFF2-40B4-BE49-F238E27FC236}">
                <a16:creationId xmlns:a16="http://schemas.microsoft.com/office/drawing/2014/main" id="{066E8827-ECB4-4EBF-94B7-57A1CAA31A6C}"/>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F830026F-600B-4956-8B05-24FAB7A8EA03}"/>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08</a:t>
            </a:r>
          </a:p>
        </p:txBody>
      </p:sp>
      <p:sp>
        <p:nvSpPr>
          <p:cNvPr id="5" name="">
            <a:extLst xmlns:a="http://schemas.openxmlformats.org/drawingml/2006/main">
              <a:ext uri="{FF2B5EF4-FFF2-40B4-BE49-F238E27FC236}">
                <a16:creationId xmlns:a16="http://schemas.microsoft.com/office/drawing/2014/main" id="{15C156AE-A550-4455-873F-0B5B50FB28E4}"/>
              </a:ext>
            </a:extLst>
          </p:cNvPr>
          <p:cNvSpPr>
            <a:spLocks xmlns:a="http://schemas.openxmlformats.org/drawingml/2006/main" noGrp="1"/>
          </p:cNvSpPr>
          <p:nvPr/>
        </p:nvSpPr>
        <p:spPr>
          <a:xfrm xmlns:a="http://schemas.openxmlformats.org/drawingml/2006/main">
            <a:off x="609600" y="1752600"/>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PATIENT INPUT</a:t>
            </a:r>
          </a:p>
        </p:txBody>
      </p:sp>
      <p:sp>
        <p:nvSpPr>
          <p:cNvPr id="6" name="">
            <a:extLst xmlns:a="http://schemas.openxmlformats.org/drawingml/2006/main">
              <a:ext uri="{FF2B5EF4-FFF2-40B4-BE49-F238E27FC236}">
                <a16:creationId xmlns:a16="http://schemas.microsoft.com/office/drawing/2014/main" id="{703C5B8B-264E-42E2-8080-C358B35F2F73}"/>
              </a:ext>
            </a:extLst>
          </p:cNvPr>
          <p:cNvSpPr>
            <a:spLocks xmlns:a="http://schemas.openxmlformats.org/drawingml/2006/main" noGrp="1"/>
          </p:cNvSpPr>
          <p:nvPr/>
        </p:nvSpPr>
        <p:spPr>
          <a:xfrm xmlns:a="http://schemas.openxmlformats.org/drawingml/2006/main">
            <a:off x="609600" y="235267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7" name="">
            <a:extLst xmlns:a="http://schemas.openxmlformats.org/drawingml/2006/main">
              <a:ext uri="{FF2B5EF4-FFF2-40B4-BE49-F238E27FC236}">
                <a16:creationId xmlns:a16="http://schemas.microsoft.com/office/drawing/2014/main" id="{39449D75-A3BC-4EBC-AA24-76DE4A672493}"/>
              </a:ext>
            </a:extLst>
          </p:cNvPr>
          <p:cNvSpPr>
            <a:spLocks xmlns:a="http://schemas.openxmlformats.org/drawingml/2006/main" noGrp="1"/>
          </p:cNvSpPr>
          <p:nvPr/>
        </p:nvSpPr>
        <p:spPr>
          <a:xfrm xmlns:a="http://schemas.openxmlformats.org/drawingml/2006/main">
            <a:off x="695325" y="24860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B2B693B8-71F3-4B0D-BE15-E466766E16DF}"/>
              </a:ext>
            </a:extLst>
          </p:cNvPr>
          <p:cNvSpPr>
            <a:spLocks xmlns:a="http://schemas.openxmlformats.org/drawingml/2006/main" noGrp="1"/>
          </p:cNvSpPr>
          <p:nvPr/>
        </p:nvSpPr>
        <p:spPr>
          <a:xfrm xmlns:a="http://schemas.openxmlformats.org/drawingml/2006/main">
            <a:off x="1295400" y="24765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Patient logs in</a:t>
            </a:r>
          </a:p>
        </p:txBody>
      </p:sp>
      <p:sp>
        <p:nvSpPr>
          <p:cNvPr id="9" name="">
            <a:extLst xmlns:a="http://schemas.openxmlformats.org/drawingml/2006/main">
              <a:ext uri="{FF2B5EF4-FFF2-40B4-BE49-F238E27FC236}">
                <a16:creationId xmlns:a16="http://schemas.microsoft.com/office/drawing/2014/main" id="{C3302221-A0B1-4AE6-A924-E9CB53645F31}"/>
              </a:ext>
            </a:extLst>
          </p:cNvPr>
          <p:cNvSpPr>
            <a:spLocks xmlns:a="http://schemas.openxmlformats.org/drawingml/2006/main" noGrp="1"/>
          </p:cNvSpPr>
          <p:nvPr/>
        </p:nvSpPr>
        <p:spPr>
          <a:xfrm xmlns:a="http://schemas.openxmlformats.org/drawingml/2006/main">
            <a:off x="609600" y="324802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10" name="">
            <a:extLst xmlns:a="http://schemas.openxmlformats.org/drawingml/2006/main">
              <a:ext uri="{FF2B5EF4-FFF2-40B4-BE49-F238E27FC236}">
                <a16:creationId xmlns:a16="http://schemas.microsoft.com/office/drawing/2014/main" id="{13FD5628-6A21-4B5A-A237-E278E9DD8F02}"/>
              </a:ext>
            </a:extLst>
          </p:cNvPr>
          <p:cNvSpPr>
            <a:spLocks xmlns:a="http://schemas.openxmlformats.org/drawingml/2006/main" noGrp="1"/>
          </p:cNvSpPr>
          <p:nvPr/>
        </p:nvSpPr>
        <p:spPr>
          <a:xfrm xmlns:a="http://schemas.openxmlformats.org/drawingml/2006/main">
            <a:off x="695325" y="33813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6ABE896F-0983-4817-9137-5FB756592910}"/>
              </a:ext>
            </a:extLst>
          </p:cNvPr>
          <p:cNvSpPr>
            <a:spLocks xmlns:a="http://schemas.openxmlformats.org/drawingml/2006/main" noGrp="1"/>
          </p:cNvSpPr>
          <p:nvPr/>
        </p:nvSpPr>
        <p:spPr>
          <a:xfrm xmlns:a="http://schemas.openxmlformats.org/drawingml/2006/main">
            <a:off x="1295400" y="33718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Creates / updates profile</a:t>
            </a:r>
          </a:p>
        </p:txBody>
      </p:sp>
      <p:sp>
        <p:nvSpPr>
          <p:cNvPr id="13" name="">
            <a:extLst xmlns:a="http://schemas.openxmlformats.org/drawingml/2006/main">
              <a:ext uri="{FF2B5EF4-FFF2-40B4-BE49-F238E27FC236}">
                <a16:creationId xmlns:a16="http://schemas.microsoft.com/office/drawing/2014/main" id="{0DA177E0-C361-47D0-99F7-0BC86BCA7547}"/>
              </a:ext>
            </a:extLst>
          </p:cNvPr>
          <p:cNvSpPr>
            <a:spLocks xmlns:a="http://schemas.openxmlformats.org/drawingml/2006/main" noGrp="1"/>
          </p:cNvSpPr>
          <p:nvPr/>
        </p:nvSpPr>
        <p:spPr>
          <a:xfrm xmlns:a="http://schemas.openxmlformats.org/drawingml/2006/main">
            <a:off x="609600" y="414337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14" name="">
            <a:extLst xmlns:a="http://schemas.openxmlformats.org/drawingml/2006/main">
              <a:ext uri="{FF2B5EF4-FFF2-40B4-BE49-F238E27FC236}">
                <a16:creationId xmlns:a16="http://schemas.microsoft.com/office/drawing/2014/main" id="{CA212EC6-CE2D-4588-8C6F-11434648EF73}"/>
              </a:ext>
            </a:extLst>
          </p:cNvPr>
          <p:cNvSpPr>
            <a:spLocks xmlns:a="http://schemas.openxmlformats.org/drawingml/2006/main" noGrp="1"/>
          </p:cNvSpPr>
          <p:nvPr/>
        </p:nvSpPr>
        <p:spPr>
          <a:xfrm xmlns:a="http://schemas.openxmlformats.org/drawingml/2006/main">
            <a:off x="695325" y="42767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03</a:t>
            </a:r>
          </a:p>
        </p:txBody>
      </p:sp>
      <p:sp>
        <p:nvSpPr>
          <p:cNvPr id="15" name="">
            <a:extLst xmlns:a="http://schemas.openxmlformats.org/drawingml/2006/main">
              <a:ext uri="{FF2B5EF4-FFF2-40B4-BE49-F238E27FC236}">
                <a16:creationId xmlns:a16="http://schemas.microsoft.com/office/drawing/2014/main" id="{5C5D86F2-0C91-41F2-AD51-37C70CC02E4A}"/>
              </a:ext>
            </a:extLst>
          </p:cNvPr>
          <p:cNvSpPr>
            <a:spLocks xmlns:a="http://schemas.openxmlformats.org/drawingml/2006/main" noGrp="1"/>
          </p:cNvSpPr>
          <p:nvPr/>
        </p:nvSpPr>
        <p:spPr>
          <a:xfrm xmlns:a="http://schemas.openxmlformats.org/drawingml/2006/main">
            <a:off x="1295400" y="42672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Enters symptoms</a:t>
            </a:r>
          </a:p>
        </p:txBody>
      </p:sp>
      <p:sp>
        <p:nvSpPr>
          <p:cNvPr id="17" name="">
            <a:extLst xmlns:a="http://schemas.openxmlformats.org/drawingml/2006/main">
              <a:ext uri="{FF2B5EF4-FFF2-40B4-BE49-F238E27FC236}">
                <a16:creationId xmlns:a16="http://schemas.microsoft.com/office/drawing/2014/main" id="{8AB1B010-5C64-4F33-9EC3-7F9829A350E5}"/>
              </a:ext>
            </a:extLst>
          </p:cNvPr>
          <p:cNvSpPr>
            <a:spLocks xmlns:a="http://schemas.openxmlformats.org/drawingml/2006/main" noGrp="1"/>
          </p:cNvSpPr>
          <p:nvPr/>
        </p:nvSpPr>
        <p:spPr>
          <a:xfrm xmlns:a="http://schemas.openxmlformats.org/drawingml/2006/main">
            <a:off x="609600" y="503872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18" name="">
            <a:extLst xmlns:a="http://schemas.openxmlformats.org/drawingml/2006/main">
              <a:ext uri="{FF2B5EF4-FFF2-40B4-BE49-F238E27FC236}">
                <a16:creationId xmlns:a16="http://schemas.microsoft.com/office/drawing/2014/main" id="{ACD80DBA-B367-443B-BEEC-CFA5F1B14191}"/>
              </a:ext>
            </a:extLst>
          </p:cNvPr>
          <p:cNvSpPr>
            <a:spLocks xmlns:a="http://schemas.openxmlformats.org/drawingml/2006/main" noGrp="1"/>
          </p:cNvSpPr>
          <p:nvPr/>
        </p:nvSpPr>
        <p:spPr>
          <a:xfrm xmlns:a="http://schemas.openxmlformats.org/drawingml/2006/main">
            <a:off x="695325" y="51720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04</a:t>
            </a:r>
          </a:p>
        </p:txBody>
      </p:sp>
      <p:sp>
        <p:nvSpPr>
          <p:cNvPr id="19" name="">
            <a:extLst xmlns:a="http://schemas.openxmlformats.org/drawingml/2006/main">
              <a:ext uri="{FF2B5EF4-FFF2-40B4-BE49-F238E27FC236}">
                <a16:creationId xmlns:a16="http://schemas.microsoft.com/office/drawing/2014/main" id="{6D35607E-801D-4DDB-B678-D0FB38B91B04}"/>
              </a:ext>
            </a:extLst>
          </p:cNvPr>
          <p:cNvSpPr>
            <a:spLocks xmlns:a="http://schemas.openxmlformats.org/drawingml/2006/main" noGrp="1"/>
          </p:cNvSpPr>
          <p:nvPr/>
        </p:nvSpPr>
        <p:spPr>
          <a:xfrm xmlns:a="http://schemas.openxmlformats.org/drawingml/2006/main">
            <a:off x="1295400" y="51625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Submits assessment</a:t>
            </a:r>
          </a:p>
        </p:txBody>
      </p:sp>
      <p:sp>
        <p:nvSpPr>
          <p:cNvPr id="21" name="">
            <a:extLst xmlns:a="http://schemas.openxmlformats.org/drawingml/2006/main">
              <a:ext uri="{FF2B5EF4-FFF2-40B4-BE49-F238E27FC236}">
                <a16:creationId xmlns:a16="http://schemas.microsoft.com/office/drawing/2014/main" id="{A727C642-9A40-42AA-8385-C238D20ECAE7}"/>
              </a:ext>
            </a:extLst>
          </p:cNvPr>
          <p:cNvSpPr>
            <a:spLocks xmlns:a="http://schemas.openxmlformats.org/drawingml/2006/main" noGrp="1"/>
          </p:cNvSpPr>
          <p:nvPr/>
        </p:nvSpPr>
        <p:spPr>
          <a:xfrm xmlns:a="http://schemas.openxmlformats.org/drawingml/2006/main">
            <a:off x="4095750" y="1838325"/>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F9DFCE48-70BE-452D-8236-49F571AD5298}"/>
              </a:ext>
            </a:extLst>
          </p:cNvPr>
          <p:cNvSpPr>
            <a:spLocks xmlns:a="http://schemas.openxmlformats.org/drawingml/2006/main" noGrp="1"/>
          </p:cNvSpPr>
          <p:nvPr/>
        </p:nvSpPr>
        <p:spPr>
          <a:xfrm xmlns:a="http://schemas.openxmlformats.org/drawingml/2006/main">
            <a:off x="4324350" y="1752600"/>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SYSTEM PROCESSING</a:t>
            </a:r>
          </a:p>
        </p:txBody>
      </p:sp>
      <p:sp>
        <p:nvSpPr>
          <p:cNvPr id="23" name="">
            <a:extLst xmlns:a="http://schemas.openxmlformats.org/drawingml/2006/main">
              <a:ext uri="{FF2B5EF4-FFF2-40B4-BE49-F238E27FC236}">
                <a16:creationId xmlns:a16="http://schemas.microsoft.com/office/drawing/2014/main" id="{6098A649-00F3-4785-9746-8847604CC438}"/>
              </a:ext>
            </a:extLst>
          </p:cNvPr>
          <p:cNvSpPr>
            <a:spLocks xmlns:a="http://schemas.openxmlformats.org/drawingml/2006/main" noGrp="1"/>
          </p:cNvSpPr>
          <p:nvPr/>
        </p:nvSpPr>
        <p:spPr>
          <a:xfrm xmlns:a="http://schemas.openxmlformats.org/drawingml/2006/main">
            <a:off x="4324350" y="2352675"/>
            <a:ext cx="3448050" cy="666750"/>
          </a:xfrm>
          <a:prstGeom xmlns:a="http://schemas.openxmlformats.org/drawingml/2006/main" prst="roundRect">
            <a:avLst>
              <a:gd name="adj" fmla="val 20000"/>
            </a:avLst>
          </a:prstGeom>
          <a:solidFill xmlns:a="http://schemas.openxmlformats.org/drawingml/2006/main">
            <a:srgbClr val="EAF6F6"/>
          </a:solidFill>
          <a:ln xmlns:a="http://schemas.openxmlformats.org/drawingml/2006/main" w="9525">
            <a:solidFill>
              <a:srgbClr val="D2E2E9"/>
            </a:solidFill>
          </a:ln>
        </p:spPr>
      </p:sp>
      <p:sp>
        <p:nvSpPr>
          <p:cNvPr id="24" name="">
            <a:extLst xmlns:a="http://schemas.openxmlformats.org/drawingml/2006/main">
              <a:ext uri="{FF2B5EF4-FFF2-40B4-BE49-F238E27FC236}">
                <a16:creationId xmlns:a16="http://schemas.microsoft.com/office/drawing/2014/main" id="{EAB1E4EE-4E17-4CF7-917E-5AA599B2C36C}"/>
              </a:ext>
            </a:extLst>
          </p:cNvPr>
          <p:cNvSpPr>
            <a:spLocks xmlns:a="http://schemas.openxmlformats.org/drawingml/2006/main" noGrp="1"/>
          </p:cNvSpPr>
          <p:nvPr/>
        </p:nvSpPr>
        <p:spPr>
          <a:xfrm xmlns:a="http://schemas.openxmlformats.org/drawingml/2006/main">
            <a:off x="4410075" y="24860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05</a:t>
            </a:r>
          </a:p>
        </p:txBody>
      </p:sp>
      <p:sp>
        <p:nvSpPr>
          <p:cNvPr id="25" name="">
            <a:extLst xmlns:a="http://schemas.openxmlformats.org/drawingml/2006/main">
              <a:ext uri="{FF2B5EF4-FFF2-40B4-BE49-F238E27FC236}">
                <a16:creationId xmlns:a16="http://schemas.microsoft.com/office/drawing/2014/main" id="{985A53B6-0125-45EC-B9DD-3251D605D112}"/>
              </a:ext>
            </a:extLst>
          </p:cNvPr>
          <p:cNvSpPr>
            <a:spLocks xmlns:a="http://schemas.openxmlformats.org/drawingml/2006/main" noGrp="1"/>
          </p:cNvSpPr>
          <p:nvPr/>
        </p:nvSpPr>
        <p:spPr>
          <a:xfrm xmlns:a="http://schemas.openxmlformats.org/drawingml/2006/main">
            <a:off x="5010150" y="24765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Backend validates and stores</a:t>
            </a:r>
          </a:p>
        </p:txBody>
      </p:sp>
      <p:sp>
        <p:nvSpPr>
          <p:cNvPr id="26" name="">
            <a:extLst xmlns:a="http://schemas.openxmlformats.org/drawingml/2006/main">
              <a:ext uri="{FF2B5EF4-FFF2-40B4-BE49-F238E27FC236}">
                <a16:creationId xmlns:a16="http://schemas.microsoft.com/office/drawing/2014/main" id="{75A806FB-8225-4CFD-81FF-B23B7BAA2649}"/>
              </a:ext>
            </a:extLst>
          </p:cNvPr>
          <p:cNvSpPr>
            <a:spLocks xmlns:a="http://schemas.openxmlformats.org/drawingml/2006/main" noGrp="1"/>
          </p:cNvSpPr>
          <p:nvPr/>
        </p:nvSpPr>
        <p:spPr>
          <a:xfrm xmlns:a="http://schemas.openxmlformats.org/drawingml/2006/main">
            <a:off x="4324350" y="3248025"/>
            <a:ext cx="3448050" cy="666750"/>
          </a:xfrm>
          <a:prstGeom xmlns:a="http://schemas.openxmlformats.org/drawingml/2006/main" prst="roundRect">
            <a:avLst>
              <a:gd name="adj" fmla="val 20000"/>
            </a:avLst>
          </a:prstGeom>
          <a:solidFill xmlns:a="http://schemas.openxmlformats.org/drawingml/2006/main">
            <a:srgbClr val="EAF6F6"/>
          </a:solidFill>
          <a:ln xmlns:a="http://schemas.openxmlformats.org/drawingml/2006/main" w="9525">
            <a:solidFill>
              <a:srgbClr val="D2E2E9"/>
            </a:solidFill>
          </a:ln>
        </p:spPr>
      </p:sp>
      <p:sp>
        <p:nvSpPr>
          <p:cNvPr id="27" name="">
            <a:extLst xmlns:a="http://schemas.openxmlformats.org/drawingml/2006/main">
              <a:ext uri="{FF2B5EF4-FFF2-40B4-BE49-F238E27FC236}">
                <a16:creationId xmlns:a16="http://schemas.microsoft.com/office/drawing/2014/main" id="{1F1EE4BB-AF50-43B9-BFD6-EC49595EF24E}"/>
              </a:ext>
            </a:extLst>
          </p:cNvPr>
          <p:cNvSpPr>
            <a:spLocks xmlns:a="http://schemas.openxmlformats.org/drawingml/2006/main" noGrp="1"/>
          </p:cNvSpPr>
          <p:nvPr/>
        </p:nvSpPr>
        <p:spPr>
          <a:xfrm xmlns:a="http://schemas.openxmlformats.org/drawingml/2006/main">
            <a:off x="4410075" y="33813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06</a:t>
            </a:r>
          </a:p>
        </p:txBody>
      </p:sp>
      <p:sp>
        <p:nvSpPr>
          <p:cNvPr id="28" name="">
            <a:extLst xmlns:a="http://schemas.openxmlformats.org/drawingml/2006/main">
              <a:ext uri="{FF2B5EF4-FFF2-40B4-BE49-F238E27FC236}">
                <a16:creationId xmlns:a16="http://schemas.microsoft.com/office/drawing/2014/main" id="{65F0243F-F68B-46FE-ADA3-D545459F763F}"/>
              </a:ext>
            </a:extLst>
          </p:cNvPr>
          <p:cNvSpPr>
            <a:spLocks xmlns:a="http://schemas.openxmlformats.org/drawingml/2006/main" noGrp="1"/>
          </p:cNvSpPr>
          <p:nvPr/>
        </p:nvSpPr>
        <p:spPr>
          <a:xfrm xmlns:a="http://schemas.openxmlformats.org/drawingml/2006/main">
            <a:off x="5010150" y="33718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ML analyzes structured features</a:t>
            </a:r>
          </a:p>
        </p:txBody>
      </p:sp>
      <p:sp>
        <p:nvSpPr>
          <p:cNvPr id="30" name="">
            <a:extLst xmlns:a="http://schemas.openxmlformats.org/drawingml/2006/main">
              <a:ext uri="{FF2B5EF4-FFF2-40B4-BE49-F238E27FC236}">
                <a16:creationId xmlns:a16="http://schemas.microsoft.com/office/drawing/2014/main" id="{CE0040BF-EF3A-4E30-A294-5A4FFE7681BB}"/>
              </a:ext>
            </a:extLst>
          </p:cNvPr>
          <p:cNvSpPr>
            <a:spLocks xmlns:a="http://schemas.openxmlformats.org/drawingml/2006/main" noGrp="1"/>
          </p:cNvSpPr>
          <p:nvPr/>
        </p:nvSpPr>
        <p:spPr>
          <a:xfrm xmlns:a="http://schemas.openxmlformats.org/drawingml/2006/main">
            <a:off x="4324350" y="4143375"/>
            <a:ext cx="3448050" cy="666750"/>
          </a:xfrm>
          <a:prstGeom xmlns:a="http://schemas.openxmlformats.org/drawingml/2006/main" prst="roundRect">
            <a:avLst>
              <a:gd name="adj" fmla="val 20000"/>
            </a:avLst>
          </a:prstGeom>
          <a:solidFill xmlns:a="http://schemas.openxmlformats.org/drawingml/2006/main">
            <a:srgbClr val="EAF6F6"/>
          </a:solidFill>
          <a:ln xmlns:a="http://schemas.openxmlformats.org/drawingml/2006/main" w="9525">
            <a:solidFill>
              <a:srgbClr val="D2E2E9"/>
            </a:solidFill>
          </a:ln>
        </p:spPr>
      </p:sp>
      <p:sp>
        <p:nvSpPr>
          <p:cNvPr id="31" name="">
            <a:extLst xmlns:a="http://schemas.openxmlformats.org/drawingml/2006/main">
              <a:ext uri="{FF2B5EF4-FFF2-40B4-BE49-F238E27FC236}">
                <a16:creationId xmlns:a16="http://schemas.microsoft.com/office/drawing/2014/main" id="{591E5BAB-5C50-4EBF-949E-1E7C937456CC}"/>
              </a:ext>
            </a:extLst>
          </p:cNvPr>
          <p:cNvSpPr>
            <a:spLocks xmlns:a="http://schemas.openxmlformats.org/drawingml/2006/main" noGrp="1"/>
          </p:cNvSpPr>
          <p:nvPr/>
        </p:nvSpPr>
        <p:spPr>
          <a:xfrm xmlns:a="http://schemas.openxmlformats.org/drawingml/2006/main">
            <a:off x="4410075" y="42767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07</a:t>
            </a:r>
          </a:p>
        </p:txBody>
      </p:sp>
      <p:sp>
        <p:nvSpPr>
          <p:cNvPr id="32" name="">
            <a:extLst xmlns:a="http://schemas.openxmlformats.org/drawingml/2006/main">
              <a:ext uri="{FF2B5EF4-FFF2-40B4-BE49-F238E27FC236}">
                <a16:creationId xmlns:a16="http://schemas.microsoft.com/office/drawing/2014/main" id="{349FA8FC-FC77-457E-B3A9-7E2D260461F9}"/>
              </a:ext>
            </a:extLst>
          </p:cNvPr>
          <p:cNvSpPr>
            <a:spLocks xmlns:a="http://schemas.openxmlformats.org/drawingml/2006/main" noGrp="1"/>
          </p:cNvSpPr>
          <p:nvPr/>
        </p:nvSpPr>
        <p:spPr>
          <a:xfrm xmlns:a="http://schemas.openxmlformats.org/drawingml/2006/main">
            <a:off x="5010150" y="42672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Urgency category is generated</a:t>
            </a:r>
          </a:p>
        </p:txBody>
      </p:sp>
      <p:sp>
        <p:nvSpPr>
          <p:cNvPr id="34" name="">
            <a:extLst xmlns:a="http://schemas.openxmlformats.org/drawingml/2006/main">
              <a:ext uri="{FF2B5EF4-FFF2-40B4-BE49-F238E27FC236}">
                <a16:creationId xmlns:a16="http://schemas.microsoft.com/office/drawing/2014/main" id="{14ED467B-0F06-457B-B437-429FFD0D41F6}"/>
              </a:ext>
            </a:extLst>
          </p:cNvPr>
          <p:cNvSpPr>
            <a:spLocks xmlns:a="http://schemas.openxmlformats.org/drawingml/2006/main" noGrp="1"/>
          </p:cNvSpPr>
          <p:nvPr/>
        </p:nvSpPr>
        <p:spPr>
          <a:xfrm xmlns:a="http://schemas.openxmlformats.org/drawingml/2006/main">
            <a:off x="4324350" y="5038725"/>
            <a:ext cx="3448050" cy="666750"/>
          </a:xfrm>
          <a:prstGeom xmlns:a="http://schemas.openxmlformats.org/drawingml/2006/main" prst="roundRect">
            <a:avLst>
              <a:gd name="adj" fmla="val 20000"/>
            </a:avLst>
          </a:prstGeom>
          <a:solidFill xmlns:a="http://schemas.openxmlformats.org/drawingml/2006/main">
            <a:srgbClr val="EAF6F6"/>
          </a:solidFill>
          <a:ln xmlns:a="http://schemas.openxmlformats.org/drawingml/2006/main" w="9525">
            <a:solidFill>
              <a:srgbClr val="D2E2E9"/>
            </a:solidFill>
          </a:ln>
        </p:spPr>
      </p:sp>
      <p:sp>
        <p:nvSpPr>
          <p:cNvPr id="35" name="">
            <a:extLst xmlns:a="http://schemas.openxmlformats.org/drawingml/2006/main">
              <a:ext uri="{FF2B5EF4-FFF2-40B4-BE49-F238E27FC236}">
                <a16:creationId xmlns:a16="http://schemas.microsoft.com/office/drawing/2014/main" id="{6044E43F-8282-400C-AAC4-8540A1AED8A6}"/>
              </a:ext>
            </a:extLst>
          </p:cNvPr>
          <p:cNvSpPr>
            <a:spLocks xmlns:a="http://schemas.openxmlformats.org/drawingml/2006/main" noGrp="1"/>
          </p:cNvSpPr>
          <p:nvPr/>
        </p:nvSpPr>
        <p:spPr>
          <a:xfrm xmlns:a="http://schemas.openxmlformats.org/drawingml/2006/main">
            <a:off x="4410075" y="51720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08</a:t>
            </a:r>
          </a:p>
        </p:txBody>
      </p:sp>
      <p:sp>
        <p:nvSpPr>
          <p:cNvPr id="36" name="">
            <a:extLst xmlns:a="http://schemas.openxmlformats.org/drawingml/2006/main">
              <a:ext uri="{FF2B5EF4-FFF2-40B4-BE49-F238E27FC236}">
                <a16:creationId xmlns:a16="http://schemas.microsoft.com/office/drawing/2014/main" id="{94668179-640D-4E82-A8E0-3146FAEB82DC}"/>
              </a:ext>
            </a:extLst>
          </p:cNvPr>
          <p:cNvSpPr>
            <a:spLocks xmlns:a="http://schemas.openxmlformats.org/drawingml/2006/main" noGrp="1"/>
          </p:cNvSpPr>
          <p:nvPr/>
        </p:nvSpPr>
        <p:spPr>
          <a:xfrm xmlns:a="http://schemas.openxmlformats.org/drawingml/2006/main">
            <a:off x="5010150" y="51625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Prediction is saved separately</a:t>
            </a:r>
          </a:p>
        </p:txBody>
      </p:sp>
      <p:sp>
        <p:nvSpPr>
          <p:cNvPr id="38" name="">
            <a:extLst xmlns:a="http://schemas.openxmlformats.org/drawingml/2006/main">
              <a:ext uri="{FF2B5EF4-FFF2-40B4-BE49-F238E27FC236}">
                <a16:creationId xmlns:a16="http://schemas.microsoft.com/office/drawing/2014/main" id="{340F7B48-C2AB-460C-B929-09C297625E71}"/>
              </a:ext>
            </a:extLst>
          </p:cNvPr>
          <p:cNvSpPr>
            <a:spLocks xmlns:a="http://schemas.openxmlformats.org/drawingml/2006/main" noGrp="1"/>
          </p:cNvSpPr>
          <p:nvPr/>
        </p:nvSpPr>
        <p:spPr>
          <a:xfrm xmlns:a="http://schemas.openxmlformats.org/drawingml/2006/main">
            <a:off x="7810500" y="1838325"/>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F8C"/>
                </a:solidFill>
                <a:latin typeface="DejaVu Sans"/>
                <a:ea typeface="DejaVu Sans"/>
                <a:cs typeface="DejaVu Sans"/>
              </a:defRPr>
            </a:pPr>
            <a:r>
              <a:rPr sz="2100" b="0">
                <a:solidFill>
                  <a:srgbClr val="087F8C"/>
                </a:solidFill>
                <a:latin typeface="DejaVu Sans"/>
                <a:ea typeface="DejaVu Sans"/>
                <a:cs typeface="DejaVu Sans"/>
              </a:rPr>
              <a:t>→</a:t>
            </a:r>
          </a:p>
        </p:txBody>
      </p:sp>
      <p:sp>
        <p:nvSpPr>
          <p:cNvPr id="39" name="">
            <a:extLst xmlns:a="http://schemas.openxmlformats.org/drawingml/2006/main">
              <a:ext uri="{FF2B5EF4-FFF2-40B4-BE49-F238E27FC236}">
                <a16:creationId xmlns:a16="http://schemas.microsoft.com/office/drawing/2014/main" id="{B39E7CAA-ED45-48A0-AE52-CEAED6756E36}"/>
              </a:ext>
            </a:extLst>
          </p:cNvPr>
          <p:cNvSpPr>
            <a:spLocks xmlns:a="http://schemas.openxmlformats.org/drawingml/2006/main" noGrp="1"/>
          </p:cNvSpPr>
          <p:nvPr/>
        </p:nvSpPr>
        <p:spPr>
          <a:xfrm xmlns:a="http://schemas.openxmlformats.org/drawingml/2006/main">
            <a:off x="8039100" y="1752600"/>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DOCTOR &amp; FOLLOW-UP</a:t>
            </a:r>
          </a:p>
        </p:txBody>
      </p:sp>
      <p:sp>
        <p:nvSpPr>
          <p:cNvPr id="40" name="">
            <a:extLst xmlns:a="http://schemas.openxmlformats.org/drawingml/2006/main">
              <a:ext uri="{FF2B5EF4-FFF2-40B4-BE49-F238E27FC236}">
                <a16:creationId xmlns:a16="http://schemas.microsoft.com/office/drawing/2014/main" id="{BA92424F-D34A-473D-B401-D3132C591CAE}"/>
              </a:ext>
            </a:extLst>
          </p:cNvPr>
          <p:cNvSpPr>
            <a:spLocks xmlns:a="http://schemas.openxmlformats.org/drawingml/2006/main" noGrp="1"/>
          </p:cNvSpPr>
          <p:nvPr/>
        </p:nvSpPr>
        <p:spPr>
          <a:xfrm xmlns:a="http://schemas.openxmlformats.org/drawingml/2006/main">
            <a:off x="8039100" y="235267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41" name="">
            <a:extLst xmlns:a="http://schemas.openxmlformats.org/drawingml/2006/main">
              <a:ext uri="{FF2B5EF4-FFF2-40B4-BE49-F238E27FC236}">
                <a16:creationId xmlns:a16="http://schemas.microsoft.com/office/drawing/2014/main" id="{4B59BD1B-6EB0-48DF-BBDF-246CF59ED7D3}"/>
              </a:ext>
            </a:extLst>
          </p:cNvPr>
          <p:cNvSpPr>
            <a:spLocks xmlns:a="http://schemas.openxmlformats.org/drawingml/2006/main" noGrp="1"/>
          </p:cNvSpPr>
          <p:nvPr/>
        </p:nvSpPr>
        <p:spPr>
          <a:xfrm xmlns:a="http://schemas.openxmlformats.org/drawingml/2006/main">
            <a:off x="8124825" y="24860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09</a:t>
            </a:r>
          </a:p>
        </p:txBody>
      </p:sp>
      <p:sp>
        <p:nvSpPr>
          <p:cNvPr id="42" name="">
            <a:extLst xmlns:a="http://schemas.openxmlformats.org/drawingml/2006/main">
              <a:ext uri="{FF2B5EF4-FFF2-40B4-BE49-F238E27FC236}">
                <a16:creationId xmlns:a16="http://schemas.microsoft.com/office/drawing/2014/main" id="{E0D58ABD-C6EE-4574-9998-B362CE3E2D26}"/>
              </a:ext>
            </a:extLst>
          </p:cNvPr>
          <p:cNvSpPr>
            <a:spLocks xmlns:a="http://schemas.openxmlformats.org/drawingml/2006/main" noGrp="1"/>
          </p:cNvSpPr>
          <p:nvPr/>
        </p:nvSpPr>
        <p:spPr>
          <a:xfrm xmlns:a="http://schemas.openxmlformats.org/drawingml/2006/main">
            <a:off x="8724900" y="24765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Doctor reviews data and reports</a:t>
            </a:r>
          </a:p>
        </p:txBody>
      </p:sp>
      <p:sp>
        <p:nvSpPr>
          <p:cNvPr id="43" name="">
            <a:extLst xmlns:a="http://schemas.openxmlformats.org/drawingml/2006/main">
              <a:ext uri="{FF2B5EF4-FFF2-40B4-BE49-F238E27FC236}">
                <a16:creationId xmlns:a16="http://schemas.microsoft.com/office/drawing/2014/main" id="{476FD773-A2A5-4BD7-9752-17FE277A04FF}"/>
              </a:ext>
            </a:extLst>
          </p:cNvPr>
          <p:cNvSpPr>
            <a:spLocks xmlns:a="http://schemas.openxmlformats.org/drawingml/2006/main" noGrp="1"/>
          </p:cNvSpPr>
          <p:nvPr/>
        </p:nvSpPr>
        <p:spPr>
          <a:xfrm xmlns:a="http://schemas.openxmlformats.org/drawingml/2006/main">
            <a:off x="8039100" y="324802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44" name="">
            <a:extLst xmlns:a="http://schemas.openxmlformats.org/drawingml/2006/main">
              <a:ext uri="{FF2B5EF4-FFF2-40B4-BE49-F238E27FC236}">
                <a16:creationId xmlns:a16="http://schemas.microsoft.com/office/drawing/2014/main" id="{23896741-CFC7-4E5B-A45D-E295922B2216}"/>
              </a:ext>
            </a:extLst>
          </p:cNvPr>
          <p:cNvSpPr>
            <a:spLocks xmlns:a="http://schemas.openxmlformats.org/drawingml/2006/main" noGrp="1"/>
          </p:cNvSpPr>
          <p:nvPr/>
        </p:nvSpPr>
        <p:spPr>
          <a:xfrm xmlns:a="http://schemas.openxmlformats.org/drawingml/2006/main">
            <a:off x="8124825" y="33813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10</a:t>
            </a:r>
          </a:p>
        </p:txBody>
      </p:sp>
      <p:sp>
        <p:nvSpPr>
          <p:cNvPr id="45" name="">
            <a:extLst xmlns:a="http://schemas.openxmlformats.org/drawingml/2006/main">
              <a:ext uri="{FF2B5EF4-FFF2-40B4-BE49-F238E27FC236}">
                <a16:creationId xmlns:a16="http://schemas.microsoft.com/office/drawing/2014/main" id="{DC53E059-031D-49BF-8888-4C671882BD9F}"/>
              </a:ext>
            </a:extLst>
          </p:cNvPr>
          <p:cNvSpPr>
            <a:spLocks xmlns:a="http://schemas.openxmlformats.org/drawingml/2006/main" noGrp="1"/>
          </p:cNvSpPr>
          <p:nvPr/>
        </p:nvSpPr>
        <p:spPr>
          <a:xfrm xmlns:a="http://schemas.openxmlformats.org/drawingml/2006/main">
            <a:off x="8724900" y="33718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Doctor records own assessment</a:t>
            </a:r>
          </a:p>
        </p:txBody>
      </p:sp>
      <p:sp>
        <p:nvSpPr>
          <p:cNvPr id="47" name="">
            <a:extLst xmlns:a="http://schemas.openxmlformats.org/drawingml/2006/main">
              <a:ext uri="{FF2B5EF4-FFF2-40B4-BE49-F238E27FC236}">
                <a16:creationId xmlns:a16="http://schemas.microsoft.com/office/drawing/2014/main" id="{DE743A29-7E46-4A47-AAE0-6FC4D7C7ABE4}"/>
              </a:ext>
            </a:extLst>
          </p:cNvPr>
          <p:cNvSpPr>
            <a:spLocks xmlns:a="http://schemas.openxmlformats.org/drawingml/2006/main" noGrp="1"/>
          </p:cNvSpPr>
          <p:nvPr/>
        </p:nvSpPr>
        <p:spPr>
          <a:xfrm xmlns:a="http://schemas.openxmlformats.org/drawingml/2006/main">
            <a:off x="8039100" y="414337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48" name="">
            <a:extLst xmlns:a="http://schemas.openxmlformats.org/drawingml/2006/main">
              <a:ext uri="{FF2B5EF4-FFF2-40B4-BE49-F238E27FC236}">
                <a16:creationId xmlns:a16="http://schemas.microsoft.com/office/drawing/2014/main" id="{2139F9E8-151A-4DCF-A527-9062A5DCF219}"/>
              </a:ext>
            </a:extLst>
          </p:cNvPr>
          <p:cNvSpPr>
            <a:spLocks xmlns:a="http://schemas.openxmlformats.org/drawingml/2006/main" noGrp="1"/>
          </p:cNvSpPr>
          <p:nvPr/>
        </p:nvSpPr>
        <p:spPr>
          <a:xfrm xmlns:a="http://schemas.openxmlformats.org/drawingml/2006/main">
            <a:off x="8124825" y="42767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11</a:t>
            </a:r>
          </a:p>
        </p:txBody>
      </p:sp>
      <p:sp>
        <p:nvSpPr>
          <p:cNvPr id="49" name="">
            <a:extLst xmlns:a="http://schemas.openxmlformats.org/drawingml/2006/main">
              <a:ext uri="{FF2B5EF4-FFF2-40B4-BE49-F238E27FC236}">
                <a16:creationId xmlns:a16="http://schemas.microsoft.com/office/drawing/2014/main" id="{3ADFA82A-808B-409E-BB76-44426F32F3AA}"/>
              </a:ext>
            </a:extLst>
          </p:cNvPr>
          <p:cNvSpPr>
            <a:spLocks xmlns:a="http://schemas.openxmlformats.org/drawingml/2006/main" noGrp="1"/>
          </p:cNvSpPr>
          <p:nvPr/>
        </p:nvSpPr>
        <p:spPr>
          <a:xfrm xmlns:a="http://schemas.openxmlformats.org/drawingml/2006/main">
            <a:off x="8724900" y="42672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Case status is updated</a:t>
            </a:r>
          </a:p>
        </p:txBody>
      </p:sp>
      <p:sp>
        <p:nvSpPr>
          <p:cNvPr id="51" name="">
            <a:extLst xmlns:a="http://schemas.openxmlformats.org/drawingml/2006/main">
              <a:ext uri="{FF2B5EF4-FFF2-40B4-BE49-F238E27FC236}">
                <a16:creationId xmlns:a16="http://schemas.microsoft.com/office/drawing/2014/main" id="{76AF3163-320B-4DDD-830D-E5F4EBEF9DD4}"/>
              </a:ext>
            </a:extLst>
          </p:cNvPr>
          <p:cNvSpPr>
            <a:spLocks xmlns:a="http://schemas.openxmlformats.org/drawingml/2006/main" noGrp="1"/>
          </p:cNvSpPr>
          <p:nvPr/>
        </p:nvSpPr>
        <p:spPr>
          <a:xfrm xmlns:a="http://schemas.openxmlformats.org/drawingml/2006/main">
            <a:off x="8039100" y="5038725"/>
            <a:ext cx="34480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2E2E9"/>
            </a:solidFill>
          </a:ln>
        </p:spPr>
      </p:sp>
      <p:sp>
        <p:nvSpPr>
          <p:cNvPr id="52" name="">
            <a:extLst xmlns:a="http://schemas.openxmlformats.org/drawingml/2006/main">
              <a:ext uri="{FF2B5EF4-FFF2-40B4-BE49-F238E27FC236}">
                <a16:creationId xmlns:a16="http://schemas.microsoft.com/office/drawing/2014/main" id="{3E1D7214-86B5-4839-AB77-FEBB586F1E03}"/>
              </a:ext>
            </a:extLst>
          </p:cNvPr>
          <p:cNvSpPr>
            <a:spLocks xmlns:a="http://schemas.openxmlformats.org/drawingml/2006/main" noGrp="1"/>
          </p:cNvSpPr>
          <p:nvPr/>
        </p:nvSpPr>
        <p:spPr>
          <a:xfrm xmlns:a="http://schemas.openxmlformats.org/drawingml/2006/main">
            <a:off x="8124825" y="51720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12</a:t>
            </a:r>
          </a:p>
        </p:txBody>
      </p:sp>
      <p:sp>
        <p:nvSpPr>
          <p:cNvPr id="53" name="">
            <a:extLst xmlns:a="http://schemas.openxmlformats.org/drawingml/2006/main">
              <a:ext uri="{FF2B5EF4-FFF2-40B4-BE49-F238E27FC236}">
                <a16:creationId xmlns:a16="http://schemas.microsoft.com/office/drawing/2014/main" id="{C1D10CBE-633D-42E9-A866-A19C8884F8BC}"/>
              </a:ext>
            </a:extLst>
          </p:cNvPr>
          <p:cNvSpPr>
            <a:spLocks xmlns:a="http://schemas.openxmlformats.org/drawingml/2006/main" noGrp="1"/>
          </p:cNvSpPr>
          <p:nvPr/>
        </p:nvSpPr>
        <p:spPr>
          <a:xfrm xmlns:a="http://schemas.openxmlformats.org/drawingml/2006/main">
            <a:off x="8724900" y="51625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44A"/>
                </a:solidFill>
                <a:latin typeface="DejaVu Sans"/>
                <a:ea typeface="DejaVu Sans"/>
                <a:cs typeface="DejaVu Sans"/>
              </a:defRPr>
            </a:pPr>
            <a:r>
              <a:rPr sz="1500" b="0">
                <a:solidFill>
                  <a:srgbClr val="15344A"/>
                </a:solidFill>
                <a:latin typeface="DejaVu Sans"/>
                <a:ea typeface="DejaVu Sans"/>
                <a:cs typeface="DejaVu Sans"/>
              </a:rPr>
              <a:t>Patient views status / appointments</a:t>
            </a:r>
          </a:p>
        </p:txBody>
      </p:sp>
    </p:spTree>
    <p:extLst>
      <p:ext uri="{BB962C8B-B14F-4D97-AF65-F5344CB8AC3E}">
        <p14:creationId xmlns:p14="http://schemas.microsoft.com/office/powerpoint/2010/main" val="1452435015"/>
      </p:ext>
    </p:extLst>
  </p:cSld>
  <p:transition spd="fast">
    <p:fade/>
  </p:transition>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cxnSp>
        <p:nvCxnSpPr>
          <p:cNvPr id="32" name=""/>
          <p:cNvCxnSpPr>
            <a:stCxn xmlns:a="http://schemas.openxmlformats.org/drawingml/2006/main" id="8" idx="3"/>
            <a:endCxn xmlns:a="http://schemas.openxmlformats.org/drawingml/2006/main" id="12" idx="1"/>
          </p:cNvCxnSpPr>
          <p:nvPr/>
        </p:nvCxnSpPr>
        <p:spPr>
          <a:xfrm xmlns:a="http://schemas.openxmlformats.org/drawingml/2006/main">
            <a:off x="7991475" y="2314575"/>
            <a:ext cx="30480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3" name=""/>
          <p:cNvCxnSpPr>
            <a:stCxn xmlns:a="http://schemas.openxmlformats.org/drawingml/2006/main" id="5" idx="3"/>
            <a:endCxn xmlns:a="http://schemas.openxmlformats.org/drawingml/2006/main" id="8" idx="1"/>
          </p:cNvCxnSpPr>
          <p:nvPr/>
        </p:nvCxnSpPr>
        <p:spPr>
          <a:xfrm xmlns:a="http://schemas.openxmlformats.org/drawingml/2006/main">
            <a:off x="4143375" y="2314575"/>
            <a:ext cx="304800" cy="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34" name="">
            <a:extLst xmlns:a="http://schemas.openxmlformats.org/drawingml/2006/main">
              <a:ext uri="{FF2B5EF4-FFF2-40B4-BE49-F238E27FC236}">
                <a16:creationId xmlns:a16="http://schemas.microsoft.com/office/drawing/2014/main" id="{2535A1CB-D8EE-4AAF-8253-DA6970F8C4BA}"/>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Machine Learning Component</a:t>
            </a:r>
          </a:p>
        </p:txBody>
      </p:sp>
      <p:sp>
        <p:nvSpPr>
          <p:cNvPr id="2" name="">
            <a:extLst xmlns:a="http://schemas.openxmlformats.org/drawingml/2006/main">
              <a:ext uri="{FF2B5EF4-FFF2-40B4-BE49-F238E27FC236}">
                <a16:creationId xmlns:a16="http://schemas.microsoft.com/office/drawing/2014/main" id="{4D4BFE31-2FF3-443A-8D0C-7977907A86DD}"/>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Planned methodology • No dataset or trained-model results have been reported</a:t>
            </a:r>
          </a:p>
        </p:txBody>
      </p:sp>
      <p:sp>
        <p:nvSpPr>
          <p:cNvPr id="3" name="">
            <a:extLst xmlns:a="http://schemas.openxmlformats.org/drawingml/2006/main">
              <a:ext uri="{FF2B5EF4-FFF2-40B4-BE49-F238E27FC236}">
                <a16:creationId xmlns:a16="http://schemas.microsoft.com/office/drawing/2014/main" id="{96400338-3EEC-4763-91F5-C63AA6A1D24E}"/>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AD7803B1-9BFD-4708-A625-5FCA54E99E1A}"/>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09</a:t>
            </a:r>
          </a:p>
        </p:txBody>
      </p:sp>
      <p:sp>
        <p:nvSpPr>
          <p:cNvPr id="5" name="">
            <a:extLst xmlns:a="http://schemas.openxmlformats.org/drawingml/2006/main">
              <a:ext uri="{FF2B5EF4-FFF2-40B4-BE49-F238E27FC236}">
                <a16:creationId xmlns:a16="http://schemas.microsoft.com/office/drawing/2014/main" id="{41AF501D-B9D9-438B-AAC1-B152B975251C}"/>
              </a:ext>
            </a:extLst>
          </p:cNvPr>
          <p:cNvSpPr>
            <a:spLocks xmlns:a="http://schemas.openxmlformats.org/drawingml/2006/main" noGrp="1"/>
          </p:cNvSpPr>
          <p:nvPr/>
        </p:nvSpPr>
        <p:spPr>
          <a:xfrm xmlns:a="http://schemas.openxmlformats.org/drawingml/2006/main">
            <a:off x="600075" y="1790700"/>
            <a:ext cx="35433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D2E2E9"/>
            </a:solidFill>
          </a:ln>
        </p:spPr>
      </p:sp>
      <p:sp>
        <p:nvSpPr>
          <p:cNvPr id="6" name="">
            <a:extLst xmlns:a="http://schemas.openxmlformats.org/drawingml/2006/main">
              <a:ext uri="{FF2B5EF4-FFF2-40B4-BE49-F238E27FC236}">
                <a16:creationId xmlns:a16="http://schemas.microsoft.com/office/drawing/2014/main" id="{8D09EC69-6AE4-4376-9303-69126D6EE720}"/>
              </a:ext>
            </a:extLst>
          </p:cNvPr>
          <p:cNvSpPr>
            <a:spLocks xmlns:a="http://schemas.openxmlformats.org/drawingml/2006/main" noGrp="1"/>
          </p:cNvSpPr>
          <p:nvPr/>
        </p:nvSpPr>
        <p:spPr>
          <a:xfrm xmlns:a="http://schemas.openxmlformats.org/drawingml/2006/main">
            <a:off x="714375" y="188595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Structured data</a:t>
            </a:r>
          </a:p>
        </p:txBody>
      </p:sp>
      <p:sp>
        <p:nvSpPr>
          <p:cNvPr id="7" name="">
            <a:extLst xmlns:a="http://schemas.openxmlformats.org/drawingml/2006/main">
              <a:ext uri="{FF2B5EF4-FFF2-40B4-BE49-F238E27FC236}">
                <a16:creationId xmlns:a16="http://schemas.microsoft.com/office/drawing/2014/main" id="{2422459D-DDC5-4EE2-A207-1C24B3A99B30}"/>
              </a:ext>
            </a:extLst>
          </p:cNvPr>
          <p:cNvSpPr>
            <a:spLocks xmlns:a="http://schemas.openxmlformats.org/drawingml/2006/main" noGrp="1"/>
          </p:cNvSpPr>
          <p:nvPr/>
        </p:nvSpPr>
        <p:spPr>
          <a:xfrm xmlns:a="http://schemas.openxmlformats.org/drawingml/2006/main">
            <a:off x="714375" y="22479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Symptoms, duration, severity</a:t>
            </a:r>
          </a:p>
        </p:txBody>
      </p:sp>
      <p:sp>
        <p:nvSpPr>
          <p:cNvPr id="8" name="">
            <a:extLst xmlns:a="http://schemas.openxmlformats.org/drawingml/2006/main">
              <a:ext uri="{FF2B5EF4-FFF2-40B4-BE49-F238E27FC236}">
                <a16:creationId xmlns:a16="http://schemas.microsoft.com/office/drawing/2014/main" id="{A2AD6358-6729-4DE5-9699-29C2A3FDAE19}"/>
              </a:ext>
            </a:extLst>
          </p:cNvPr>
          <p:cNvSpPr>
            <a:spLocks xmlns:a="http://schemas.openxmlformats.org/drawingml/2006/main" noGrp="1"/>
          </p:cNvSpPr>
          <p:nvPr/>
        </p:nvSpPr>
        <p:spPr>
          <a:xfrm xmlns:a="http://schemas.openxmlformats.org/drawingml/2006/main">
            <a:off x="4448175" y="1790700"/>
            <a:ext cx="35433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D2E2E9"/>
            </a:solidFill>
          </a:ln>
        </p:spPr>
      </p:sp>
      <p:sp>
        <p:nvSpPr>
          <p:cNvPr id="9" name="">
            <a:extLst xmlns:a="http://schemas.openxmlformats.org/drawingml/2006/main">
              <a:ext uri="{FF2B5EF4-FFF2-40B4-BE49-F238E27FC236}">
                <a16:creationId xmlns:a16="http://schemas.microsoft.com/office/drawing/2014/main" id="{1C4EB14B-A483-4D87-B2B1-29FF029B95B4}"/>
              </a:ext>
            </a:extLst>
          </p:cNvPr>
          <p:cNvSpPr>
            <a:spLocks xmlns:a="http://schemas.openxmlformats.org/drawingml/2006/main" noGrp="1"/>
          </p:cNvSpPr>
          <p:nvPr/>
        </p:nvSpPr>
        <p:spPr>
          <a:xfrm xmlns:a="http://schemas.openxmlformats.org/drawingml/2006/main">
            <a:off x="4562475" y="188595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Preprocessing</a:t>
            </a:r>
          </a:p>
        </p:txBody>
      </p:sp>
      <p:sp>
        <p:nvSpPr>
          <p:cNvPr id="10" name="">
            <a:extLst xmlns:a="http://schemas.openxmlformats.org/drawingml/2006/main">
              <a:ext uri="{FF2B5EF4-FFF2-40B4-BE49-F238E27FC236}">
                <a16:creationId xmlns:a16="http://schemas.microsoft.com/office/drawing/2014/main" id="{FECC0E60-037C-42D6-A69C-46E4726B21F9}"/>
              </a:ext>
            </a:extLst>
          </p:cNvPr>
          <p:cNvSpPr>
            <a:spLocks xmlns:a="http://schemas.openxmlformats.org/drawingml/2006/main" noGrp="1"/>
          </p:cNvSpPr>
          <p:nvPr/>
        </p:nvSpPr>
        <p:spPr>
          <a:xfrm xmlns:a="http://schemas.openxmlformats.org/drawingml/2006/main">
            <a:off x="4562475" y="22479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Missing data, encoding, scaling</a:t>
            </a:r>
          </a:p>
        </p:txBody>
      </p:sp>
      <p:sp>
        <p:nvSpPr>
          <p:cNvPr id="12" name="">
            <a:extLst xmlns:a="http://schemas.openxmlformats.org/drawingml/2006/main">
              <a:ext uri="{FF2B5EF4-FFF2-40B4-BE49-F238E27FC236}">
                <a16:creationId xmlns:a16="http://schemas.microsoft.com/office/drawing/2014/main" id="{D5FD7A72-892C-4D2B-8DA1-58888B9F684F}"/>
              </a:ext>
            </a:extLst>
          </p:cNvPr>
          <p:cNvSpPr>
            <a:spLocks xmlns:a="http://schemas.openxmlformats.org/drawingml/2006/main" noGrp="1"/>
          </p:cNvSpPr>
          <p:nvPr/>
        </p:nvSpPr>
        <p:spPr>
          <a:xfrm xmlns:a="http://schemas.openxmlformats.org/drawingml/2006/main">
            <a:off x="8296275" y="1790700"/>
            <a:ext cx="35433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D2E2E9"/>
            </a:solidFill>
          </a:ln>
        </p:spPr>
      </p:sp>
      <p:sp>
        <p:nvSpPr>
          <p:cNvPr id="13" name="">
            <a:extLst xmlns:a="http://schemas.openxmlformats.org/drawingml/2006/main">
              <a:ext uri="{FF2B5EF4-FFF2-40B4-BE49-F238E27FC236}">
                <a16:creationId xmlns:a16="http://schemas.microsoft.com/office/drawing/2014/main" id="{4A11523C-F082-4904-BC71-67DC846613B0}"/>
              </a:ext>
            </a:extLst>
          </p:cNvPr>
          <p:cNvSpPr>
            <a:spLocks xmlns:a="http://schemas.openxmlformats.org/drawingml/2006/main" noGrp="1"/>
          </p:cNvSpPr>
          <p:nvPr/>
        </p:nvSpPr>
        <p:spPr>
          <a:xfrm xmlns:a="http://schemas.openxmlformats.org/drawingml/2006/main">
            <a:off x="8410575" y="188595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Model comparison</a:t>
            </a:r>
          </a:p>
        </p:txBody>
      </p:sp>
      <p:sp>
        <p:nvSpPr>
          <p:cNvPr id="14" name="">
            <a:extLst xmlns:a="http://schemas.openxmlformats.org/drawingml/2006/main">
              <a:ext uri="{FF2B5EF4-FFF2-40B4-BE49-F238E27FC236}">
                <a16:creationId xmlns:a16="http://schemas.microsoft.com/office/drawing/2014/main" id="{A0954F2D-B01D-49F9-B409-5C594F692AEA}"/>
              </a:ext>
            </a:extLst>
          </p:cNvPr>
          <p:cNvSpPr>
            <a:spLocks xmlns:a="http://schemas.openxmlformats.org/drawingml/2006/main" noGrp="1"/>
          </p:cNvSpPr>
          <p:nvPr/>
        </p:nvSpPr>
        <p:spPr>
          <a:xfrm xmlns:a="http://schemas.openxmlformats.org/drawingml/2006/main">
            <a:off x="8410575" y="22479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Train / test split and evaluation</a:t>
            </a:r>
          </a:p>
        </p:txBody>
      </p:sp>
      <p:sp>
        <p:nvSpPr>
          <p:cNvPr id="16" name="">
            <a:extLst xmlns:a="http://schemas.openxmlformats.org/drawingml/2006/main">
              <a:ext uri="{FF2B5EF4-FFF2-40B4-BE49-F238E27FC236}">
                <a16:creationId xmlns:a16="http://schemas.microsoft.com/office/drawing/2014/main" id="{C3A3BBA1-282B-4A5F-959A-38A8E9ACBC41}"/>
              </a:ext>
            </a:extLst>
          </p:cNvPr>
          <p:cNvSpPr>
            <a:spLocks xmlns:a="http://schemas.openxmlformats.org/drawingml/2006/main" noGrp="1"/>
          </p:cNvSpPr>
          <p:nvPr/>
        </p:nvSpPr>
        <p:spPr>
          <a:xfrm xmlns:a="http://schemas.openxmlformats.org/drawingml/2006/main">
            <a:off x="609600" y="32099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CANDIDATE CLASSIFIERS</a:t>
            </a:r>
          </a:p>
        </p:txBody>
      </p:sp>
      <p:sp>
        <p:nvSpPr>
          <p:cNvPr id="17" name="">
            <a:extLst xmlns:a="http://schemas.openxmlformats.org/drawingml/2006/main">
              <a:ext uri="{FF2B5EF4-FFF2-40B4-BE49-F238E27FC236}">
                <a16:creationId xmlns:a16="http://schemas.microsoft.com/office/drawing/2014/main" id="{B08F1D72-80D8-43BE-A4D0-DBCA77F8D6A5}"/>
              </a:ext>
            </a:extLst>
          </p:cNvPr>
          <p:cNvSpPr>
            <a:spLocks xmlns:a="http://schemas.openxmlformats.org/drawingml/2006/main" noGrp="1"/>
          </p:cNvSpPr>
          <p:nvPr/>
        </p:nvSpPr>
        <p:spPr>
          <a:xfrm xmlns:a="http://schemas.openxmlformats.org/drawingml/2006/main">
            <a:off x="609600" y="3667125"/>
            <a:ext cx="2638425" cy="952500"/>
          </a:xfrm>
          <a:prstGeom xmlns:a="http://schemas.openxmlformats.org/drawingml/2006/main" prst="roundRect">
            <a:avLst>
              <a:gd name="adj" fmla="val 14000"/>
            </a:avLst>
          </a:prstGeom>
          <a:solidFill xmlns:a="http://schemas.openxmlformats.org/drawingml/2006/main">
            <a:srgbClr val="FFFFFF"/>
          </a:solidFill>
          <a:ln xmlns:a="http://schemas.openxmlformats.org/drawingml/2006/main" w="9525">
            <a:solidFill>
              <a:srgbClr val="D2E2E9"/>
            </a:solidFill>
          </a:ln>
        </p:spPr>
      </p:sp>
      <p:sp>
        <p:nvSpPr>
          <p:cNvPr id="18" name="">
            <a:extLst xmlns:a="http://schemas.openxmlformats.org/drawingml/2006/main">
              <a:ext uri="{FF2B5EF4-FFF2-40B4-BE49-F238E27FC236}">
                <a16:creationId xmlns:a16="http://schemas.microsoft.com/office/drawing/2014/main" id="{E28251FB-C3A8-4170-BB39-357CF91835C2}"/>
              </a:ext>
            </a:extLst>
          </p:cNvPr>
          <p:cNvSpPr>
            <a:spLocks xmlns:a="http://schemas.openxmlformats.org/drawingml/2006/main" noGrp="1"/>
          </p:cNvSpPr>
          <p:nvPr/>
        </p:nvSpPr>
        <p:spPr>
          <a:xfrm xmlns:a="http://schemas.openxmlformats.org/drawingml/2006/main">
            <a:off x="723900" y="3762375"/>
            <a:ext cx="2409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Logistic Regression</a:t>
            </a:r>
          </a:p>
        </p:txBody>
      </p:sp>
      <p:sp>
        <p:nvSpPr>
          <p:cNvPr id="19" name="">
            <a:extLst xmlns:a="http://schemas.openxmlformats.org/drawingml/2006/main">
              <a:ext uri="{FF2B5EF4-FFF2-40B4-BE49-F238E27FC236}">
                <a16:creationId xmlns:a16="http://schemas.microsoft.com/office/drawing/2014/main" id="{E33C4988-108D-4448-9424-B7D1F2CD6873}"/>
              </a:ext>
            </a:extLst>
          </p:cNvPr>
          <p:cNvSpPr>
            <a:spLocks xmlns:a="http://schemas.openxmlformats.org/drawingml/2006/main" noGrp="1"/>
          </p:cNvSpPr>
          <p:nvPr/>
        </p:nvSpPr>
        <p:spPr>
          <a:xfrm xmlns:a="http://schemas.openxmlformats.org/drawingml/2006/main">
            <a:off x="3467100" y="3667125"/>
            <a:ext cx="2638425" cy="952500"/>
          </a:xfrm>
          <a:prstGeom xmlns:a="http://schemas.openxmlformats.org/drawingml/2006/main" prst="roundRect">
            <a:avLst>
              <a:gd name="adj" fmla="val 14000"/>
            </a:avLst>
          </a:prstGeom>
          <a:solidFill xmlns:a="http://schemas.openxmlformats.org/drawingml/2006/main">
            <a:srgbClr val="FFFFFF"/>
          </a:solidFill>
          <a:ln xmlns:a="http://schemas.openxmlformats.org/drawingml/2006/main" w="9525">
            <a:solidFill>
              <a:srgbClr val="D2E2E9"/>
            </a:solidFill>
          </a:ln>
        </p:spPr>
      </p:sp>
      <p:sp>
        <p:nvSpPr>
          <p:cNvPr id="20" name="">
            <a:extLst xmlns:a="http://schemas.openxmlformats.org/drawingml/2006/main">
              <a:ext uri="{FF2B5EF4-FFF2-40B4-BE49-F238E27FC236}">
                <a16:creationId xmlns:a16="http://schemas.microsoft.com/office/drawing/2014/main" id="{ACB5FB6D-D2C1-4F83-AEF5-DA1AB2836451}"/>
              </a:ext>
            </a:extLst>
          </p:cNvPr>
          <p:cNvSpPr>
            <a:spLocks xmlns:a="http://schemas.openxmlformats.org/drawingml/2006/main" noGrp="1"/>
          </p:cNvSpPr>
          <p:nvPr/>
        </p:nvSpPr>
        <p:spPr>
          <a:xfrm xmlns:a="http://schemas.openxmlformats.org/drawingml/2006/main">
            <a:off x="3581400" y="3762375"/>
            <a:ext cx="2409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Decision Tree</a:t>
            </a:r>
          </a:p>
        </p:txBody>
      </p:sp>
      <p:sp>
        <p:nvSpPr>
          <p:cNvPr id="21" name="">
            <a:extLst xmlns:a="http://schemas.openxmlformats.org/drawingml/2006/main">
              <a:ext uri="{FF2B5EF4-FFF2-40B4-BE49-F238E27FC236}">
                <a16:creationId xmlns:a16="http://schemas.microsoft.com/office/drawing/2014/main" id="{24163B0C-D4BC-447E-924D-F440CF2B3DBD}"/>
              </a:ext>
            </a:extLst>
          </p:cNvPr>
          <p:cNvSpPr>
            <a:spLocks xmlns:a="http://schemas.openxmlformats.org/drawingml/2006/main" noGrp="1"/>
          </p:cNvSpPr>
          <p:nvPr/>
        </p:nvSpPr>
        <p:spPr>
          <a:xfrm xmlns:a="http://schemas.openxmlformats.org/drawingml/2006/main">
            <a:off x="6324600" y="3667125"/>
            <a:ext cx="2638425" cy="952500"/>
          </a:xfrm>
          <a:prstGeom xmlns:a="http://schemas.openxmlformats.org/drawingml/2006/main" prst="roundRect">
            <a:avLst>
              <a:gd name="adj" fmla="val 14000"/>
            </a:avLst>
          </a:prstGeom>
          <a:solidFill xmlns:a="http://schemas.openxmlformats.org/drawingml/2006/main">
            <a:srgbClr val="FFFFFF"/>
          </a:solidFill>
          <a:ln xmlns:a="http://schemas.openxmlformats.org/drawingml/2006/main" w="9525">
            <a:solidFill>
              <a:srgbClr val="D2E2E9"/>
            </a:solidFill>
          </a:ln>
        </p:spPr>
      </p:sp>
      <p:sp>
        <p:nvSpPr>
          <p:cNvPr id="22" name="">
            <a:extLst xmlns:a="http://schemas.openxmlformats.org/drawingml/2006/main">
              <a:ext uri="{FF2B5EF4-FFF2-40B4-BE49-F238E27FC236}">
                <a16:creationId xmlns:a16="http://schemas.microsoft.com/office/drawing/2014/main" id="{08693261-B17D-4C5E-BD80-FF789A3823AE}"/>
              </a:ext>
            </a:extLst>
          </p:cNvPr>
          <p:cNvSpPr>
            <a:spLocks xmlns:a="http://schemas.openxmlformats.org/drawingml/2006/main" noGrp="1"/>
          </p:cNvSpPr>
          <p:nvPr/>
        </p:nvSpPr>
        <p:spPr>
          <a:xfrm xmlns:a="http://schemas.openxmlformats.org/drawingml/2006/main">
            <a:off x="6438900" y="3762375"/>
            <a:ext cx="2409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Random Forest</a:t>
            </a:r>
          </a:p>
        </p:txBody>
      </p:sp>
      <p:sp>
        <p:nvSpPr>
          <p:cNvPr id="23" name="">
            <a:extLst xmlns:a="http://schemas.openxmlformats.org/drawingml/2006/main">
              <a:ext uri="{FF2B5EF4-FFF2-40B4-BE49-F238E27FC236}">
                <a16:creationId xmlns:a16="http://schemas.microsoft.com/office/drawing/2014/main" id="{3AD9DE88-718D-490F-A6A4-2F3B22955F05}"/>
              </a:ext>
            </a:extLst>
          </p:cNvPr>
          <p:cNvSpPr>
            <a:spLocks xmlns:a="http://schemas.openxmlformats.org/drawingml/2006/main" noGrp="1"/>
          </p:cNvSpPr>
          <p:nvPr/>
        </p:nvSpPr>
        <p:spPr>
          <a:xfrm xmlns:a="http://schemas.openxmlformats.org/drawingml/2006/main">
            <a:off x="9182100" y="3667125"/>
            <a:ext cx="2638425" cy="952500"/>
          </a:xfrm>
          <a:prstGeom xmlns:a="http://schemas.openxmlformats.org/drawingml/2006/main" prst="roundRect">
            <a:avLst>
              <a:gd name="adj" fmla="val 14000"/>
            </a:avLst>
          </a:prstGeom>
          <a:solidFill xmlns:a="http://schemas.openxmlformats.org/drawingml/2006/main">
            <a:srgbClr val="FFFFFF"/>
          </a:solidFill>
          <a:ln xmlns:a="http://schemas.openxmlformats.org/drawingml/2006/main" w="9525">
            <a:solidFill>
              <a:srgbClr val="D2E2E9"/>
            </a:solidFill>
          </a:ln>
        </p:spPr>
      </p:sp>
      <p:sp>
        <p:nvSpPr>
          <p:cNvPr id="24" name="">
            <a:extLst xmlns:a="http://schemas.openxmlformats.org/drawingml/2006/main">
              <a:ext uri="{FF2B5EF4-FFF2-40B4-BE49-F238E27FC236}">
                <a16:creationId xmlns:a16="http://schemas.microsoft.com/office/drawing/2014/main" id="{B62F1E90-FF61-417A-B1D6-1A0B9D056055}"/>
              </a:ext>
            </a:extLst>
          </p:cNvPr>
          <p:cNvSpPr>
            <a:spLocks xmlns:a="http://schemas.openxmlformats.org/drawingml/2006/main" noGrp="1"/>
          </p:cNvSpPr>
          <p:nvPr/>
        </p:nvSpPr>
        <p:spPr>
          <a:xfrm xmlns:a="http://schemas.openxmlformats.org/drawingml/2006/main">
            <a:off x="9296400" y="3762375"/>
            <a:ext cx="2409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Gradient Boosting</a:t>
            </a:r>
          </a:p>
        </p:txBody>
      </p:sp>
      <p:sp>
        <p:nvSpPr>
          <p:cNvPr id="25" name="">
            <a:extLst xmlns:a="http://schemas.openxmlformats.org/drawingml/2006/main">
              <a:ext uri="{FF2B5EF4-FFF2-40B4-BE49-F238E27FC236}">
                <a16:creationId xmlns:a16="http://schemas.microsoft.com/office/drawing/2014/main" id="{7497C24F-1D8C-4DE4-A2D2-29E377DB3CC5}"/>
              </a:ext>
            </a:extLst>
          </p:cNvPr>
          <p:cNvSpPr>
            <a:spLocks xmlns:a="http://schemas.openxmlformats.org/drawingml/2006/main" noGrp="1"/>
          </p:cNvSpPr>
          <p:nvPr/>
        </p:nvSpPr>
        <p:spPr>
          <a:xfrm xmlns:a="http://schemas.openxmlformats.org/drawingml/2006/main">
            <a:off x="609600" y="5133975"/>
            <a:ext cx="290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OUTPUT VIA FASTAPI</a:t>
            </a:r>
          </a:p>
        </p:txBody>
      </p:sp>
      <p:sp>
        <p:nvSpPr>
          <p:cNvPr id="26" name="">
            <a:extLst xmlns:a="http://schemas.openxmlformats.org/drawingml/2006/main">
              <a:ext uri="{FF2B5EF4-FFF2-40B4-BE49-F238E27FC236}">
                <a16:creationId xmlns:a16="http://schemas.microsoft.com/office/drawing/2014/main" id="{B48D131A-D87B-4901-A12D-8333C2716F66}"/>
              </a:ext>
            </a:extLst>
          </p:cNvPr>
          <p:cNvSpPr>
            <a:spLocks xmlns:a="http://schemas.openxmlformats.org/drawingml/2006/main" noGrp="1"/>
          </p:cNvSpPr>
          <p:nvPr/>
        </p:nvSpPr>
        <p:spPr>
          <a:xfrm xmlns:a="http://schemas.openxmlformats.org/drawingml/2006/main">
            <a:off x="3238500" y="5019675"/>
            <a:ext cx="2571750" cy="847725"/>
          </a:xfrm>
          <a:prstGeom xmlns:a="http://schemas.openxmlformats.org/drawingml/2006/main" prst="roundRect">
            <a:avLst>
              <a:gd name="adj" fmla="val 15730"/>
            </a:avLst>
          </a:prstGeom>
          <a:solidFill xmlns:a="http://schemas.openxmlformats.org/drawingml/2006/main">
            <a:srgbClr val="EAF6F6"/>
          </a:solidFill>
          <a:ln xmlns:a="http://schemas.openxmlformats.org/drawingml/2006/main" w="9525">
            <a:solidFill>
              <a:srgbClr val="D2E2E9"/>
            </a:solidFill>
          </a:ln>
        </p:spPr>
      </p:sp>
      <p:sp>
        <p:nvSpPr>
          <p:cNvPr id="27" name="">
            <a:extLst xmlns:a="http://schemas.openxmlformats.org/drawingml/2006/main">
              <a:ext uri="{FF2B5EF4-FFF2-40B4-BE49-F238E27FC236}">
                <a16:creationId xmlns:a16="http://schemas.microsoft.com/office/drawing/2014/main" id="{640F5579-CBBC-4BE6-8272-16F25E37AD49}"/>
              </a:ext>
            </a:extLst>
          </p:cNvPr>
          <p:cNvSpPr>
            <a:spLocks xmlns:a="http://schemas.openxmlformats.org/drawingml/2006/main" noGrp="1"/>
          </p:cNvSpPr>
          <p:nvPr/>
        </p:nvSpPr>
        <p:spPr>
          <a:xfrm xmlns:a="http://schemas.openxmlformats.org/drawingml/2006/main">
            <a:off x="3381375" y="524827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5344A"/>
                </a:solidFill>
                <a:latin typeface="DejaVu Sans"/>
                <a:ea typeface="DejaVu Sans"/>
                <a:cs typeface="DejaVu Sans"/>
              </a:defRPr>
            </a:pPr>
            <a:r>
              <a:rPr sz="1650" b="1">
                <a:solidFill>
                  <a:srgbClr val="15344A"/>
                </a:solidFill>
                <a:latin typeface="DejaVu Sans"/>
                <a:ea typeface="DejaVu Sans"/>
                <a:cs typeface="DejaVu Sans"/>
              </a:rPr>
              <a:t>Routine</a:t>
            </a:r>
          </a:p>
        </p:txBody>
      </p:sp>
      <p:sp>
        <p:nvSpPr>
          <p:cNvPr id="28" name="">
            <a:extLst xmlns:a="http://schemas.openxmlformats.org/drawingml/2006/main">
              <a:ext uri="{FF2B5EF4-FFF2-40B4-BE49-F238E27FC236}">
                <a16:creationId xmlns:a16="http://schemas.microsoft.com/office/drawing/2014/main" id="{385DB69D-EB18-42F4-9850-35376392CD95}"/>
              </a:ext>
            </a:extLst>
          </p:cNvPr>
          <p:cNvSpPr>
            <a:spLocks xmlns:a="http://schemas.openxmlformats.org/drawingml/2006/main" noGrp="1"/>
          </p:cNvSpPr>
          <p:nvPr/>
        </p:nvSpPr>
        <p:spPr>
          <a:xfrm xmlns:a="http://schemas.openxmlformats.org/drawingml/2006/main">
            <a:off x="5991225" y="5019675"/>
            <a:ext cx="2571750" cy="847725"/>
          </a:xfrm>
          <a:prstGeom xmlns:a="http://schemas.openxmlformats.org/drawingml/2006/main" prst="roundRect">
            <a:avLst>
              <a:gd name="adj" fmla="val 15730"/>
            </a:avLst>
          </a:prstGeom>
          <a:solidFill xmlns:a="http://schemas.openxmlformats.org/drawingml/2006/main">
            <a:srgbClr val="FFFFFF"/>
          </a:solidFill>
          <a:ln xmlns:a="http://schemas.openxmlformats.org/drawingml/2006/main" w="9525">
            <a:solidFill>
              <a:srgbClr val="D2E2E9"/>
            </a:solidFill>
          </a:ln>
        </p:spPr>
      </p:sp>
      <p:sp>
        <p:nvSpPr>
          <p:cNvPr id="29" name="">
            <a:extLst xmlns:a="http://schemas.openxmlformats.org/drawingml/2006/main">
              <a:ext uri="{FF2B5EF4-FFF2-40B4-BE49-F238E27FC236}">
                <a16:creationId xmlns:a16="http://schemas.microsoft.com/office/drawing/2014/main" id="{1ACC5457-BDEB-444C-A5CF-CE6F4B68018F}"/>
              </a:ext>
            </a:extLst>
          </p:cNvPr>
          <p:cNvSpPr>
            <a:spLocks xmlns:a="http://schemas.openxmlformats.org/drawingml/2006/main" noGrp="1"/>
          </p:cNvSpPr>
          <p:nvPr/>
        </p:nvSpPr>
        <p:spPr>
          <a:xfrm xmlns:a="http://schemas.openxmlformats.org/drawingml/2006/main">
            <a:off x="6134100" y="524827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5344A"/>
                </a:solidFill>
                <a:latin typeface="DejaVu Sans"/>
                <a:ea typeface="DejaVu Sans"/>
                <a:cs typeface="DejaVu Sans"/>
              </a:defRPr>
            </a:pPr>
            <a:r>
              <a:rPr sz="1650" b="1">
                <a:solidFill>
                  <a:srgbClr val="15344A"/>
                </a:solidFill>
                <a:latin typeface="DejaVu Sans"/>
                <a:ea typeface="DejaVu Sans"/>
                <a:cs typeface="DejaVu Sans"/>
              </a:rPr>
              <a:t>Needs Medical Review</a:t>
            </a:r>
          </a:p>
        </p:txBody>
      </p:sp>
      <p:sp>
        <p:nvSpPr>
          <p:cNvPr id="30" name="">
            <a:extLst xmlns:a="http://schemas.openxmlformats.org/drawingml/2006/main">
              <a:ext uri="{FF2B5EF4-FFF2-40B4-BE49-F238E27FC236}">
                <a16:creationId xmlns:a16="http://schemas.microsoft.com/office/drawing/2014/main" id="{8890FD4E-3576-465E-BEE8-26D666224ED2}"/>
              </a:ext>
            </a:extLst>
          </p:cNvPr>
          <p:cNvSpPr>
            <a:spLocks xmlns:a="http://schemas.openxmlformats.org/drawingml/2006/main" noGrp="1"/>
          </p:cNvSpPr>
          <p:nvPr/>
        </p:nvSpPr>
        <p:spPr>
          <a:xfrm xmlns:a="http://schemas.openxmlformats.org/drawingml/2006/main">
            <a:off x="8743950" y="5019675"/>
            <a:ext cx="2571750" cy="847725"/>
          </a:xfrm>
          <a:prstGeom xmlns:a="http://schemas.openxmlformats.org/drawingml/2006/main" prst="roundRect">
            <a:avLst>
              <a:gd name="adj" fmla="val 15730"/>
            </a:avLst>
          </a:prstGeom>
          <a:solidFill xmlns:a="http://schemas.openxmlformats.org/drawingml/2006/main">
            <a:srgbClr val="FFFFFF"/>
          </a:solidFill>
          <a:ln xmlns:a="http://schemas.openxmlformats.org/drawingml/2006/main" w="9525">
            <a:solidFill>
              <a:srgbClr val="D2E2E9"/>
            </a:solidFill>
          </a:ln>
        </p:spPr>
      </p:sp>
      <p:sp>
        <p:nvSpPr>
          <p:cNvPr id="31" name="">
            <a:extLst xmlns:a="http://schemas.openxmlformats.org/drawingml/2006/main">
              <a:ext uri="{FF2B5EF4-FFF2-40B4-BE49-F238E27FC236}">
                <a16:creationId xmlns:a16="http://schemas.microsoft.com/office/drawing/2014/main" id="{8FBF64AC-07A4-4A26-AB62-B8E0AB7E01F9}"/>
              </a:ext>
            </a:extLst>
          </p:cNvPr>
          <p:cNvSpPr>
            <a:spLocks xmlns:a="http://schemas.openxmlformats.org/drawingml/2006/main" noGrp="1"/>
          </p:cNvSpPr>
          <p:nvPr/>
        </p:nvSpPr>
        <p:spPr>
          <a:xfrm xmlns:a="http://schemas.openxmlformats.org/drawingml/2006/main">
            <a:off x="8886825" y="524827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5344A"/>
                </a:solidFill>
                <a:latin typeface="DejaVu Sans"/>
                <a:ea typeface="DejaVu Sans"/>
                <a:cs typeface="DejaVu Sans"/>
              </a:defRPr>
            </a:pPr>
            <a:r>
              <a:rPr sz="1650" b="1">
                <a:solidFill>
                  <a:srgbClr val="15344A"/>
                </a:solidFill>
                <a:latin typeface="DejaVu Sans"/>
                <a:ea typeface="DejaVu Sans"/>
                <a:cs typeface="DejaVu Sans"/>
              </a:rPr>
              <a:t>Urgent Review</a:t>
            </a:r>
          </a:p>
        </p:txBody>
      </p:sp>
    </p:spTree>
    <p:extLst>
      <p:ext uri="{BB962C8B-B14F-4D97-AF65-F5344CB8AC3E}">
        <p14:creationId xmlns:p14="http://schemas.microsoft.com/office/powerpoint/2010/main" val="1837171924"/>
      </p:ext>
    </p:extLst>
  </p:cSld>
  <p:transition spd="fast">
    <p:fade/>
  </p:transition>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cxnSp>
        <p:nvCxnSpPr>
          <p:cNvPr id="32" name=""/>
          <p:cNvCxnSpPr>
            <a:stCxn xmlns:a="http://schemas.openxmlformats.org/drawingml/2006/main" id="16" idx="3"/>
            <a:endCxn xmlns:a="http://schemas.openxmlformats.org/drawingml/2006/main" id="20" idx="1"/>
          </p:cNvCxnSpPr>
          <p:nvPr/>
        </p:nvCxnSpPr>
        <p:spPr>
          <a:xfrm xmlns:a="http://schemas.openxmlformats.org/drawingml/2006/main">
            <a:off x="9677400" y="3024188"/>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3" name=""/>
          <p:cNvCxnSpPr>
            <a:stCxn xmlns:a="http://schemas.openxmlformats.org/drawingml/2006/main" id="12" idx="3"/>
            <a:endCxn xmlns:a="http://schemas.openxmlformats.org/drawingml/2006/main" id="16" idx="1"/>
          </p:cNvCxnSpPr>
          <p:nvPr/>
        </p:nvCxnSpPr>
        <p:spPr>
          <a:xfrm xmlns:a="http://schemas.openxmlformats.org/drawingml/2006/main">
            <a:off x="7334250" y="3024188"/>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4" name=""/>
          <p:cNvCxnSpPr>
            <a:stCxn xmlns:a="http://schemas.openxmlformats.org/drawingml/2006/main" id="8" idx="3"/>
            <a:endCxn xmlns:a="http://schemas.openxmlformats.org/drawingml/2006/main" id="12" idx="1"/>
          </p:cNvCxnSpPr>
          <p:nvPr/>
        </p:nvCxnSpPr>
        <p:spPr>
          <a:xfrm xmlns:a="http://schemas.openxmlformats.org/drawingml/2006/main">
            <a:off x="4991100" y="3024188"/>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2647950" y="3024188"/>
            <a:ext cx="266700" cy="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36" name="">
            <a:extLst xmlns:a="http://schemas.openxmlformats.org/drawingml/2006/main">
              <a:ext uri="{FF2B5EF4-FFF2-40B4-BE49-F238E27FC236}">
                <a16:creationId xmlns:a16="http://schemas.microsoft.com/office/drawing/2014/main" id="{68911426-4990-4966-9B6C-0BED81442394}"/>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Explainable AI</a:t>
            </a:r>
          </a:p>
        </p:txBody>
      </p:sp>
      <p:sp>
        <p:nvSpPr>
          <p:cNvPr id="2" name="">
            <a:extLst xmlns:a="http://schemas.openxmlformats.org/drawingml/2006/main">
              <a:ext uri="{FF2B5EF4-FFF2-40B4-BE49-F238E27FC236}">
                <a16:creationId xmlns:a16="http://schemas.microsoft.com/office/drawing/2014/main" id="{0697E0B4-2FD7-45CA-AF39-7B98F11FDF18}"/>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SHAP indicates which input features contributed to a model prediction</a:t>
            </a:r>
          </a:p>
        </p:txBody>
      </p:sp>
      <p:sp>
        <p:nvSpPr>
          <p:cNvPr id="3" name="">
            <a:extLst xmlns:a="http://schemas.openxmlformats.org/drawingml/2006/main">
              <a:ext uri="{FF2B5EF4-FFF2-40B4-BE49-F238E27FC236}">
                <a16:creationId xmlns:a16="http://schemas.microsoft.com/office/drawing/2014/main" id="{1707A3E0-7535-4931-B313-707DF47F295D}"/>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FCC3D973-6B3F-42EA-A9F8-6A27B291D33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10</a:t>
            </a:r>
          </a:p>
        </p:txBody>
      </p:sp>
      <p:sp>
        <p:nvSpPr>
          <p:cNvPr id="5" name="">
            <a:extLst xmlns:a="http://schemas.openxmlformats.org/drawingml/2006/main">
              <a:ext uri="{FF2B5EF4-FFF2-40B4-BE49-F238E27FC236}">
                <a16:creationId xmlns:a16="http://schemas.microsoft.com/office/drawing/2014/main" id="{E2CCFF30-6E34-467D-B67D-138E35DCB37A}"/>
              </a:ext>
            </a:extLst>
          </p:cNvPr>
          <p:cNvSpPr>
            <a:spLocks xmlns:a="http://schemas.openxmlformats.org/drawingml/2006/main" noGrp="1"/>
          </p:cNvSpPr>
          <p:nvPr/>
        </p:nvSpPr>
        <p:spPr>
          <a:xfrm xmlns:a="http://schemas.openxmlformats.org/drawingml/2006/main">
            <a:off x="571500" y="2286000"/>
            <a:ext cx="2076450" cy="1476375"/>
          </a:xfrm>
          <a:prstGeom xmlns:a="http://schemas.openxmlformats.org/drawingml/2006/main" prst="roundRect">
            <a:avLst>
              <a:gd name="adj" fmla="val 9032"/>
            </a:avLst>
          </a:prstGeom>
          <a:solidFill xmlns:a="http://schemas.openxmlformats.org/drawingml/2006/main">
            <a:srgbClr val="FFFFFF"/>
          </a:solidFill>
          <a:ln xmlns:a="http://schemas.openxmlformats.org/drawingml/2006/main" w="9525">
            <a:solidFill>
              <a:srgbClr val="D2E2E9"/>
            </a:solidFill>
          </a:ln>
        </p:spPr>
      </p:sp>
      <p:sp>
        <p:nvSpPr>
          <p:cNvPr id="6" name="">
            <a:extLst xmlns:a="http://schemas.openxmlformats.org/drawingml/2006/main">
              <a:ext uri="{FF2B5EF4-FFF2-40B4-BE49-F238E27FC236}">
                <a16:creationId xmlns:a16="http://schemas.microsoft.com/office/drawing/2014/main" id="{6B473370-168A-4C42-BBD2-2F10BF6F9A9A}"/>
              </a:ext>
            </a:extLst>
          </p:cNvPr>
          <p:cNvSpPr>
            <a:spLocks xmlns:a="http://schemas.openxmlformats.org/drawingml/2006/main" noGrp="1"/>
          </p:cNvSpPr>
          <p:nvPr/>
        </p:nvSpPr>
        <p:spPr>
          <a:xfrm xmlns:a="http://schemas.openxmlformats.org/drawingml/2006/main">
            <a:off x="685800" y="2381250"/>
            <a:ext cx="1847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Patient features</a:t>
            </a:r>
          </a:p>
        </p:txBody>
      </p:sp>
      <p:sp>
        <p:nvSpPr>
          <p:cNvPr id="7" name="">
            <a:extLst xmlns:a="http://schemas.openxmlformats.org/drawingml/2006/main">
              <a:ext uri="{FF2B5EF4-FFF2-40B4-BE49-F238E27FC236}">
                <a16:creationId xmlns:a16="http://schemas.microsoft.com/office/drawing/2014/main" id="{9CDA6A68-5FAF-47BF-A22D-560F715675AE}"/>
              </a:ext>
            </a:extLst>
          </p:cNvPr>
          <p:cNvSpPr>
            <a:spLocks xmlns:a="http://schemas.openxmlformats.org/drawingml/2006/main" noGrp="1"/>
          </p:cNvSpPr>
          <p:nvPr/>
        </p:nvSpPr>
        <p:spPr>
          <a:xfrm xmlns:a="http://schemas.openxmlformats.org/drawingml/2006/main">
            <a:off x="685800" y="2971800"/>
            <a:ext cx="1847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Structured inputs</a:t>
            </a:r>
          </a:p>
        </p:txBody>
      </p:sp>
      <p:sp>
        <p:nvSpPr>
          <p:cNvPr id="8" name="">
            <a:extLst xmlns:a="http://schemas.openxmlformats.org/drawingml/2006/main">
              <a:ext uri="{FF2B5EF4-FFF2-40B4-BE49-F238E27FC236}">
                <a16:creationId xmlns:a16="http://schemas.microsoft.com/office/drawing/2014/main" id="{84C32011-3E02-4265-9B69-1DB4FC7BF14C}"/>
              </a:ext>
            </a:extLst>
          </p:cNvPr>
          <p:cNvSpPr>
            <a:spLocks xmlns:a="http://schemas.openxmlformats.org/drawingml/2006/main" noGrp="1"/>
          </p:cNvSpPr>
          <p:nvPr/>
        </p:nvSpPr>
        <p:spPr>
          <a:xfrm xmlns:a="http://schemas.openxmlformats.org/drawingml/2006/main">
            <a:off x="2914650" y="2286000"/>
            <a:ext cx="2076450" cy="1476375"/>
          </a:xfrm>
          <a:prstGeom xmlns:a="http://schemas.openxmlformats.org/drawingml/2006/main" prst="roundRect">
            <a:avLst>
              <a:gd name="adj" fmla="val 9032"/>
            </a:avLst>
          </a:prstGeom>
          <a:solidFill xmlns:a="http://schemas.openxmlformats.org/drawingml/2006/main">
            <a:srgbClr val="FFFFFF"/>
          </a:solidFill>
          <a:ln xmlns:a="http://schemas.openxmlformats.org/drawingml/2006/main" w="9525">
            <a:solidFill>
              <a:srgbClr val="D2E2E9"/>
            </a:solidFill>
          </a:ln>
        </p:spPr>
      </p:sp>
      <p:sp>
        <p:nvSpPr>
          <p:cNvPr id="9" name="">
            <a:extLst xmlns:a="http://schemas.openxmlformats.org/drawingml/2006/main">
              <a:ext uri="{FF2B5EF4-FFF2-40B4-BE49-F238E27FC236}">
                <a16:creationId xmlns:a16="http://schemas.microsoft.com/office/drawing/2014/main" id="{41CA4027-B8AF-4498-99E4-3E7530DDB82A}"/>
              </a:ext>
            </a:extLst>
          </p:cNvPr>
          <p:cNvSpPr>
            <a:spLocks xmlns:a="http://schemas.openxmlformats.org/drawingml/2006/main" noGrp="1"/>
          </p:cNvSpPr>
          <p:nvPr/>
        </p:nvSpPr>
        <p:spPr>
          <a:xfrm xmlns:a="http://schemas.openxmlformats.org/drawingml/2006/main">
            <a:off x="3028950" y="23812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ML model</a:t>
            </a:r>
          </a:p>
        </p:txBody>
      </p:sp>
      <p:sp>
        <p:nvSpPr>
          <p:cNvPr id="10" name="">
            <a:extLst xmlns:a="http://schemas.openxmlformats.org/drawingml/2006/main">
              <a:ext uri="{FF2B5EF4-FFF2-40B4-BE49-F238E27FC236}">
                <a16:creationId xmlns:a16="http://schemas.microsoft.com/office/drawing/2014/main" id="{0FC5A8A3-9F07-4BF9-AC35-FBDEBA46CCEC}"/>
              </a:ext>
            </a:extLst>
          </p:cNvPr>
          <p:cNvSpPr>
            <a:spLocks xmlns:a="http://schemas.openxmlformats.org/drawingml/2006/main" noGrp="1"/>
          </p:cNvSpPr>
          <p:nvPr/>
        </p:nvSpPr>
        <p:spPr>
          <a:xfrm xmlns:a="http://schemas.openxmlformats.org/drawingml/2006/main">
            <a:off x="3028950" y="2743200"/>
            <a:ext cx="18478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Classifier</a:t>
            </a:r>
          </a:p>
        </p:txBody>
      </p:sp>
      <p:sp>
        <p:nvSpPr>
          <p:cNvPr id="12" name="">
            <a:extLst xmlns:a="http://schemas.openxmlformats.org/drawingml/2006/main">
              <a:ext uri="{FF2B5EF4-FFF2-40B4-BE49-F238E27FC236}">
                <a16:creationId xmlns:a16="http://schemas.microsoft.com/office/drawing/2014/main" id="{B15A1244-34B0-4E5D-8E21-423DDA63B50A}"/>
              </a:ext>
            </a:extLst>
          </p:cNvPr>
          <p:cNvSpPr>
            <a:spLocks xmlns:a="http://schemas.openxmlformats.org/drawingml/2006/main" noGrp="1"/>
          </p:cNvSpPr>
          <p:nvPr/>
        </p:nvSpPr>
        <p:spPr>
          <a:xfrm xmlns:a="http://schemas.openxmlformats.org/drawingml/2006/main">
            <a:off x="5257800" y="2286000"/>
            <a:ext cx="2076450" cy="1476375"/>
          </a:xfrm>
          <a:prstGeom xmlns:a="http://schemas.openxmlformats.org/drawingml/2006/main" prst="roundRect">
            <a:avLst>
              <a:gd name="adj" fmla="val 9032"/>
            </a:avLst>
          </a:prstGeom>
          <a:solidFill xmlns:a="http://schemas.openxmlformats.org/drawingml/2006/main">
            <a:srgbClr val="FFFFFF"/>
          </a:solidFill>
          <a:ln xmlns:a="http://schemas.openxmlformats.org/drawingml/2006/main" w="9525">
            <a:solidFill>
              <a:srgbClr val="D2E2E9"/>
            </a:solidFill>
          </a:ln>
        </p:spPr>
      </p:sp>
      <p:sp>
        <p:nvSpPr>
          <p:cNvPr id="13" name="">
            <a:extLst xmlns:a="http://schemas.openxmlformats.org/drawingml/2006/main">
              <a:ext uri="{FF2B5EF4-FFF2-40B4-BE49-F238E27FC236}">
                <a16:creationId xmlns:a16="http://schemas.microsoft.com/office/drawing/2014/main" id="{17B4312A-516B-4781-BBA8-D756555873E8}"/>
              </a:ext>
            </a:extLst>
          </p:cNvPr>
          <p:cNvSpPr>
            <a:spLocks xmlns:a="http://schemas.openxmlformats.org/drawingml/2006/main" noGrp="1"/>
          </p:cNvSpPr>
          <p:nvPr/>
        </p:nvSpPr>
        <p:spPr>
          <a:xfrm xmlns:a="http://schemas.openxmlformats.org/drawingml/2006/main">
            <a:off x="5372100" y="23812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Prediction</a:t>
            </a:r>
          </a:p>
        </p:txBody>
      </p:sp>
      <p:sp>
        <p:nvSpPr>
          <p:cNvPr id="14" name="">
            <a:extLst xmlns:a="http://schemas.openxmlformats.org/drawingml/2006/main">
              <a:ext uri="{FF2B5EF4-FFF2-40B4-BE49-F238E27FC236}">
                <a16:creationId xmlns:a16="http://schemas.microsoft.com/office/drawing/2014/main" id="{8732E7D1-069F-4752-95B5-46D263178C00}"/>
              </a:ext>
            </a:extLst>
          </p:cNvPr>
          <p:cNvSpPr>
            <a:spLocks xmlns:a="http://schemas.openxmlformats.org/drawingml/2006/main" noGrp="1"/>
          </p:cNvSpPr>
          <p:nvPr/>
        </p:nvSpPr>
        <p:spPr>
          <a:xfrm xmlns:a="http://schemas.openxmlformats.org/drawingml/2006/main">
            <a:off x="5372100" y="2743200"/>
            <a:ext cx="18478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Urgency category</a:t>
            </a:r>
          </a:p>
        </p:txBody>
      </p:sp>
      <p:sp>
        <p:nvSpPr>
          <p:cNvPr id="16" name="">
            <a:extLst xmlns:a="http://schemas.openxmlformats.org/drawingml/2006/main">
              <a:ext uri="{FF2B5EF4-FFF2-40B4-BE49-F238E27FC236}">
                <a16:creationId xmlns:a16="http://schemas.microsoft.com/office/drawing/2014/main" id="{B935C956-905B-449D-AAE0-DBBAE55E68B1}"/>
              </a:ext>
            </a:extLst>
          </p:cNvPr>
          <p:cNvSpPr>
            <a:spLocks xmlns:a="http://schemas.openxmlformats.org/drawingml/2006/main" noGrp="1"/>
          </p:cNvSpPr>
          <p:nvPr/>
        </p:nvSpPr>
        <p:spPr>
          <a:xfrm xmlns:a="http://schemas.openxmlformats.org/drawingml/2006/main">
            <a:off x="7600950" y="2286000"/>
            <a:ext cx="2076450" cy="1476375"/>
          </a:xfrm>
          <a:prstGeom xmlns:a="http://schemas.openxmlformats.org/drawingml/2006/main" prst="roundRect">
            <a:avLst>
              <a:gd name="adj" fmla="val 9032"/>
            </a:avLst>
          </a:prstGeom>
          <a:solidFill xmlns:a="http://schemas.openxmlformats.org/drawingml/2006/main">
            <a:srgbClr val="EAF6F6"/>
          </a:solidFill>
          <a:ln xmlns:a="http://schemas.openxmlformats.org/drawingml/2006/main" w="9525">
            <a:solidFill>
              <a:srgbClr val="D2E2E9"/>
            </a:solidFill>
          </a:ln>
        </p:spPr>
      </p:sp>
      <p:sp>
        <p:nvSpPr>
          <p:cNvPr id="17" name="">
            <a:extLst xmlns:a="http://schemas.openxmlformats.org/drawingml/2006/main">
              <a:ext uri="{FF2B5EF4-FFF2-40B4-BE49-F238E27FC236}">
                <a16:creationId xmlns:a16="http://schemas.microsoft.com/office/drawing/2014/main" id="{66597D03-32BD-4EFE-B879-DA8172BFA874}"/>
              </a:ext>
            </a:extLst>
          </p:cNvPr>
          <p:cNvSpPr>
            <a:spLocks xmlns:a="http://schemas.openxmlformats.org/drawingml/2006/main" noGrp="1"/>
          </p:cNvSpPr>
          <p:nvPr/>
        </p:nvSpPr>
        <p:spPr>
          <a:xfrm xmlns:a="http://schemas.openxmlformats.org/drawingml/2006/main">
            <a:off x="7715250" y="2381250"/>
            <a:ext cx="1847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SHAP explanation</a:t>
            </a:r>
          </a:p>
        </p:txBody>
      </p:sp>
      <p:sp>
        <p:nvSpPr>
          <p:cNvPr id="18" name="">
            <a:extLst xmlns:a="http://schemas.openxmlformats.org/drawingml/2006/main">
              <a:ext uri="{FF2B5EF4-FFF2-40B4-BE49-F238E27FC236}">
                <a16:creationId xmlns:a16="http://schemas.microsoft.com/office/drawing/2014/main" id="{A922E752-541F-40AF-A5CE-9FEB9ECC450B}"/>
              </a:ext>
            </a:extLst>
          </p:cNvPr>
          <p:cNvSpPr>
            <a:spLocks xmlns:a="http://schemas.openxmlformats.org/drawingml/2006/main" noGrp="1"/>
          </p:cNvSpPr>
          <p:nvPr/>
        </p:nvSpPr>
        <p:spPr>
          <a:xfrm xmlns:a="http://schemas.openxmlformats.org/drawingml/2006/main">
            <a:off x="7715250" y="2971800"/>
            <a:ext cx="1847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Feature influence</a:t>
            </a:r>
          </a:p>
        </p:txBody>
      </p:sp>
      <p:sp>
        <p:nvSpPr>
          <p:cNvPr id="20" name="">
            <a:extLst xmlns:a="http://schemas.openxmlformats.org/drawingml/2006/main">
              <a:ext uri="{FF2B5EF4-FFF2-40B4-BE49-F238E27FC236}">
                <a16:creationId xmlns:a16="http://schemas.microsoft.com/office/drawing/2014/main" id="{443CE285-28A3-4B5F-ADDF-7BC3D8E4DBB3}"/>
              </a:ext>
            </a:extLst>
          </p:cNvPr>
          <p:cNvSpPr>
            <a:spLocks xmlns:a="http://schemas.openxmlformats.org/drawingml/2006/main" noGrp="1"/>
          </p:cNvSpPr>
          <p:nvPr/>
        </p:nvSpPr>
        <p:spPr>
          <a:xfrm xmlns:a="http://schemas.openxmlformats.org/drawingml/2006/main">
            <a:off x="9944100" y="2286000"/>
            <a:ext cx="2076450" cy="1476375"/>
          </a:xfrm>
          <a:prstGeom xmlns:a="http://schemas.openxmlformats.org/drawingml/2006/main" prst="roundRect">
            <a:avLst>
              <a:gd name="adj" fmla="val 9032"/>
            </a:avLst>
          </a:prstGeom>
          <a:solidFill xmlns:a="http://schemas.openxmlformats.org/drawingml/2006/main">
            <a:srgbClr val="FFFFFF"/>
          </a:solidFill>
          <a:ln xmlns:a="http://schemas.openxmlformats.org/drawingml/2006/main" w="9525">
            <a:solidFill>
              <a:srgbClr val="D2E2E9"/>
            </a:solidFill>
          </a:ln>
        </p:spPr>
      </p:sp>
      <p:sp>
        <p:nvSpPr>
          <p:cNvPr id="21" name="">
            <a:extLst xmlns:a="http://schemas.openxmlformats.org/drawingml/2006/main">
              <a:ext uri="{FF2B5EF4-FFF2-40B4-BE49-F238E27FC236}">
                <a16:creationId xmlns:a16="http://schemas.microsoft.com/office/drawing/2014/main" id="{8965FA54-975B-4CF8-A2D2-BCD809D04A7E}"/>
              </a:ext>
            </a:extLst>
          </p:cNvPr>
          <p:cNvSpPr>
            <a:spLocks xmlns:a="http://schemas.openxmlformats.org/drawingml/2006/main" noGrp="1"/>
          </p:cNvSpPr>
          <p:nvPr/>
        </p:nvSpPr>
        <p:spPr>
          <a:xfrm xmlns:a="http://schemas.openxmlformats.org/drawingml/2006/main">
            <a:off x="10058400" y="23812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Doctor</a:t>
            </a:r>
          </a:p>
        </p:txBody>
      </p:sp>
      <p:sp>
        <p:nvSpPr>
          <p:cNvPr id="22" name="">
            <a:extLst xmlns:a="http://schemas.openxmlformats.org/drawingml/2006/main">
              <a:ext uri="{FF2B5EF4-FFF2-40B4-BE49-F238E27FC236}">
                <a16:creationId xmlns:a16="http://schemas.microsoft.com/office/drawing/2014/main" id="{956CC2A9-054E-439D-8D6D-9B8F4C3E4D9D}"/>
              </a:ext>
            </a:extLst>
          </p:cNvPr>
          <p:cNvSpPr>
            <a:spLocks xmlns:a="http://schemas.openxmlformats.org/drawingml/2006/main" noGrp="1"/>
          </p:cNvSpPr>
          <p:nvPr/>
        </p:nvSpPr>
        <p:spPr>
          <a:xfrm xmlns:a="http://schemas.openxmlformats.org/drawingml/2006/main">
            <a:off x="10058400" y="2743200"/>
            <a:ext cx="18478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Contextual review</a:t>
            </a:r>
          </a:p>
        </p:txBody>
      </p:sp>
      <p:sp>
        <p:nvSpPr>
          <p:cNvPr id="24" name="">
            <a:extLst xmlns:a="http://schemas.openxmlformats.org/drawingml/2006/main">
              <a:ext uri="{FF2B5EF4-FFF2-40B4-BE49-F238E27FC236}">
                <a16:creationId xmlns:a16="http://schemas.microsoft.com/office/drawing/2014/main" id="{85E9409D-128E-4F3F-93A4-EA6AEB85344F}"/>
              </a:ext>
            </a:extLst>
          </p:cNvPr>
          <p:cNvSpPr>
            <a:spLocks xmlns:a="http://schemas.openxmlformats.org/drawingml/2006/main" noGrp="1"/>
          </p:cNvSpPr>
          <p:nvPr/>
        </p:nvSpPr>
        <p:spPr>
          <a:xfrm xmlns:a="http://schemas.openxmlformats.org/drawingml/2006/main">
            <a:off x="619125" y="4219575"/>
            <a:ext cx="5267325" cy="1619250"/>
          </a:xfrm>
          <a:prstGeom xmlns:a="http://schemas.openxmlformats.org/drawingml/2006/main" prst="roundRect">
            <a:avLst>
              <a:gd name="adj" fmla="val 8235"/>
            </a:avLst>
          </a:prstGeom>
          <a:solidFill xmlns:a="http://schemas.openxmlformats.org/drawingml/2006/main">
            <a:srgbClr val="FFFFFF"/>
          </a:solidFill>
          <a:ln xmlns:a="http://schemas.openxmlformats.org/drawingml/2006/main" w="9525">
            <a:solidFill>
              <a:srgbClr val="D2E2E9"/>
            </a:solid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874f035ca6a5465b">
            <a:extLst>
              <a:ext uri="{96DAC541-7B7A-43D3-8B79-37D633B846F1}">
                <asvg:svgBlip xmlns:asvg="http://schemas.microsoft.com/office/drawing/2016/SVG/main" r:embed="Rc3a68c5cb8e84874"/>
              </a:ext>
            </a:extLst>
          </a:blip>
          <a:stretch xmlns:a="http://schemas.openxmlformats.org/drawingml/2006/main"/>
        </p:blipFill>
        <p:spPr>
          <a:xfrm xmlns:a="http://schemas.openxmlformats.org/drawingml/2006/main">
            <a:off x="809625" y="4429125"/>
            <a:ext cx="342900" cy="3429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8E4A35E1-9039-4271-9434-9E465CABA8C1}"/>
              </a:ext>
            </a:extLst>
          </p:cNvPr>
          <p:cNvSpPr>
            <a:spLocks xmlns:a="http://schemas.openxmlformats.org/drawingml/2006/main" noGrp="1"/>
          </p:cNvSpPr>
          <p:nvPr/>
        </p:nvSpPr>
        <p:spPr>
          <a:xfrm xmlns:a="http://schemas.openxmlformats.org/drawingml/2006/main">
            <a:off x="1285875" y="4429125"/>
            <a:ext cx="44100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Transparent model output</a:t>
            </a:r>
          </a:p>
        </p:txBody>
      </p:sp>
      <p:sp>
        <p:nvSpPr>
          <p:cNvPr id="27" name="">
            <a:extLst xmlns:a="http://schemas.openxmlformats.org/drawingml/2006/main">
              <a:ext uri="{FF2B5EF4-FFF2-40B4-BE49-F238E27FC236}">
                <a16:creationId xmlns:a16="http://schemas.microsoft.com/office/drawing/2014/main" id="{6A201931-72CE-4F53-88EC-9358C96CF8FD}"/>
              </a:ext>
            </a:extLst>
          </p:cNvPr>
          <p:cNvSpPr>
            <a:spLocks xmlns:a="http://schemas.openxmlformats.org/drawingml/2006/main" noGrp="1"/>
          </p:cNvSpPr>
          <p:nvPr/>
        </p:nvSpPr>
        <p:spPr>
          <a:xfrm xmlns:a="http://schemas.openxmlformats.org/drawingml/2006/main">
            <a:off x="828675" y="5010150"/>
            <a:ext cx="48482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Shows how input features contribute to a particular prediction.</a:t>
            </a:r>
          </a:p>
        </p:txBody>
      </p:sp>
      <p:sp>
        <p:nvSpPr>
          <p:cNvPr id="28" name="">
            <a:extLst xmlns:a="http://schemas.openxmlformats.org/drawingml/2006/main">
              <a:ext uri="{FF2B5EF4-FFF2-40B4-BE49-F238E27FC236}">
                <a16:creationId xmlns:a16="http://schemas.microsoft.com/office/drawing/2014/main" id="{CE926CFA-95C5-4EBD-8292-1D7C577112C0}"/>
              </a:ext>
            </a:extLst>
          </p:cNvPr>
          <p:cNvSpPr>
            <a:spLocks xmlns:a="http://schemas.openxmlformats.org/drawingml/2006/main" noGrp="1"/>
          </p:cNvSpPr>
          <p:nvPr/>
        </p:nvSpPr>
        <p:spPr>
          <a:xfrm xmlns:a="http://schemas.openxmlformats.org/drawingml/2006/main">
            <a:off x="6191250" y="4219575"/>
            <a:ext cx="5267325" cy="1619250"/>
          </a:xfrm>
          <a:prstGeom xmlns:a="http://schemas.openxmlformats.org/drawingml/2006/main" prst="roundRect">
            <a:avLst>
              <a:gd name="adj" fmla="val 8235"/>
            </a:avLst>
          </a:prstGeom>
          <a:solidFill xmlns:a="http://schemas.openxmlformats.org/drawingml/2006/main">
            <a:srgbClr val="FFFFFF"/>
          </a:solidFill>
          <a:ln xmlns:a="http://schemas.openxmlformats.org/drawingml/2006/main" w="9525">
            <a:solidFill>
              <a:srgbClr val="D2E2E9"/>
            </a:solidFill>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ba8cdeec980e40fc">
            <a:extLst>
              <a:ext uri="{96DAC541-7B7A-43D3-8B79-37D633B846F1}">
                <asvg:svgBlip xmlns:asvg="http://schemas.microsoft.com/office/drawing/2016/SVG/main" r:embed="Rc566169c70bf4ede"/>
              </a:ext>
            </a:extLst>
          </a:blip>
          <a:stretch xmlns:a="http://schemas.openxmlformats.org/drawingml/2006/main"/>
        </p:blipFill>
        <p:spPr>
          <a:xfrm xmlns:a="http://schemas.openxmlformats.org/drawingml/2006/main">
            <a:off x="6381750" y="4429125"/>
            <a:ext cx="342900" cy="3429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B928C6EC-5D52-4568-8926-15034F1E3CBA}"/>
              </a:ext>
            </a:extLst>
          </p:cNvPr>
          <p:cNvSpPr>
            <a:spLocks xmlns:a="http://schemas.openxmlformats.org/drawingml/2006/main" noGrp="1"/>
          </p:cNvSpPr>
          <p:nvPr/>
        </p:nvSpPr>
        <p:spPr>
          <a:xfrm xmlns:a="http://schemas.openxmlformats.org/drawingml/2006/main">
            <a:off x="6858000" y="4429125"/>
            <a:ext cx="44100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Professional interpretation</a:t>
            </a:r>
          </a:p>
        </p:txBody>
      </p:sp>
      <p:sp>
        <p:nvSpPr>
          <p:cNvPr id="31" name="">
            <a:extLst xmlns:a="http://schemas.openxmlformats.org/drawingml/2006/main">
              <a:ext uri="{FF2B5EF4-FFF2-40B4-BE49-F238E27FC236}">
                <a16:creationId xmlns:a16="http://schemas.microsoft.com/office/drawing/2014/main" id="{728B566A-32C8-4E2F-8306-CB3EBD74773E}"/>
              </a:ext>
            </a:extLst>
          </p:cNvPr>
          <p:cNvSpPr>
            <a:spLocks xmlns:a="http://schemas.openxmlformats.org/drawingml/2006/main" noGrp="1"/>
          </p:cNvSpPr>
          <p:nvPr/>
        </p:nvSpPr>
        <p:spPr>
          <a:xfrm xmlns:a="http://schemas.openxmlformats.org/drawingml/2006/main">
            <a:off x="6400800" y="5010150"/>
            <a:ext cx="48482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Supports review alongside symptoms, history and medical reports.</a:t>
            </a:r>
          </a:p>
        </p:txBody>
      </p:sp>
    </p:spTree>
    <p:extLst>
      <p:ext uri="{BB962C8B-B14F-4D97-AF65-F5344CB8AC3E}">
        <p14:creationId xmlns:p14="http://schemas.microsoft.com/office/powerpoint/2010/main" val="638535225"/>
      </p:ext>
    </p:extLst>
  </p:cSld>
  <p:transition spd="fast">
    <p:fade/>
  </p:transition>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cxnSp>
        <p:nvCxnSpPr>
          <p:cNvPr id="41" name=""/>
          <p:cNvCxnSpPr>
            <a:stCxn xmlns:a="http://schemas.openxmlformats.org/drawingml/2006/main" id="18" idx="2"/>
            <a:endCxn xmlns:a="http://schemas.openxmlformats.org/drawingml/2006/main" id="34" idx="0"/>
          </p:cNvCxnSpPr>
          <p:nvPr/>
        </p:nvCxnSpPr>
        <p:spPr>
          <a:xfrm xmlns:a="http://schemas.openxmlformats.org/drawingml/2006/main">
            <a:off x="5334000" y="4248150"/>
            <a:ext cx="4229100" cy="657225"/>
          </a:xfrm>
          <a:prstGeom xmlns:a="http://schemas.openxmlformats.org/drawingml/2006/main" prst="bentConnector4">
            <a:avLst>
              <a:gd name="adj1" fmla="val 0"/>
              <a:gd name="adj2" fmla="val 50000"/>
            </a:avLst>
          </a:prstGeom>
          <a:ln xmlns:a="http://schemas.openxmlformats.org/drawingml/2006/main" w="19050">
            <a:solidFill>
              <a:srgbClr val="087F8C"/>
            </a:solidFill>
            <a:tailEnd type="triangle" w="med" len="med"/>
          </a:ln>
        </p:spPr>
      </p:cxnSp>
      <p:cxnSp>
        <p:nvCxnSpPr>
          <p:cNvPr id="42" name=""/>
          <p:cNvCxnSpPr>
            <a:stCxn xmlns:a="http://schemas.openxmlformats.org/drawingml/2006/main" id="18" idx="2"/>
            <a:endCxn xmlns:a="http://schemas.openxmlformats.org/drawingml/2006/main" id="31" idx="0"/>
          </p:cNvCxnSpPr>
          <p:nvPr/>
        </p:nvCxnSpPr>
        <p:spPr>
          <a:xfrm xmlns:a="http://schemas.openxmlformats.org/drawingml/2006/main">
            <a:off x="5334000" y="4248150"/>
            <a:ext cx="0" cy="657225"/>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43" name=""/>
          <p:cNvCxnSpPr>
            <a:stCxn xmlns:a="http://schemas.openxmlformats.org/drawingml/2006/main" id="15" idx="2"/>
            <a:endCxn xmlns:a="http://schemas.openxmlformats.org/drawingml/2006/main" id="28" idx="0"/>
          </p:cNvCxnSpPr>
          <p:nvPr/>
        </p:nvCxnSpPr>
        <p:spPr>
          <a:xfrm xmlns:a="http://schemas.openxmlformats.org/drawingml/2006/main">
            <a:off x="1895475" y="4391025"/>
            <a:ext cx="0" cy="352425"/>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44" name=""/>
          <p:cNvCxnSpPr>
            <a:stCxn xmlns:a="http://schemas.openxmlformats.org/drawingml/2006/main" id="18" idx="3"/>
            <a:endCxn xmlns:a="http://schemas.openxmlformats.org/drawingml/2006/main" id="21" idx="1"/>
          </p:cNvCxnSpPr>
          <p:nvPr/>
        </p:nvCxnSpPr>
        <p:spPr>
          <a:xfrm xmlns:a="http://schemas.openxmlformats.org/drawingml/2006/main">
            <a:off x="6667500" y="3810000"/>
            <a:ext cx="704850" cy="42863"/>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45" name=""/>
          <p:cNvCxnSpPr>
            <a:stCxn xmlns:a="http://schemas.openxmlformats.org/drawingml/2006/main" id="11" idx="2"/>
            <a:endCxn xmlns:a="http://schemas.openxmlformats.org/drawingml/2006/main" id="18" idx="3"/>
          </p:cNvCxnSpPr>
          <p:nvPr/>
        </p:nvCxnSpPr>
        <p:spPr>
          <a:xfrm xmlns:a="http://schemas.openxmlformats.org/drawingml/2006/main" flipH="1">
            <a:off x="6667500" y="2628900"/>
            <a:ext cx="3629025" cy="1181100"/>
          </a:xfrm>
          <a:prstGeom xmlns:a="http://schemas.openxmlformats.org/drawingml/2006/main" prst="bentConnector5">
            <a:avLst>
              <a:gd name="adj1" fmla="val 0"/>
              <a:gd name="adj2" fmla="val 19355"/>
              <a:gd name="adj3" fmla="val 93701"/>
            </a:avLst>
          </a:prstGeom>
          <a:ln xmlns:a="http://schemas.openxmlformats.org/drawingml/2006/main" w="19050">
            <a:solidFill>
              <a:srgbClr val="087F8C"/>
            </a:solidFill>
            <a:tailEnd type="triangle" w="med" len="med"/>
          </a:ln>
        </p:spPr>
      </p:cxnSp>
      <p:cxnSp>
        <p:nvCxnSpPr>
          <p:cNvPr id="46" name=""/>
          <p:cNvCxnSpPr>
            <a:stCxn xmlns:a="http://schemas.openxmlformats.org/drawingml/2006/main" id="15" idx="3"/>
            <a:endCxn xmlns:a="http://schemas.openxmlformats.org/drawingml/2006/main" id="18" idx="1"/>
          </p:cNvCxnSpPr>
          <p:nvPr/>
        </p:nvCxnSpPr>
        <p:spPr>
          <a:xfrm xmlns:a="http://schemas.openxmlformats.org/drawingml/2006/main">
            <a:off x="3181350" y="3795713"/>
            <a:ext cx="819150" cy="14288"/>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47" name=""/>
          <p:cNvCxnSpPr>
            <a:stCxn xmlns:a="http://schemas.openxmlformats.org/drawingml/2006/main" id="8" idx="2"/>
            <a:endCxn xmlns:a="http://schemas.openxmlformats.org/drawingml/2006/main" id="18" idx="0"/>
          </p:cNvCxnSpPr>
          <p:nvPr/>
        </p:nvCxnSpPr>
        <p:spPr>
          <a:xfrm xmlns:a="http://schemas.openxmlformats.org/drawingml/2006/main">
            <a:off x="5334000" y="2628900"/>
            <a:ext cx="0" cy="74295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48" name=""/>
          <p:cNvCxnSpPr>
            <a:stCxn xmlns:a="http://schemas.openxmlformats.org/drawingml/2006/main" id="5" idx="3"/>
            <a:endCxn xmlns:a="http://schemas.openxmlformats.org/drawingml/2006/main" id="8" idx="1"/>
          </p:cNvCxnSpPr>
          <p:nvPr/>
        </p:nvCxnSpPr>
        <p:spPr>
          <a:xfrm xmlns:a="http://schemas.openxmlformats.org/drawingml/2006/main">
            <a:off x="2990850" y="2209800"/>
            <a:ext cx="1009650" cy="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49" name="">
            <a:extLst xmlns:a="http://schemas.openxmlformats.org/drawingml/2006/main">
              <a:ext uri="{FF2B5EF4-FFF2-40B4-BE49-F238E27FC236}">
                <a16:creationId xmlns:a16="http://schemas.microsoft.com/office/drawing/2014/main" id="{8D0B1EDB-9D0C-4326-86B1-8AE27B7B4F92}"/>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Database &amp; Case Management</a:t>
            </a:r>
          </a:p>
        </p:txBody>
      </p:sp>
      <p:sp>
        <p:nvSpPr>
          <p:cNvPr id="2" name="">
            <a:extLst xmlns:a="http://schemas.openxmlformats.org/drawingml/2006/main">
              <a:ext uri="{FF2B5EF4-FFF2-40B4-BE49-F238E27FC236}">
                <a16:creationId xmlns:a16="http://schemas.microsoft.com/office/drawing/2014/main" id="{9033CED8-8B81-4E68-995C-0FD6C502E1E9}"/>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Simplified conceptual relationships • Detailed schema remains part of development</a:t>
            </a:r>
          </a:p>
        </p:txBody>
      </p:sp>
      <p:sp>
        <p:nvSpPr>
          <p:cNvPr id="3" name="">
            <a:extLst xmlns:a="http://schemas.openxmlformats.org/drawingml/2006/main">
              <a:ext uri="{FF2B5EF4-FFF2-40B4-BE49-F238E27FC236}">
                <a16:creationId xmlns:a16="http://schemas.microsoft.com/office/drawing/2014/main" id="{FD541370-51F2-49C7-9FD3-C4700518FBEA}"/>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3EB8C29B-7FBE-4374-BAA5-840EE09B25B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11</a:t>
            </a:r>
          </a:p>
        </p:txBody>
      </p:sp>
      <p:sp>
        <p:nvSpPr>
          <p:cNvPr id="5" name="">
            <a:extLst xmlns:a="http://schemas.openxmlformats.org/drawingml/2006/main">
              <a:ext uri="{FF2B5EF4-FFF2-40B4-BE49-F238E27FC236}">
                <a16:creationId xmlns:a16="http://schemas.microsoft.com/office/drawing/2014/main" id="{4BBC88CF-1C31-4F99-8217-7FC98CF100ED}"/>
              </a:ext>
            </a:extLst>
          </p:cNvPr>
          <p:cNvSpPr>
            <a:spLocks xmlns:a="http://schemas.openxmlformats.org/drawingml/2006/main" noGrp="1"/>
          </p:cNvSpPr>
          <p:nvPr/>
        </p:nvSpPr>
        <p:spPr>
          <a:xfrm xmlns:a="http://schemas.openxmlformats.org/drawingml/2006/main">
            <a:off x="609600" y="1790700"/>
            <a:ext cx="23812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2E2E9"/>
            </a:solidFill>
          </a:ln>
        </p:spPr>
      </p:sp>
      <p:sp>
        <p:nvSpPr>
          <p:cNvPr id="6" name="">
            <a:extLst xmlns:a="http://schemas.openxmlformats.org/drawingml/2006/main">
              <a:ext uri="{FF2B5EF4-FFF2-40B4-BE49-F238E27FC236}">
                <a16:creationId xmlns:a16="http://schemas.microsoft.com/office/drawing/2014/main" id="{23D161CD-03C1-4F6E-BF77-9FF38C18FDD0}"/>
              </a:ext>
            </a:extLst>
          </p:cNvPr>
          <p:cNvSpPr>
            <a:spLocks xmlns:a="http://schemas.openxmlformats.org/drawingml/2006/main" noGrp="1"/>
          </p:cNvSpPr>
          <p:nvPr/>
        </p:nvSpPr>
        <p:spPr>
          <a:xfrm xmlns:a="http://schemas.openxmlformats.org/drawingml/2006/main">
            <a:off x="723900" y="188595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User</a:t>
            </a:r>
          </a:p>
        </p:txBody>
      </p:sp>
      <p:sp>
        <p:nvSpPr>
          <p:cNvPr id="7" name="">
            <a:extLst xmlns:a="http://schemas.openxmlformats.org/drawingml/2006/main">
              <a:ext uri="{FF2B5EF4-FFF2-40B4-BE49-F238E27FC236}">
                <a16:creationId xmlns:a16="http://schemas.microsoft.com/office/drawing/2014/main" id="{CDC4002B-A874-41FC-BA8A-6625781A9DDC}"/>
              </a:ext>
            </a:extLst>
          </p:cNvPr>
          <p:cNvSpPr>
            <a:spLocks xmlns:a="http://schemas.openxmlformats.org/drawingml/2006/main" noGrp="1"/>
          </p:cNvSpPr>
          <p:nvPr/>
        </p:nvSpPr>
        <p:spPr>
          <a:xfrm xmlns:a="http://schemas.openxmlformats.org/drawingml/2006/main">
            <a:off x="723900" y="2247900"/>
            <a:ext cx="2152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Role and access</a:t>
            </a:r>
          </a:p>
        </p:txBody>
      </p:sp>
      <p:sp>
        <p:nvSpPr>
          <p:cNvPr id="8" name="">
            <a:extLst xmlns:a="http://schemas.openxmlformats.org/drawingml/2006/main">
              <a:ext uri="{FF2B5EF4-FFF2-40B4-BE49-F238E27FC236}">
                <a16:creationId xmlns:a16="http://schemas.microsoft.com/office/drawing/2014/main" id="{957C91A7-AFC5-4C32-9260-B4C94F0DB0AE}"/>
              </a:ext>
            </a:extLst>
          </p:cNvPr>
          <p:cNvSpPr>
            <a:spLocks xmlns:a="http://schemas.openxmlformats.org/drawingml/2006/main" noGrp="1"/>
          </p:cNvSpPr>
          <p:nvPr/>
        </p:nvSpPr>
        <p:spPr>
          <a:xfrm xmlns:a="http://schemas.openxmlformats.org/drawingml/2006/main">
            <a:off x="4000500" y="1790700"/>
            <a:ext cx="266700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2E2E9"/>
            </a:solidFill>
          </a:ln>
        </p:spPr>
      </p:sp>
      <p:sp>
        <p:nvSpPr>
          <p:cNvPr id="9" name="">
            <a:extLst xmlns:a="http://schemas.openxmlformats.org/drawingml/2006/main">
              <a:ext uri="{FF2B5EF4-FFF2-40B4-BE49-F238E27FC236}">
                <a16:creationId xmlns:a16="http://schemas.microsoft.com/office/drawing/2014/main" id="{8769BFF3-D65A-4F43-BB29-C652F5172FC4}"/>
              </a:ext>
            </a:extLst>
          </p:cNvPr>
          <p:cNvSpPr>
            <a:spLocks xmlns:a="http://schemas.openxmlformats.org/drawingml/2006/main" noGrp="1"/>
          </p:cNvSpPr>
          <p:nvPr/>
        </p:nvSpPr>
        <p:spPr>
          <a:xfrm xmlns:a="http://schemas.openxmlformats.org/drawingml/2006/main">
            <a:off x="4114800" y="1885950"/>
            <a:ext cx="2438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Patient Profile</a:t>
            </a:r>
          </a:p>
        </p:txBody>
      </p:sp>
      <p:sp>
        <p:nvSpPr>
          <p:cNvPr id="10" name="">
            <a:extLst xmlns:a="http://schemas.openxmlformats.org/drawingml/2006/main">
              <a:ext uri="{FF2B5EF4-FFF2-40B4-BE49-F238E27FC236}">
                <a16:creationId xmlns:a16="http://schemas.microsoft.com/office/drawing/2014/main" id="{4AC34E0E-181B-40BC-886D-544DF5E7A19A}"/>
              </a:ext>
            </a:extLst>
          </p:cNvPr>
          <p:cNvSpPr>
            <a:spLocks xmlns:a="http://schemas.openxmlformats.org/drawingml/2006/main" noGrp="1"/>
          </p:cNvSpPr>
          <p:nvPr/>
        </p:nvSpPr>
        <p:spPr>
          <a:xfrm xmlns:a="http://schemas.openxmlformats.org/drawingml/2006/main">
            <a:off x="4114800" y="224790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History and records</a:t>
            </a:r>
          </a:p>
        </p:txBody>
      </p:sp>
      <p:sp>
        <p:nvSpPr>
          <p:cNvPr id="11" name="">
            <a:extLst xmlns:a="http://schemas.openxmlformats.org/drawingml/2006/main">
              <a:ext uri="{FF2B5EF4-FFF2-40B4-BE49-F238E27FC236}">
                <a16:creationId xmlns:a16="http://schemas.microsoft.com/office/drawing/2014/main" id="{D72D9962-AC27-490E-98C3-9E65CF24AA3D}"/>
              </a:ext>
            </a:extLst>
          </p:cNvPr>
          <p:cNvSpPr>
            <a:spLocks xmlns:a="http://schemas.openxmlformats.org/drawingml/2006/main" noGrp="1"/>
          </p:cNvSpPr>
          <p:nvPr/>
        </p:nvSpPr>
        <p:spPr>
          <a:xfrm xmlns:a="http://schemas.openxmlformats.org/drawingml/2006/main">
            <a:off x="9010650" y="1790700"/>
            <a:ext cx="25717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2E2E9"/>
            </a:solidFill>
          </a:ln>
        </p:spPr>
      </p:sp>
      <p:sp>
        <p:nvSpPr>
          <p:cNvPr id="12" name="">
            <a:extLst xmlns:a="http://schemas.openxmlformats.org/drawingml/2006/main">
              <a:ext uri="{FF2B5EF4-FFF2-40B4-BE49-F238E27FC236}">
                <a16:creationId xmlns:a16="http://schemas.microsoft.com/office/drawing/2014/main" id="{A7C94B8E-9892-4DC8-B872-872B2977C2E7}"/>
              </a:ext>
            </a:extLst>
          </p:cNvPr>
          <p:cNvSpPr>
            <a:spLocks xmlns:a="http://schemas.openxmlformats.org/drawingml/2006/main" noGrp="1"/>
          </p:cNvSpPr>
          <p:nvPr/>
        </p:nvSpPr>
        <p:spPr>
          <a:xfrm xmlns:a="http://schemas.openxmlformats.org/drawingml/2006/main">
            <a:off x="9124950" y="1885950"/>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Doctor</a:t>
            </a:r>
          </a:p>
        </p:txBody>
      </p:sp>
      <p:sp>
        <p:nvSpPr>
          <p:cNvPr id="13" name="">
            <a:extLst xmlns:a="http://schemas.openxmlformats.org/drawingml/2006/main">
              <a:ext uri="{FF2B5EF4-FFF2-40B4-BE49-F238E27FC236}">
                <a16:creationId xmlns:a16="http://schemas.microsoft.com/office/drawing/2014/main" id="{6F1051B7-3785-4C1A-B58A-6B0DA7AC230B}"/>
              </a:ext>
            </a:extLst>
          </p:cNvPr>
          <p:cNvSpPr>
            <a:spLocks xmlns:a="http://schemas.openxmlformats.org/drawingml/2006/main" noGrp="1"/>
          </p:cNvSpPr>
          <p:nvPr/>
        </p:nvSpPr>
        <p:spPr>
          <a:xfrm xmlns:a="http://schemas.openxmlformats.org/drawingml/2006/main">
            <a:off x="9124950" y="2247900"/>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Assigned cases</a:t>
            </a:r>
          </a:p>
        </p:txBody>
      </p:sp>
      <p:sp>
        <p:nvSpPr>
          <p:cNvPr id="15" name="">
            <a:extLst xmlns:a="http://schemas.openxmlformats.org/drawingml/2006/main">
              <a:ext uri="{FF2B5EF4-FFF2-40B4-BE49-F238E27FC236}">
                <a16:creationId xmlns:a16="http://schemas.microsoft.com/office/drawing/2014/main" id="{4628C72A-5508-4C59-900E-545CB1C6DB0E}"/>
              </a:ext>
            </a:extLst>
          </p:cNvPr>
          <p:cNvSpPr>
            <a:spLocks xmlns:a="http://schemas.openxmlformats.org/drawingml/2006/main" noGrp="1"/>
          </p:cNvSpPr>
          <p:nvPr/>
        </p:nvSpPr>
        <p:spPr>
          <a:xfrm xmlns:a="http://schemas.openxmlformats.org/drawingml/2006/main">
            <a:off x="609600" y="3200400"/>
            <a:ext cx="2571750" cy="1190625"/>
          </a:xfrm>
          <a:prstGeom xmlns:a="http://schemas.openxmlformats.org/drawingml/2006/main" prst="roundRect">
            <a:avLst>
              <a:gd name="adj" fmla="val 11200"/>
            </a:avLst>
          </a:prstGeom>
          <a:solidFill xmlns:a="http://schemas.openxmlformats.org/drawingml/2006/main">
            <a:srgbClr val="FFFFFF"/>
          </a:solidFill>
          <a:ln xmlns:a="http://schemas.openxmlformats.org/drawingml/2006/main" w="9525">
            <a:solidFill>
              <a:srgbClr val="D2E2E9"/>
            </a:solidFill>
          </a:ln>
        </p:spPr>
      </p:sp>
      <p:sp>
        <p:nvSpPr>
          <p:cNvPr id="16" name="">
            <a:extLst xmlns:a="http://schemas.openxmlformats.org/drawingml/2006/main">
              <a:ext uri="{FF2B5EF4-FFF2-40B4-BE49-F238E27FC236}">
                <a16:creationId xmlns:a16="http://schemas.microsoft.com/office/drawing/2014/main" id="{75E197DC-2AC1-4535-BAE9-8FFBB0629950}"/>
              </a:ext>
            </a:extLst>
          </p:cNvPr>
          <p:cNvSpPr>
            <a:spLocks xmlns:a="http://schemas.openxmlformats.org/drawingml/2006/main" noGrp="1"/>
          </p:cNvSpPr>
          <p:nvPr/>
        </p:nvSpPr>
        <p:spPr>
          <a:xfrm xmlns:a="http://schemas.openxmlformats.org/drawingml/2006/main">
            <a:off x="723900" y="3295650"/>
            <a:ext cx="234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Symptom Assessment</a:t>
            </a:r>
          </a:p>
        </p:txBody>
      </p:sp>
      <p:sp>
        <p:nvSpPr>
          <p:cNvPr id="17" name="">
            <a:extLst xmlns:a="http://schemas.openxmlformats.org/drawingml/2006/main">
              <a:ext uri="{FF2B5EF4-FFF2-40B4-BE49-F238E27FC236}">
                <a16:creationId xmlns:a16="http://schemas.microsoft.com/office/drawing/2014/main" id="{01D76B2E-0AF9-4F7A-BE75-99EA72E742D5}"/>
              </a:ext>
            </a:extLst>
          </p:cNvPr>
          <p:cNvSpPr>
            <a:spLocks xmlns:a="http://schemas.openxmlformats.org/drawingml/2006/main" noGrp="1"/>
          </p:cNvSpPr>
          <p:nvPr/>
        </p:nvSpPr>
        <p:spPr>
          <a:xfrm xmlns:a="http://schemas.openxmlformats.org/drawingml/2006/main">
            <a:off x="723900" y="3886200"/>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Structured responses</a:t>
            </a:r>
          </a:p>
        </p:txBody>
      </p:sp>
      <p:sp>
        <p:nvSpPr>
          <p:cNvPr id="18" name="">
            <a:extLst xmlns:a="http://schemas.openxmlformats.org/drawingml/2006/main">
              <a:ext uri="{FF2B5EF4-FFF2-40B4-BE49-F238E27FC236}">
                <a16:creationId xmlns:a16="http://schemas.microsoft.com/office/drawing/2014/main" id="{B5CAD370-4648-4513-B69E-1A9F48BD51FB}"/>
              </a:ext>
            </a:extLst>
          </p:cNvPr>
          <p:cNvSpPr>
            <a:spLocks xmlns:a="http://schemas.openxmlformats.org/drawingml/2006/main" noGrp="1"/>
          </p:cNvSpPr>
          <p:nvPr/>
        </p:nvSpPr>
        <p:spPr>
          <a:xfrm xmlns:a="http://schemas.openxmlformats.org/drawingml/2006/main">
            <a:off x="4000500" y="3371850"/>
            <a:ext cx="2667000" cy="876300"/>
          </a:xfrm>
          <a:prstGeom xmlns:a="http://schemas.openxmlformats.org/drawingml/2006/main" prst="roundRect">
            <a:avLst>
              <a:gd name="adj" fmla="val 15217"/>
            </a:avLst>
          </a:prstGeom>
          <a:solidFill xmlns:a="http://schemas.openxmlformats.org/drawingml/2006/main">
            <a:srgbClr val="EAF6F6"/>
          </a:solidFill>
          <a:ln xmlns:a="http://schemas.openxmlformats.org/drawingml/2006/main" w="9525">
            <a:solidFill>
              <a:srgbClr val="D2E2E9"/>
            </a:solidFill>
          </a:ln>
        </p:spPr>
      </p:sp>
      <p:sp>
        <p:nvSpPr>
          <p:cNvPr id="19" name="">
            <a:extLst xmlns:a="http://schemas.openxmlformats.org/drawingml/2006/main">
              <a:ext uri="{FF2B5EF4-FFF2-40B4-BE49-F238E27FC236}">
                <a16:creationId xmlns:a16="http://schemas.microsoft.com/office/drawing/2014/main" id="{6A82D696-E01C-4AED-952A-758D965D0900}"/>
              </a:ext>
            </a:extLst>
          </p:cNvPr>
          <p:cNvSpPr>
            <a:spLocks xmlns:a="http://schemas.openxmlformats.org/drawingml/2006/main" noGrp="1"/>
          </p:cNvSpPr>
          <p:nvPr/>
        </p:nvSpPr>
        <p:spPr>
          <a:xfrm xmlns:a="http://schemas.openxmlformats.org/drawingml/2006/main">
            <a:off x="4114800" y="3467100"/>
            <a:ext cx="2438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Case</a:t>
            </a:r>
          </a:p>
        </p:txBody>
      </p:sp>
      <p:sp>
        <p:nvSpPr>
          <p:cNvPr id="20" name="">
            <a:extLst xmlns:a="http://schemas.openxmlformats.org/drawingml/2006/main">
              <a:ext uri="{FF2B5EF4-FFF2-40B4-BE49-F238E27FC236}">
                <a16:creationId xmlns:a16="http://schemas.microsoft.com/office/drawing/2014/main" id="{A6F57498-E7AE-4026-BFA4-70FEF805A1F5}"/>
              </a:ext>
            </a:extLst>
          </p:cNvPr>
          <p:cNvSpPr>
            <a:spLocks xmlns:a="http://schemas.openxmlformats.org/drawingml/2006/main" noGrp="1"/>
          </p:cNvSpPr>
          <p:nvPr/>
        </p:nvSpPr>
        <p:spPr>
          <a:xfrm xmlns:a="http://schemas.openxmlformats.org/drawingml/2006/main">
            <a:off x="4114800" y="382905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Review and status</a:t>
            </a:r>
          </a:p>
        </p:txBody>
      </p:sp>
      <p:sp>
        <p:nvSpPr>
          <p:cNvPr id="21" name="">
            <a:extLst xmlns:a="http://schemas.openxmlformats.org/drawingml/2006/main">
              <a:ext uri="{FF2B5EF4-FFF2-40B4-BE49-F238E27FC236}">
                <a16:creationId xmlns:a16="http://schemas.microsoft.com/office/drawing/2014/main" id="{AAF491B9-8E70-48F7-8AA9-C73965758440}"/>
              </a:ext>
            </a:extLst>
          </p:cNvPr>
          <p:cNvSpPr>
            <a:spLocks xmlns:a="http://schemas.openxmlformats.org/drawingml/2006/main" noGrp="1"/>
          </p:cNvSpPr>
          <p:nvPr/>
        </p:nvSpPr>
        <p:spPr>
          <a:xfrm xmlns:a="http://schemas.openxmlformats.org/drawingml/2006/main">
            <a:off x="7372350" y="3371850"/>
            <a:ext cx="2667000" cy="962025"/>
          </a:xfrm>
          <a:prstGeom xmlns:a="http://schemas.openxmlformats.org/drawingml/2006/main" prst="roundRect">
            <a:avLst>
              <a:gd name="adj" fmla="val 13861"/>
            </a:avLst>
          </a:prstGeom>
          <a:solidFill xmlns:a="http://schemas.openxmlformats.org/drawingml/2006/main">
            <a:srgbClr val="FFFFFF"/>
          </a:solidFill>
          <a:ln xmlns:a="http://schemas.openxmlformats.org/drawingml/2006/main" w="9525">
            <a:solidFill>
              <a:srgbClr val="D2E2E9"/>
            </a:solidFill>
          </a:ln>
        </p:spPr>
      </p:sp>
      <p:sp>
        <p:nvSpPr>
          <p:cNvPr id="22" name="">
            <a:extLst xmlns:a="http://schemas.openxmlformats.org/drawingml/2006/main">
              <a:ext uri="{FF2B5EF4-FFF2-40B4-BE49-F238E27FC236}">
                <a16:creationId xmlns:a16="http://schemas.microsoft.com/office/drawing/2014/main" id="{1683C7A6-BF95-4E0B-8D81-3A7643C679B8}"/>
              </a:ext>
            </a:extLst>
          </p:cNvPr>
          <p:cNvSpPr>
            <a:spLocks xmlns:a="http://schemas.openxmlformats.org/drawingml/2006/main" noGrp="1"/>
          </p:cNvSpPr>
          <p:nvPr/>
        </p:nvSpPr>
        <p:spPr>
          <a:xfrm xmlns:a="http://schemas.openxmlformats.org/drawingml/2006/main">
            <a:off x="7486650" y="3467100"/>
            <a:ext cx="2438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Medical Report</a:t>
            </a:r>
          </a:p>
        </p:txBody>
      </p:sp>
      <p:sp>
        <p:nvSpPr>
          <p:cNvPr id="23" name="">
            <a:extLst xmlns:a="http://schemas.openxmlformats.org/drawingml/2006/main">
              <a:ext uri="{FF2B5EF4-FFF2-40B4-BE49-F238E27FC236}">
                <a16:creationId xmlns:a16="http://schemas.microsoft.com/office/drawing/2014/main" id="{15B6F247-8223-42D6-9A86-7658C2A129D6}"/>
              </a:ext>
            </a:extLst>
          </p:cNvPr>
          <p:cNvSpPr>
            <a:spLocks xmlns:a="http://schemas.openxmlformats.org/drawingml/2006/main" noGrp="1"/>
          </p:cNvSpPr>
          <p:nvPr/>
        </p:nvSpPr>
        <p:spPr>
          <a:xfrm xmlns:a="http://schemas.openxmlformats.org/drawingml/2006/main">
            <a:off x="7486650" y="3829050"/>
            <a:ext cx="2438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Controlled file reference</a:t>
            </a:r>
          </a:p>
        </p:txBody>
      </p:sp>
      <p:sp>
        <p:nvSpPr>
          <p:cNvPr id="28" name="">
            <a:extLst xmlns:a="http://schemas.openxmlformats.org/drawingml/2006/main">
              <a:ext uri="{FF2B5EF4-FFF2-40B4-BE49-F238E27FC236}">
                <a16:creationId xmlns:a16="http://schemas.microsoft.com/office/drawing/2014/main" id="{A88765BA-04C1-46B8-9538-91EDC81DC026}"/>
              </a:ext>
            </a:extLst>
          </p:cNvPr>
          <p:cNvSpPr>
            <a:spLocks xmlns:a="http://schemas.openxmlformats.org/drawingml/2006/main" noGrp="1"/>
          </p:cNvSpPr>
          <p:nvPr/>
        </p:nvSpPr>
        <p:spPr>
          <a:xfrm xmlns:a="http://schemas.openxmlformats.org/drawingml/2006/main">
            <a:off x="609600" y="4743450"/>
            <a:ext cx="2571750" cy="1114425"/>
          </a:xfrm>
          <a:prstGeom xmlns:a="http://schemas.openxmlformats.org/drawingml/2006/main" prst="roundRect">
            <a:avLst>
              <a:gd name="adj" fmla="val 11966"/>
            </a:avLst>
          </a:prstGeom>
          <a:solidFill xmlns:a="http://schemas.openxmlformats.org/drawingml/2006/main">
            <a:srgbClr val="FFFFFF"/>
          </a:solidFill>
          <a:ln xmlns:a="http://schemas.openxmlformats.org/drawingml/2006/main" w="9525">
            <a:solidFill>
              <a:srgbClr val="D2E2E9"/>
            </a:solidFill>
          </a:ln>
        </p:spPr>
      </p:sp>
      <p:sp>
        <p:nvSpPr>
          <p:cNvPr id="29" name="">
            <a:extLst xmlns:a="http://schemas.openxmlformats.org/drawingml/2006/main">
              <a:ext uri="{FF2B5EF4-FFF2-40B4-BE49-F238E27FC236}">
                <a16:creationId xmlns:a16="http://schemas.microsoft.com/office/drawing/2014/main" id="{7FB28C8E-538C-4258-9AFE-2F786117DB30}"/>
              </a:ext>
            </a:extLst>
          </p:cNvPr>
          <p:cNvSpPr>
            <a:spLocks xmlns:a="http://schemas.openxmlformats.org/drawingml/2006/main" noGrp="1"/>
          </p:cNvSpPr>
          <p:nvPr/>
        </p:nvSpPr>
        <p:spPr>
          <a:xfrm xmlns:a="http://schemas.openxmlformats.org/drawingml/2006/main">
            <a:off x="723900" y="4838700"/>
            <a:ext cx="234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Triage Prediction</a:t>
            </a:r>
          </a:p>
        </p:txBody>
      </p:sp>
      <p:sp>
        <p:nvSpPr>
          <p:cNvPr id="30" name="">
            <a:extLst xmlns:a="http://schemas.openxmlformats.org/drawingml/2006/main">
              <a:ext uri="{FF2B5EF4-FFF2-40B4-BE49-F238E27FC236}">
                <a16:creationId xmlns:a16="http://schemas.microsoft.com/office/drawing/2014/main" id="{5CBA2770-9634-4F29-BA52-E886BF1AB25A}"/>
              </a:ext>
            </a:extLst>
          </p:cNvPr>
          <p:cNvSpPr>
            <a:spLocks xmlns:a="http://schemas.openxmlformats.org/drawingml/2006/main" noGrp="1"/>
          </p:cNvSpPr>
          <p:nvPr/>
        </p:nvSpPr>
        <p:spPr>
          <a:xfrm xmlns:a="http://schemas.openxmlformats.org/drawingml/2006/main">
            <a:off x="723900" y="5429250"/>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Model version + time</a:t>
            </a:r>
          </a:p>
        </p:txBody>
      </p:sp>
      <p:sp>
        <p:nvSpPr>
          <p:cNvPr id="31" name="">
            <a:extLst xmlns:a="http://schemas.openxmlformats.org/drawingml/2006/main">
              <a:ext uri="{FF2B5EF4-FFF2-40B4-BE49-F238E27FC236}">
                <a16:creationId xmlns:a16="http://schemas.microsoft.com/office/drawing/2014/main" id="{3B1020BF-AD93-4317-876D-B28425FF8A9F}"/>
              </a:ext>
            </a:extLst>
          </p:cNvPr>
          <p:cNvSpPr>
            <a:spLocks xmlns:a="http://schemas.openxmlformats.org/drawingml/2006/main" noGrp="1"/>
          </p:cNvSpPr>
          <p:nvPr/>
        </p:nvSpPr>
        <p:spPr>
          <a:xfrm xmlns:a="http://schemas.openxmlformats.org/drawingml/2006/main">
            <a:off x="4000500" y="4905375"/>
            <a:ext cx="2667000" cy="847725"/>
          </a:xfrm>
          <a:prstGeom xmlns:a="http://schemas.openxmlformats.org/drawingml/2006/main" prst="roundRect">
            <a:avLst>
              <a:gd name="adj" fmla="val 15730"/>
            </a:avLst>
          </a:prstGeom>
          <a:solidFill xmlns:a="http://schemas.openxmlformats.org/drawingml/2006/main">
            <a:srgbClr val="FFFFFF"/>
          </a:solidFill>
          <a:ln xmlns:a="http://schemas.openxmlformats.org/drawingml/2006/main" w="9525">
            <a:solidFill>
              <a:srgbClr val="D2E2E9"/>
            </a:solidFill>
          </a:ln>
        </p:spPr>
      </p:sp>
      <p:sp>
        <p:nvSpPr>
          <p:cNvPr id="32" name="">
            <a:extLst xmlns:a="http://schemas.openxmlformats.org/drawingml/2006/main">
              <a:ext uri="{FF2B5EF4-FFF2-40B4-BE49-F238E27FC236}">
                <a16:creationId xmlns:a16="http://schemas.microsoft.com/office/drawing/2014/main" id="{4D381E3B-1A09-4BDE-BC60-52D28A35D256}"/>
              </a:ext>
            </a:extLst>
          </p:cNvPr>
          <p:cNvSpPr>
            <a:spLocks xmlns:a="http://schemas.openxmlformats.org/drawingml/2006/main" noGrp="1"/>
          </p:cNvSpPr>
          <p:nvPr/>
        </p:nvSpPr>
        <p:spPr>
          <a:xfrm xmlns:a="http://schemas.openxmlformats.org/drawingml/2006/main">
            <a:off x="4114800" y="5000625"/>
            <a:ext cx="2438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5344A"/>
                </a:solidFill>
                <a:latin typeface="DejaVu Sans"/>
                <a:ea typeface="DejaVu Sans"/>
                <a:cs typeface="DejaVu Sans"/>
              </a:defRPr>
            </a:pPr>
            <a:r>
              <a:rPr sz="1500" b="1">
                <a:solidFill>
                  <a:srgbClr val="15344A"/>
                </a:solidFill>
                <a:latin typeface="DejaVu Sans"/>
                <a:ea typeface="DejaVu Sans"/>
                <a:cs typeface="DejaVu Sans"/>
              </a:rPr>
              <a:t>Appointment</a:t>
            </a:r>
          </a:p>
        </p:txBody>
      </p:sp>
      <p:sp>
        <p:nvSpPr>
          <p:cNvPr id="33" name="">
            <a:extLst xmlns:a="http://schemas.openxmlformats.org/drawingml/2006/main">
              <a:ext uri="{FF2B5EF4-FFF2-40B4-BE49-F238E27FC236}">
                <a16:creationId xmlns:a16="http://schemas.microsoft.com/office/drawing/2014/main" id="{FBA3AD66-A943-4EAE-BA70-EB9B04C6DDA3}"/>
              </a:ext>
            </a:extLst>
          </p:cNvPr>
          <p:cNvSpPr>
            <a:spLocks xmlns:a="http://schemas.openxmlformats.org/drawingml/2006/main" noGrp="1"/>
          </p:cNvSpPr>
          <p:nvPr/>
        </p:nvSpPr>
        <p:spPr>
          <a:xfrm xmlns:a="http://schemas.openxmlformats.org/drawingml/2006/main">
            <a:off x="4114800" y="5362575"/>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Patient and doctor</a:t>
            </a:r>
          </a:p>
        </p:txBody>
      </p:sp>
      <p:sp>
        <p:nvSpPr>
          <p:cNvPr id="34" name="">
            <a:extLst xmlns:a="http://schemas.openxmlformats.org/drawingml/2006/main">
              <a:ext uri="{FF2B5EF4-FFF2-40B4-BE49-F238E27FC236}">
                <a16:creationId xmlns:a16="http://schemas.microsoft.com/office/drawing/2014/main" id="{08271E9B-710B-44C5-933D-C78CF6C6BF26}"/>
              </a:ext>
            </a:extLst>
          </p:cNvPr>
          <p:cNvSpPr>
            <a:spLocks xmlns:a="http://schemas.openxmlformats.org/drawingml/2006/main" noGrp="1"/>
          </p:cNvSpPr>
          <p:nvPr/>
        </p:nvSpPr>
        <p:spPr>
          <a:xfrm xmlns:a="http://schemas.openxmlformats.org/drawingml/2006/main">
            <a:off x="8134350" y="4905375"/>
            <a:ext cx="2857500" cy="847725"/>
          </a:xfrm>
          <a:prstGeom xmlns:a="http://schemas.openxmlformats.org/drawingml/2006/main" prst="roundRect">
            <a:avLst>
              <a:gd name="adj" fmla="val 15730"/>
            </a:avLst>
          </a:prstGeom>
          <a:solidFill xmlns:a="http://schemas.openxmlformats.org/drawingml/2006/main">
            <a:srgbClr val="FFFFFF"/>
          </a:solidFill>
          <a:ln xmlns:a="http://schemas.openxmlformats.org/drawingml/2006/main" w="9525">
            <a:solidFill>
              <a:srgbClr val="D2E2E9"/>
            </a:solidFill>
          </a:ln>
        </p:spPr>
      </p:sp>
      <p:sp>
        <p:nvSpPr>
          <p:cNvPr id="35" name="">
            <a:extLst xmlns:a="http://schemas.openxmlformats.org/drawingml/2006/main">
              <a:ext uri="{FF2B5EF4-FFF2-40B4-BE49-F238E27FC236}">
                <a16:creationId xmlns:a16="http://schemas.microsoft.com/office/drawing/2014/main" id="{BC34EF84-36FE-4349-8F94-1541EB5EADDE}"/>
              </a:ext>
            </a:extLst>
          </p:cNvPr>
          <p:cNvSpPr>
            <a:spLocks xmlns:a="http://schemas.openxmlformats.org/drawingml/2006/main" noGrp="1"/>
          </p:cNvSpPr>
          <p:nvPr/>
        </p:nvSpPr>
        <p:spPr>
          <a:xfrm xmlns:a="http://schemas.openxmlformats.org/drawingml/2006/main">
            <a:off x="8248650" y="5000625"/>
            <a:ext cx="2628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Audit Log</a:t>
            </a:r>
          </a:p>
        </p:txBody>
      </p:sp>
      <p:sp>
        <p:nvSpPr>
          <p:cNvPr id="36" name="">
            <a:extLst xmlns:a="http://schemas.openxmlformats.org/drawingml/2006/main">
              <a:ext uri="{FF2B5EF4-FFF2-40B4-BE49-F238E27FC236}">
                <a16:creationId xmlns:a16="http://schemas.microsoft.com/office/drawing/2014/main" id="{F8E3D5E5-B1AC-4806-82CA-FD767C27917B}"/>
              </a:ext>
            </a:extLst>
          </p:cNvPr>
          <p:cNvSpPr>
            <a:spLocks xmlns:a="http://schemas.openxmlformats.org/drawingml/2006/main" noGrp="1"/>
          </p:cNvSpPr>
          <p:nvPr/>
        </p:nvSpPr>
        <p:spPr>
          <a:xfrm xmlns:a="http://schemas.openxmlformats.org/drawingml/2006/main">
            <a:off x="8248650" y="5362575"/>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6"/>
                </a:solidFill>
                <a:latin typeface="DejaVu Sans"/>
                <a:ea typeface="DejaVu Sans"/>
                <a:cs typeface="DejaVu Sans"/>
              </a:defRPr>
            </a:pPr>
            <a:r>
              <a:rPr sz="1275" b="0">
                <a:solidFill>
                  <a:srgbClr val="526776"/>
                </a:solidFill>
                <a:latin typeface="DejaVu Sans"/>
                <a:ea typeface="DejaVu Sans"/>
                <a:cs typeface="DejaVu Sans"/>
              </a:rPr>
              <a:t>Actions and changes</a:t>
            </a:r>
          </a:p>
        </p:txBody>
      </p:sp>
      <p:sp>
        <p:nvSpPr>
          <p:cNvPr id="40" name="">
            <a:extLst xmlns:a="http://schemas.openxmlformats.org/drawingml/2006/main">
              <a:ext uri="{FF2B5EF4-FFF2-40B4-BE49-F238E27FC236}">
                <a16:creationId xmlns:a16="http://schemas.microsoft.com/office/drawing/2014/main" id="{EA1C0DCB-C42E-4393-B587-6A675AD4DD9B}"/>
              </a:ext>
            </a:extLst>
          </p:cNvPr>
          <p:cNvSpPr>
            <a:spLocks xmlns:a="http://schemas.openxmlformats.org/drawingml/2006/main" noGrp="1"/>
          </p:cNvSpPr>
          <p:nvPr/>
        </p:nvSpPr>
        <p:spPr>
          <a:xfrm xmlns:a="http://schemas.openxmlformats.org/drawingml/2006/main">
            <a:off x="609600" y="60102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Case statuses:  Submitted  →  Assigned  →  Reviewed  →  Closed</a:t>
            </a:r>
          </a:p>
        </p:txBody>
      </p:sp>
    </p:spTree>
    <p:extLst>
      <p:ext uri="{BB962C8B-B14F-4D97-AF65-F5344CB8AC3E}">
        <p14:creationId xmlns:p14="http://schemas.microsoft.com/office/powerpoint/2010/main" val="1009704430"/>
      </p:ext>
    </p:extLst>
  </p:cSld>
  <p:transition spd="fast">
    <p:fade/>
  </p:transition>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8E405DA-11AC-4EAF-BCA3-7C395B215952}"/>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Security &amp; Privacy</a:t>
            </a:r>
          </a:p>
        </p:txBody>
      </p:sp>
      <p:sp>
        <p:nvSpPr>
          <p:cNvPr id="2" name="">
            <a:extLst xmlns:a="http://schemas.openxmlformats.org/drawingml/2006/main">
              <a:ext uri="{FF2B5EF4-FFF2-40B4-BE49-F238E27FC236}">
                <a16:creationId xmlns:a16="http://schemas.microsoft.com/office/drawing/2014/main" id="{A0399A3A-9DFF-4505-887C-45A41A24BC9B}"/>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Planned controls for sensitive healthcare-related information</a:t>
            </a:r>
          </a:p>
        </p:txBody>
      </p:sp>
      <p:sp>
        <p:nvSpPr>
          <p:cNvPr id="3" name="">
            <a:extLst xmlns:a="http://schemas.openxmlformats.org/drawingml/2006/main">
              <a:ext uri="{FF2B5EF4-FFF2-40B4-BE49-F238E27FC236}">
                <a16:creationId xmlns:a16="http://schemas.microsoft.com/office/drawing/2014/main" id="{19099509-E60B-4E63-A202-7074807CDE54}"/>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9EA780EA-22A9-4FD2-873C-817B1FF873CB}"/>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12</a:t>
            </a:r>
          </a:p>
        </p:txBody>
      </p:sp>
      <p:sp>
        <p:nvSpPr>
          <p:cNvPr id="5" name="">
            <a:extLst xmlns:a="http://schemas.openxmlformats.org/drawingml/2006/main">
              <a:ext uri="{FF2B5EF4-FFF2-40B4-BE49-F238E27FC236}">
                <a16:creationId xmlns:a16="http://schemas.microsoft.com/office/drawing/2014/main" id="{D154FC1C-2CAE-474D-BCA3-3A1295BF19AA}"/>
              </a:ext>
            </a:extLst>
          </p:cNvPr>
          <p:cNvSpPr>
            <a:spLocks xmlns:a="http://schemas.openxmlformats.org/drawingml/2006/main" noGrp="1"/>
          </p:cNvSpPr>
          <p:nvPr/>
        </p:nvSpPr>
        <p:spPr>
          <a:xfrm xmlns:a="http://schemas.openxmlformats.org/drawingml/2006/main">
            <a:off x="609600" y="1857375"/>
            <a:ext cx="5286375" cy="180975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9525">
            <a:solidFill>
              <a:srgbClr val="D2E2E9"/>
            </a:solid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13736e978ad4bad">
            <a:extLst>
              <a:ext uri="{96DAC541-7B7A-43D3-8B79-37D633B846F1}">
                <asvg:svgBlip xmlns:asvg="http://schemas.microsoft.com/office/drawing/2016/SVG/main" r:embed="R7959711e943f41c5"/>
              </a:ext>
            </a:extLst>
          </a:blip>
          <a:stretch xmlns:a="http://schemas.openxmlformats.org/drawingml/2006/main"/>
        </p:blipFill>
        <p:spPr>
          <a:xfrm xmlns:a="http://schemas.openxmlformats.org/drawingml/2006/main">
            <a:off x="800100" y="2066925"/>
            <a:ext cx="342900" cy="342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B127D1F-C1BB-4AA4-A3F7-74A9029BC682}"/>
              </a:ext>
            </a:extLst>
          </p:cNvPr>
          <p:cNvSpPr>
            <a:spLocks xmlns:a="http://schemas.openxmlformats.org/drawingml/2006/main" noGrp="1"/>
          </p:cNvSpPr>
          <p:nvPr/>
        </p:nvSpPr>
        <p:spPr>
          <a:xfrm xmlns:a="http://schemas.openxmlformats.org/drawingml/2006/main">
            <a:off x="1276350" y="206692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Authentication</a:t>
            </a:r>
          </a:p>
        </p:txBody>
      </p:sp>
      <p:sp>
        <p:nvSpPr>
          <p:cNvPr id="8" name="">
            <a:extLst xmlns:a="http://schemas.openxmlformats.org/drawingml/2006/main">
              <a:ext uri="{FF2B5EF4-FFF2-40B4-BE49-F238E27FC236}">
                <a16:creationId xmlns:a16="http://schemas.microsoft.com/office/drawing/2014/main" id="{C2933AF9-F23C-4B70-A5E1-9EEAFB346189}"/>
              </a:ext>
            </a:extLst>
          </p:cNvPr>
          <p:cNvSpPr>
            <a:spLocks xmlns:a="http://schemas.openxmlformats.org/drawingml/2006/main" noGrp="1"/>
          </p:cNvSpPr>
          <p:nvPr/>
        </p:nvSpPr>
        <p:spPr>
          <a:xfrm xmlns:a="http://schemas.openxmlformats.org/drawingml/2006/main">
            <a:off x="819150" y="2647950"/>
            <a:ext cx="48672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JWT-protected APIs and hashed passwords</a:t>
            </a:r>
          </a:p>
        </p:txBody>
      </p:sp>
      <p:sp>
        <p:nvSpPr>
          <p:cNvPr id="9" name="">
            <a:extLst xmlns:a="http://schemas.openxmlformats.org/drawingml/2006/main">
              <a:ext uri="{FF2B5EF4-FFF2-40B4-BE49-F238E27FC236}">
                <a16:creationId xmlns:a16="http://schemas.microsoft.com/office/drawing/2014/main" id="{FDB66B8C-499E-4AD5-9860-BA74E37A37D1}"/>
              </a:ext>
            </a:extLst>
          </p:cNvPr>
          <p:cNvSpPr>
            <a:spLocks xmlns:a="http://schemas.openxmlformats.org/drawingml/2006/main" noGrp="1"/>
          </p:cNvSpPr>
          <p:nvPr/>
        </p:nvSpPr>
        <p:spPr>
          <a:xfrm xmlns:a="http://schemas.openxmlformats.org/drawingml/2006/main">
            <a:off x="6181725" y="1857375"/>
            <a:ext cx="5286375" cy="180975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9525">
            <a:solidFill>
              <a:srgbClr val="D2E2E9"/>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1f56b85c5aa4f4d">
            <a:extLst>
              <a:ext uri="{96DAC541-7B7A-43D3-8B79-37D633B846F1}">
                <asvg:svgBlip xmlns:asvg="http://schemas.microsoft.com/office/drawing/2016/SVG/main" r:embed="R8f2cdb45da3b4d89"/>
              </a:ext>
            </a:extLst>
          </a:blip>
          <a:stretch xmlns:a="http://schemas.openxmlformats.org/drawingml/2006/main"/>
        </p:blipFill>
        <p:spPr>
          <a:xfrm xmlns:a="http://schemas.openxmlformats.org/drawingml/2006/main">
            <a:off x="6372225" y="2066925"/>
            <a:ext cx="342900" cy="342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671E376-E38A-46D8-AEF8-D55B98F602DE}"/>
              </a:ext>
            </a:extLst>
          </p:cNvPr>
          <p:cNvSpPr>
            <a:spLocks xmlns:a="http://schemas.openxmlformats.org/drawingml/2006/main" noGrp="1"/>
          </p:cNvSpPr>
          <p:nvPr/>
        </p:nvSpPr>
        <p:spPr>
          <a:xfrm xmlns:a="http://schemas.openxmlformats.org/drawingml/2006/main">
            <a:off x="6848475" y="206692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Authorization</a:t>
            </a:r>
          </a:p>
        </p:txBody>
      </p:sp>
      <p:sp>
        <p:nvSpPr>
          <p:cNvPr id="12" name="">
            <a:extLst xmlns:a="http://schemas.openxmlformats.org/drawingml/2006/main">
              <a:ext uri="{FF2B5EF4-FFF2-40B4-BE49-F238E27FC236}">
                <a16:creationId xmlns:a16="http://schemas.microsoft.com/office/drawing/2014/main" id="{81C461E9-62E5-4AEE-9D33-9460673FCB82}"/>
              </a:ext>
            </a:extLst>
          </p:cNvPr>
          <p:cNvSpPr>
            <a:spLocks xmlns:a="http://schemas.openxmlformats.org/drawingml/2006/main" noGrp="1"/>
          </p:cNvSpPr>
          <p:nvPr/>
        </p:nvSpPr>
        <p:spPr>
          <a:xfrm xmlns:a="http://schemas.openxmlformats.org/drawingml/2006/main">
            <a:off x="6391275" y="2647950"/>
            <a:ext cx="48672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Role-based access and patient-record ownership</a:t>
            </a:r>
          </a:p>
        </p:txBody>
      </p:sp>
      <p:sp>
        <p:nvSpPr>
          <p:cNvPr id="13" name="">
            <a:extLst xmlns:a="http://schemas.openxmlformats.org/drawingml/2006/main">
              <a:ext uri="{FF2B5EF4-FFF2-40B4-BE49-F238E27FC236}">
                <a16:creationId xmlns:a16="http://schemas.microsoft.com/office/drawing/2014/main" id="{D8C4599D-F11C-46B1-BCA5-D67E76C28A24}"/>
              </a:ext>
            </a:extLst>
          </p:cNvPr>
          <p:cNvSpPr>
            <a:spLocks xmlns:a="http://schemas.openxmlformats.org/drawingml/2006/main" noGrp="1"/>
          </p:cNvSpPr>
          <p:nvPr/>
        </p:nvSpPr>
        <p:spPr>
          <a:xfrm xmlns:a="http://schemas.openxmlformats.org/drawingml/2006/main">
            <a:off x="609600" y="3905250"/>
            <a:ext cx="5286375" cy="180975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9525">
            <a:solidFill>
              <a:srgbClr val="D2E2E9"/>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5e95aaaa1c742b6">
            <a:extLst>
              <a:ext uri="{96DAC541-7B7A-43D3-8B79-37D633B846F1}">
                <asvg:svgBlip xmlns:asvg="http://schemas.microsoft.com/office/drawing/2016/SVG/main" r:embed="Rbc0063c9cc9e49e1"/>
              </a:ext>
            </a:extLst>
          </a:blip>
          <a:stretch xmlns:a="http://schemas.openxmlformats.org/drawingml/2006/main"/>
        </p:blipFill>
        <p:spPr>
          <a:xfrm xmlns:a="http://schemas.openxmlformats.org/drawingml/2006/main">
            <a:off x="800100" y="4114800"/>
            <a:ext cx="342900" cy="3429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25C452C-62C1-4CD8-8157-EB3F776939C7}"/>
              </a:ext>
            </a:extLst>
          </p:cNvPr>
          <p:cNvSpPr>
            <a:spLocks xmlns:a="http://schemas.openxmlformats.org/drawingml/2006/main" noGrp="1"/>
          </p:cNvSpPr>
          <p:nvPr/>
        </p:nvSpPr>
        <p:spPr>
          <a:xfrm xmlns:a="http://schemas.openxmlformats.org/drawingml/2006/main">
            <a:off x="1276350" y="41148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Reports &amp; validation</a:t>
            </a:r>
          </a:p>
        </p:txBody>
      </p:sp>
      <p:sp>
        <p:nvSpPr>
          <p:cNvPr id="16" name="">
            <a:extLst xmlns:a="http://schemas.openxmlformats.org/drawingml/2006/main">
              <a:ext uri="{FF2B5EF4-FFF2-40B4-BE49-F238E27FC236}">
                <a16:creationId xmlns:a16="http://schemas.microsoft.com/office/drawing/2014/main" id="{F0D49E80-4FDB-41FF-8E87-4264639E0AFB}"/>
              </a:ext>
            </a:extLst>
          </p:cNvPr>
          <p:cNvSpPr>
            <a:spLocks xmlns:a="http://schemas.openxmlformats.org/drawingml/2006/main" noGrp="1"/>
          </p:cNvSpPr>
          <p:nvPr/>
        </p:nvSpPr>
        <p:spPr>
          <a:xfrm xmlns:a="http://schemas.openxmlformats.org/drawingml/2006/main">
            <a:off x="819150" y="4695825"/>
            <a:ext cx="48672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Controlled file access and validated inputs</a:t>
            </a:r>
          </a:p>
        </p:txBody>
      </p:sp>
      <p:sp>
        <p:nvSpPr>
          <p:cNvPr id="17" name="">
            <a:extLst xmlns:a="http://schemas.openxmlformats.org/drawingml/2006/main">
              <a:ext uri="{FF2B5EF4-FFF2-40B4-BE49-F238E27FC236}">
                <a16:creationId xmlns:a16="http://schemas.microsoft.com/office/drawing/2014/main" id="{84C1B444-F2F2-447C-9152-8E4E65F63935}"/>
              </a:ext>
            </a:extLst>
          </p:cNvPr>
          <p:cNvSpPr>
            <a:spLocks xmlns:a="http://schemas.openxmlformats.org/drawingml/2006/main" noGrp="1"/>
          </p:cNvSpPr>
          <p:nvPr/>
        </p:nvSpPr>
        <p:spPr>
          <a:xfrm xmlns:a="http://schemas.openxmlformats.org/drawingml/2006/main">
            <a:off x="6181725" y="3905250"/>
            <a:ext cx="5286375" cy="180975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9525">
            <a:solidFill>
              <a:srgbClr val="D2E2E9"/>
            </a:solid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71afa179b6949bb">
            <a:extLst>
              <a:ext uri="{96DAC541-7B7A-43D3-8B79-37D633B846F1}">
                <asvg:svgBlip xmlns:asvg="http://schemas.microsoft.com/office/drawing/2016/SVG/main" r:embed="R70b39fdb90254936"/>
              </a:ext>
            </a:extLst>
          </a:blip>
          <a:stretch xmlns:a="http://schemas.openxmlformats.org/drawingml/2006/main"/>
        </p:blipFill>
        <p:spPr>
          <a:xfrm xmlns:a="http://schemas.openxmlformats.org/drawingml/2006/main">
            <a:off x="6372225" y="4114800"/>
            <a:ext cx="342900" cy="3429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D3BE56A8-B047-426A-840F-CFB0F9479E6B}"/>
              </a:ext>
            </a:extLst>
          </p:cNvPr>
          <p:cNvSpPr>
            <a:spLocks xmlns:a="http://schemas.openxmlformats.org/drawingml/2006/main" noGrp="1"/>
          </p:cNvSpPr>
          <p:nvPr/>
        </p:nvSpPr>
        <p:spPr>
          <a:xfrm xmlns:a="http://schemas.openxmlformats.org/drawingml/2006/main">
            <a:off x="6848475" y="41148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Accountability</a:t>
            </a:r>
          </a:p>
        </p:txBody>
      </p:sp>
      <p:sp>
        <p:nvSpPr>
          <p:cNvPr id="20" name="">
            <a:extLst xmlns:a="http://schemas.openxmlformats.org/drawingml/2006/main">
              <a:ext uri="{FF2B5EF4-FFF2-40B4-BE49-F238E27FC236}">
                <a16:creationId xmlns:a16="http://schemas.microsoft.com/office/drawing/2014/main" id="{966AA781-938B-4B5F-BA84-ED363C7CBCF4}"/>
              </a:ext>
            </a:extLst>
          </p:cNvPr>
          <p:cNvSpPr>
            <a:spLocks xmlns:a="http://schemas.openxmlformats.org/drawingml/2006/main" noGrp="1"/>
          </p:cNvSpPr>
          <p:nvPr/>
        </p:nvSpPr>
        <p:spPr>
          <a:xfrm xmlns:a="http://schemas.openxmlformats.org/drawingml/2006/main">
            <a:off x="6391275" y="4695825"/>
            <a:ext cx="48672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6"/>
                </a:solidFill>
                <a:latin typeface="DejaVu Sans"/>
                <a:ea typeface="DejaVu Sans"/>
                <a:cs typeface="DejaVu Sans"/>
              </a:defRPr>
            </a:pPr>
            <a:r>
              <a:rPr sz="1650" b="0">
                <a:solidFill>
                  <a:srgbClr val="526776"/>
                </a:solidFill>
                <a:latin typeface="DejaVu Sans"/>
                <a:ea typeface="DejaVu Sans"/>
                <a:cs typeface="DejaVu Sans"/>
              </a:rPr>
              <a:t>Audit logs and separate AI / doctor records</a:t>
            </a:r>
          </a:p>
        </p:txBody>
      </p:sp>
      <p:sp>
        <p:nvSpPr>
          <p:cNvPr id="21" name="">
            <a:extLst xmlns:a="http://schemas.openxmlformats.org/drawingml/2006/main">
              <a:ext uri="{FF2B5EF4-FFF2-40B4-BE49-F238E27FC236}">
                <a16:creationId xmlns:a16="http://schemas.microsoft.com/office/drawing/2014/main" id="{4F3EAC3E-0529-4C9F-840C-796F27FE455D}"/>
              </a:ext>
            </a:extLst>
          </p:cNvPr>
          <p:cNvSpPr>
            <a:spLocks xmlns:a="http://schemas.openxmlformats.org/drawingml/2006/main" noGrp="1"/>
          </p:cNvSpPr>
          <p:nvPr/>
        </p:nvSpPr>
        <p:spPr>
          <a:xfrm xmlns:a="http://schemas.openxmlformats.org/drawingml/2006/main">
            <a:off x="609600" y="60674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Academic prototype. No clinical or regulatory compliance is claimed.</a:t>
            </a:r>
          </a:p>
        </p:txBody>
      </p:sp>
    </p:spTree>
    <p:extLst>
      <p:ext uri="{BB962C8B-B14F-4D97-AF65-F5344CB8AC3E}">
        <p14:creationId xmlns:p14="http://schemas.microsoft.com/office/powerpoint/2010/main" val="187538466"/>
      </p:ext>
    </p:extLst>
  </p:cSld>
  <p:transition spd="fast">
    <p:fade/>
  </p:transition>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C814E09-5778-4657-8366-86844F966594}"/>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Testing / Evaluation Plan</a:t>
            </a:r>
          </a:p>
        </p:txBody>
      </p:sp>
      <p:sp>
        <p:nvSpPr>
          <p:cNvPr id="2" name="">
            <a:extLst xmlns:a="http://schemas.openxmlformats.org/drawingml/2006/main">
              <a:ext uri="{FF2B5EF4-FFF2-40B4-BE49-F238E27FC236}">
                <a16:creationId xmlns:a16="http://schemas.microsoft.com/office/drawing/2014/main" id="{80A201B2-74B8-46EE-A2C4-00C2574404A3}"/>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Planned Evaluation • Results will follow implementation and experimentation</a:t>
            </a:r>
          </a:p>
        </p:txBody>
      </p:sp>
      <p:sp>
        <p:nvSpPr>
          <p:cNvPr id="3" name="">
            <a:extLst xmlns:a="http://schemas.openxmlformats.org/drawingml/2006/main">
              <a:ext uri="{FF2B5EF4-FFF2-40B4-BE49-F238E27FC236}">
                <a16:creationId xmlns:a16="http://schemas.microsoft.com/office/drawing/2014/main" id="{8D5AB72D-E6CB-44BC-9425-734EC7361A5B}"/>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B562301D-2D2A-49CC-8F46-CE5BE846F39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13</a:t>
            </a:r>
          </a:p>
        </p:txBody>
      </p:sp>
      <p:sp>
        <p:nvSpPr>
          <p:cNvPr id="5" name="">
            <a:extLst xmlns:a="http://schemas.openxmlformats.org/drawingml/2006/main">
              <a:ext uri="{FF2B5EF4-FFF2-40B4-BE49-F238E27FC236}">
                <a16:creationId xmlns:a16="http://schemas.microsoft.com/office/drawing/2014/main" id="{7DF15C6D-911D-4700-B883-D63A1A072930}"/>
              </a:ext>
            </a:extLst>
          </p:cNvPr>
          <p:cNvSpPr>
            <a:spLocks xmlns:a="http://schemas.openxmlformats.org/drawingml/2006/main" noGrp="1"/>
          </p:cNvSpPr>
          <p:nvPr/>
        </p:nvSpPr>
        <p:spPr>
          <a:xfrm xmlns:a="http://schemas.openxmlformats.org/drawingml/2006/main">
            <a:off x="609600" y="185737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ML MODEL EVALUATION</a:t>
            </a:r>
          </a:p>
        </p:txBody>
      </p:sp>
      <p:sp>
        <p:nvSpPr>
          <p:cNvPr id="6" name="">
            <a:extLst xmlns:a="http://schemas.openxmlformats.org/drawingml/2006/main">
              <a:ext uri="{FF2B5EF4-FFF2-40B4-BE49-F238E27FC236}">
                <a16:creationId xmlns:a16="http://schemas.microsoft.com/office/drawing/2014/main" id="{7986ED9D-4DA9-4791-AB31-73D9B144C360}"/>
              </a:ext>
            </a:extLst>
          </p:cNvPr>
          <p:cNvSpPr>
            <a:spLocks xmlns:a="http://schemas.openxmlformats.org/drawingml/2006/main" noGrp="1"/>
          </p:cNvSpPr>
          <p:nvPr/>
        </p:nvSpPr>
        <p:spPr>
          <a:xfrm xmlns:a="http://schemas.openxmlformats.org/drawingml/2006/main">
            <a:off x="609600" y="2447925"/>
            <a:ext cx="2324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Accuracy</a:t>
            </a:r>
          </a:p>
        </p:txBody>
      </p:sp>
      <p:sp>
        <p:nvSpPr>
          <p:cNvPr id="7" name="">
            <a:extLst xmlns:a="http://schemas.openxmlformats.org/drawingml/2006/main">
              <a:ext uri="{FF2B5EF4-FFF2-40B4-BE49-F238E27FC236}">
                <a16:creationId xmlns:a16="http://schemas.microsoft.com/office/drawing/2014/main" id="{B9B36D8F-37E7-443E-8644-9E8E80B44E1A}"/>
              </a:ext>
            </a:extLst>
          </p:cNvPr>
          <p:cNvSpPr>
            <a:spLocks xmlns:a="http://schemas.openxmlformats.org/drawingml/2006/main" noGrp="1"/>
          </p:cNvSpPr>
          <p:nvPr/>
        </p:nvSpPr>
        <p:spPr>
          <a:xfrm xmlns:a="http://schemas.openxmlformats.org/drawingml/2006/main">
            <a:off x="2962275" y="24479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Overall correctness</a:t>
            </a:r>
          </a:p>
        </p:txBody>
      </p:sp>
      <p:sp>
        <p:nvSpPr>
          <p:cNvPr id="8" name="">
            <a:extLst xmlns:a="http://schemas.openxmlformats.org/drawingml/2006/main">
              <a:ext uri="{FF2B5EF4-FFF2-40B4-BE49-F238E27FC236}">
                <a16:creationId xmlns:a16="http://schemas.microsoft.com/office/drawing/2014/main" id="{D721E777-2076-45F7-844F-B04284A335C0}"/>
              </a:ext>
            </a:extLst>
          </p:cNvPr>
          <p:cNvSpPr>
            <a:spLocks xmlns:a="http://schemas.openxmlformats.org/drawingml/2006/main" noGrp="1"/>
          </p:cNvSpPr>
          <p:nvPr/>
        </p:nvSpPr>
        <p:spPr>
          <a:xfrm xmlns:a="http://schemas.openxmlformats.org/drawingml/2006/main">
            <a:off x="609600" y="3076575"/>
            <a:ext cx="2324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Precision</a:t>
            </a:r>
          </a:p>
        </p:txBody>
      </p:sp>
      <p:sp>
        <p:nvSpPr>
          <p:cNvPr id="9" name="">
            <a:extLst xmlns:a="http://schemas.openxmlformats.org/drawingml/2006/main">
              <a:ext uri="{FF2B5EF4-FFF2-40B4-BE49-F238E27FC236}">
                <a16:creationId xmlns:a16="http://schemas.microsoft.com/office/drawing/2014/main" id="{00FCFECC-1E00-4F33-A831-5365C34820DC}"/>
              </a:ext>
            </a:extLst>
          </p:cNvPr>
          <p:cNvSpPr>
            <a:spLocks xmlns:a="http://schemas.openxmlformats.org/drawingml/2006/main" noGrp="1"/>
          </p:cNvSpPr>
          <p:nvPr/>
        </p:nvSpPr>
        <p:spPr>
          <a:xfrm xmlns:a="http://schemas.openxmlformats.org/drawingml/2006/main">
            <a:off x="2962275" y="30765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Reliability of predicted categories</a:t>
            </a:r>
          </a:p>
        </p:txBody>
      </p:sp>
      <p:sp>
        <p:nvSpPr>
          <p:cNvPr id="10" name="">
            <a:extLst xmlns:a="http://schemas.openxmlformats.org/drawingml/2006/main">
              <a:ext uri="{FF2B5EF4-FFF2-40B4-BE49-F238E27FC236}">
                <a16:creationId xmlns:a16="http://schemas.microsoft.com/office/drawing/2014/main" id="{9E95B613-2775-48C8-85D8-8567D1244BE9}"/>
              </a:ext>
            </a:extLst>
          </p:cNvPr>
          <p:cNvSpPr>
            <a:spLocks xmlns:a="http://schemas.openxmlformats.org/drawingml/2006/main" noGrp="1"/>
          </p:cNvSpPr>
          <p:nvPr/>
        </p:nvSpPr>
        <p:spPr>
          <a:xfrm xmlns:a="http://schemas.openxmlformats.org/drawingml/2006/main">
            <a:off x="609600" y="3705225"/>
            <a:ext cx="2324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Recall</a:t>
            </a:r>
          </a:p>
        </p:txBody>
      </p:sp>
      <p:sp>
        <p:nvSpPr>
          <p:cNvPr id="11" name="">
            <a:extLst xmlns:a="http://schemas.openxmlformats.org/drawingml/2006/main">
              <a:ext uri="{FF2B5EF4-FFF2-40B4-BE49-F238E27FC236}">
                <a16:creationId xmlns:a16="http://schemas.microsoft.com/office/drawing/2014/main" id="{83F5BF34-8064-4B8D-9320-D0DFB3D729FD}"/>
              </a:ext>
            </a:extLst>
          </p:cNvPr>
          <p:cNvSpPr>
            <a:spLocks xmlns:a="http://schemas.openxmlformats.org/drawingml/2006/main" noGrp="1"/>
          </p:cNvSpPr>
          <p:nvPr/>
        </p:nvSpPr>
        <p:spPr>
          <a:xfrm xmlns:a="http://schemas.openxmlformats.org/drawingml/2006/main">
            <a:off x="2962275" y="37052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Detection of actual category members</a:t>
            </a:r>
          </a:p>
        </p:txBody>
      </p:sp>
      <p:sp>
        <p:nvSpPr>
          <p:cNvPr id="12" name="">
            <a:extLst xmlns:a="http://schemas.openxmlformats.org/drawingml/2006/main">
              <a:ext uri="{FF2B5EF4-FFF2-40B4-BE49-F238E27FC236}">
                <a16:creationId xmlns:a16="http://schemas.microsoft.com/office/drawing/2014/main" id="{5891D346-BE29-488D-AAC8-0B5369D2CF26}"/>
              </a:ext>
            </a:extLst>
          </p:cNvPr>
          <p:cNvSpPr>
            <a:spLocks xmlns:a="http://schemas.openxmlformats.org/drawingml/2006/main" noGrp="1"/>
          </p:cNvSpPr>
          <p:nvPr/>
        </p:nvSpPr>
        <p:spPr>
          <a:xfrm xmlns:a="http://schemas.openxmlformats.org/drawingml/2006/main">
            <a:off x="609600" y="4333875"/>
            <a:ext cx="2324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F1 Score</a:t>
            </a:r>
          </a:p>
        </p:txBody>
      </p:sp>
      <p:sp>
        <p:nvSpPr>
          <p:cNvPr id="13" name="">
            <a:extLst xmlns:a="http://schemas.openxmlformats.org/drawingml/2006/main">
              <a:ext uri="{FF2B5EF4-FFF2-40B4-BE49-F238E27FC236}">
                <a16:creationId xmlns:a16="http://schemas.microsoft.com/office/drawing/2014/main" id="{E1F5E088-B30D-4A2D-BE8E-C5DB6D227CB3}"/>
              </a:ext>
            </a:extLst>
          </p:cNvPr>
          <p:cNvSpPr>
            <a:spLocks xmlns:a="http://schemas.openxmlformats.org/drawingml/2006/main" noGrp="1"/>
          </p:cNvSpPr>
          <p:nvPr/>
        </p:nvSpPr>
        <p:spPr>
          <a:xfrm xmlns:a="http://schemas.openxmlformats.org/drawingml/2006/main">
            <a:off x="2962275" y="43338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Balance of precision and recall</a:t>
            </a:r>
          </a:p>
        </p:txBody>
      </p:sp>
      <p:sp>
        <p:nvSpPr>
          <p:cNvPr id="14" name="">
            <a:extLst xmlns:a="http://schemas.openxmlformats.org/drawingml/2006/main">
              <a:ext uri="{FF2B5EF4-FFF2-40B4-BE49-F238E27FC236}">
                <a16:creationId xmlns:a16="http://schemas.microsoft.com/office/drawing/2014/main" id="{FEF34D85-3261-4622-9FA2-DCD9124C47FC}"/>
              </a:ext>
            </a:extLst>
          </p:cNvPr>
          <p:cNvSpPr>
            <a:spLocks xmlns:a="http://schemas.openxmlformats.org/drawingml/2006/main" noGrp="1"/>
          </p:cNvSpPr>
          <p:nvPr/>
        </p:nvSpPr>
        <p:spPr>
          <a:xfrm xmlns:a="http://schemas.openxmlformats.org/drawingml/2006/main">
            <a:off x="609600" y="4962525"/>
            <a:ext cx="2324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Confusion Matrix</a:t>
            </a:r>
          </a:p>
        </p:txBody>
      </p:sp>
      <p:sp>
        <p:nvSpPr>
          <p:cNvPr id="15" name="">
            <a:extLst xmlns:a="http://schemas.openxmlformats.org/drawingml/2006/main">
              <a:ext uri="{FF2B5EF4-FFF2-40B4-BE49-F238E27FC236}">
                <a16:creationId xmlns:a16="http://schemas.microsoft.com/office/drawing/2014/main" id="{C2FD70F5-B298-4C96-B35A-40C0162D0511}"/>
              </a:ext>
            </a:extLst>
          </p:cNvPr>
          <p:cNvSpPr>
            <a:spLocks xmlns:a="http://schemas.openxmlformats.org/drawingml/2006/main" noGrp="1"/>
          </p:cNvSpPr>
          <p:nvPr/>
        </p:nvSpPr>
        <p:spPr>
          <a:xfrm xmlns:a="http://schemas.openxmlformats.org/drawingml/2006/main">
            <a:off x="2962275" y="49625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Errors across the three categories</a:t>
            </a:r>
          </a:p>
        </p:txBody>
      </p:sp>
      <p:sp>
        <p:nvSpPr>
          <p:cNvPr id="16" name="">
            <a:extLst xmlns:a="http://schemas.openxmlformats.org/drawingml/2006/main">
              <a:ext uri="{FF2B5EF4-FFF2-40B4-BE49-F238E27FC236}">
                <a16:creationId xmlns:a16="http://schemas.microsoft.com/office/drawing/2014/main" id="{3B471ED6-89AD-41FF-823F-4DB7C4F452E9}"/>
              </a:ext>
            </a:extLst>
          </p:cNvPr>
          <p:cNvSpPr>
            <a:spLocks xmlns:a="http://schemas.openxmlformats.org/drawingml/2006/main" noGrp="1"/>
          </p:cNvSpPr>
          <p:nvPr/>
        </p:nvSpPr>
        <p:spPr>
          <a:xfrm xmlns:a="http://schemas.openxmlformats.org/drawingml/2006/main">
            <a:off x="7200900" y="1857375"/>
            <a:ext cx="432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APPLICATION TESTING</a:t>
            </a:r>
          </a:p>
        </p:txBody>
      </p:sp>
      <p:sp>
        <p:nvSpPr>
          <p:cNvPr id="17" name="">
            <a:extLst xmlns:a="http://schemas.openxmlformats.org/drawingml/2006/main">
              <a:ext uri="{FF2B5EF4-FFF2-40B4-BE49-F238E27FC236}">
                <a16:creationId xmlns:a16="http://schemas.microsoft.com/office/drawing/2014/main" id="{15DCEAAC-E7F4-4297-B103-AEB2A642F3C1}"/>
              </a:ext>
            </a:extLst>
          </p:cNvPr>
          <p:cNvSpPr>
            <a:spLocks xmlns:a="http://schemas.openxmlformats.org/drawingml/2006/main" noGrp="1"/>
          </p:cNvSpPr>
          <p:nvPr/>
        </p:nvSpPr>
        <p:spPr>
          <a:xfrm xmlns:a="http://schemas.openxmlformats.org/drawingml/2006/main">
            <a:off x="7200900" y="248602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API testing with Postman</a:t>
            </a:r>
          </a:p>
        </p:txBody>
      </p:sp>
      <p:sp>
        <p:nvSpPr>
          <p:cNvPr id="18" name="">
            <a:extLst xmlns:a="http://schemas.openxmlformats.org/drawingml/2006/main">
              <a:ext uri="{FF2B5EF4-FFF2-40B4-BE49-F238E27FC236}">
                <a16:creationId xmlns:a16="http://schemas.microsoft.com/office/drawing/2014/main" id="{7086BA81-4D4D-42BA-A2A2-337A9A9E763A}"/>
              </a:ext>
            </a:extLst>
          </p:cNvPr>
          <p:cNvSpPr>
            <a:spLocks xmlns:a="http://schemas.openxmlformats.org/drawingml/2006/main" noGrp="1"/>
          </p:cNvSpPr>
          <p:nvPr/>
        </p:nvSpPr>
        <p:spPr>
          <a:xfrm xmlns:a="http://schemas.openxmlformats.org/drawingml/2006/main">
            <a:off x="7200900" y="300037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Authentication testing</a:t>
            </a:r>
          </a:p>
        </p:txBody>
      </p:sp>
      <p:sp>
        <p:nvSpPr>
          <p:cNvPr id="19" name="">
            <a:extLst xmlns:a="http://schemas.openxmlformats.org/drawingml/2006/main">
              <a:ext uri="{FF2B5EF4-FFF2-40B4-BE49-F238E27FC236}">
                <a16:creationId xmlns:a16="http://schemas.microsoft.com/office/drawing/2014/main" id="{4CE982DC-CF31-457D-AC84-12897CED9E2D}"/>
              </a:ext>
            </a:extLst>
          </p:cNvPr>
          <p:cNvSpPr>
            <a:spLocks xmlns:a="http://schemas.openxmlformats.org/drawingml/2006/main" noGrp="1"/>
          </p:cNvSpPr>
          <p:nvPr/>
        </p:nvSpPr>
        <p:spPr>
          <a:xfrm xmlns:a="http://schemas.openxmlformats.org/drawingml/2006/main">
            <a:off x="7200900" y="351472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Role / access testing</a:t>
            </a:r>
          </a:p>
        </p:txBody>
      </p:sp>
      <p:sp>
        <p:nvSpPr>
          <p:cNvPr id="20" name="">
            <a:extLst xmlns:a="http://schemas.openxmlformats.org/drawingml/2006/main">
              <a:ext uri="{FF2B5EF4-FFF2-40B4-BE49-F238E27FC236}">
                <a16:creationId xmlns:a16="http://schemas.microsoft.com/office/drawing/2014/main" id="{07FECEDD-B35C-41B7-B47A-A2521DFBBB8A}"/>
              </a:ext>
            </a:extLst>
          </p:cNvPr>
          <p:cNvSpPr>
            <a:spLocks xmlns:a="http://schemas.openxmlformats.org/drawingml/2006/main" noGrp="1"/>
          </p:cNvSpPr>
          <p:nvPr/>
        </p:nvSpPr>
        <p:spPr>
          <a:xfrm xmlns:a="http://schemas.openxmlformats.org/drawingml/2006/main">
            <a:off x="7200900" y="402907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Form validation</a:t>
            </a:r>
          </a:p>
        </p:txBody>
      </p:sp>
      <p:sp>
        <p:nvSpPr>
          <p:cNvPr id="21" name="">
            <a:extLst xmlns:a="http://schemas.openxmlformats.org/drawingml/2006/main">
              <a:ext uri="{FF2B5EF4-FFF2-40B4-BE49-F238E27FC236}">
                <a16:creationId xmlns:a16="http://schemas.microsoft.com/office/drawing/2014/main" id="{457333E4-AD36-4510-9C9B-9CF7300A8748}"/>
              </a:ext>
            </a:extLst>
          </p:cNvPr>
          <p:cNvSpPr>
            <a:spLocks xmlns:a="http://schemas.openxmlformats.org/drawingml/2006/main" noGrp="1"/>
          </p:cNvSpPr>
          <p:nvPr/>
        </p:nvSpPr>
        <p:spPr>
          <a:xfrm xmlns:a="http://schemas.openxmlformats.org/drawingml/2006/main">
            <a:off x="7200900" y="454342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Database testing</a:t>
            </a:r>
          </a:p>
        </p:txBody>
      </p:sp>
      <p:sp>
        <p:nvSpPr>
          <p:cNvPr id="22" name="">
            <a:extLst xmlns:a="http://schemas.openxmlformats.org/drawingml/2006/main">
              <a:ext uri="{FF2B5EF4-FFF2-40B4-BE49-F238E27FC236}">
                <a16:creationId xmlns:a16="http://schemas.microsoft.com/office/drawing/2014/main" id="{89300D0F-7881-429D-BB42-CABFA24FC180}"/>
              </a:ext>
            </a:extLst>
          </p:cNvPr>
          <p:cNvSpPr>
            <a:spLocks xmlns:a="http://schemas.openxmlformats.org/drawingml/2006/main" noGrp="1"/>
          </p:cNvSpPr>
          <p:nvPr/>
        </p:nvSpPr>
        <p:spPr>
          <a:xfrm xmlns:a="http://schemas.openxmlformats.org/drawingml/2006/main">
            <a:off x="7200900" y="505777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End-to-end workflow testing</a:t>
            </a:r>
          </a:p>
        </p:txBody>
      </p:sp>
    </p:spTree>
    <p:extLst>
      <p:ext uri="{BB962C8B-B14F-4D97-AF65-F5344CB8AC3E}">
        <p14:creationId xmlns:p14="http://schemas.microsoft.com/office/powerpoint/2010/main" val="112118371"/>
      </p:ext>
    </p:extLst>
  </p:cSld>
  <p:transition spd="fast">
    <p:fade/>
  </p:transition>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3A90AF-F588-4BEC-AAB9-EF6D4E188958}"/>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Applications &amp; Future Scope</a:t>
            </a:r>
          </a:p>
        </p:txBody>
      </p:sp>
      <p:sp>
        <p:nvSpPr>
          <p:cNvPr id="2" name="">
            <a:extLst xmlns:a="http://schemas.openxmlformats.org/drawingml/2006/main">
              <a:ext uri="{FF2B5EF4-FFF2-40B4-BE49-F238E27FC236}">
                <a16:creationId xmlns:a16="http://schemas.microsoft.com/office/drawing/2014/main" id="{838F50DB-9671-4AC2-B0F4-812BD6E1AAD9}"/>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Potential settings and extensions beyond the initial academic prototype</a:t>
            </a:r>
          </a:p>
        </p:txBody>
      </p:sp>
      <p:sp>
        <p:nvSpPr>
          <p:cNvPr id="3" name="">
            <a:extLst xmlns:a="http://schemas.openxmlformats.org/drawingml/2006/main">
              <a:ext uri="{FF2B5EF4-FFF2-40B4-BE49-F238E27FC236}">
                <a16:creationId xmlns:a16="http://schemas.microsoft.com/office/drawing/2014/main" id="{4414D5AE-3A5A-452C-9418-97EF7BA643DA}"/>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0FE16A27-65AB-47A5-BB54-DDC67907779C}"/>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14</a:t>
            </a:r>
          </a:p>
        </p:txBody>
      </p:sp>
      <p:sp>
        <p:nvSpPr>
          <p:cNvPr id="5" name="">
            <a:extLst xmlns:a="http://schemas.openxmlformats.org/drawingml/2006/main">
              <a:ext uri="{FF2B5EF4-FFF2-40B4-BE49-F238E27FC236}">
                <a16:creationId xmlns:a16="http://schemas.microsoft.com/office/drawing/2014/main" id="{2137DB08-91FC-419E-AE98-AA02149AE322}"/>
              </a:ext>
            </a:extLst>
          </p:cNvPr>
          <p:cNvSpPr>
            <a:spLocks xmlns:a="http://schemas.openxmlformats.org/drawingml/2006/main" noGrp="1"/>
          </p:cNvSpPr>
          <p:nvPr/>
        </p:nvSpPr>
        <p:spPr>
          <a:xfrm xmlns:a="http://schemas.openxmlformats.org/drawingml/2006/main">
            <a:off x="609600" y="18383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POTENTIAL APPLICATIONS</a:t>
            </a:r>
          </a:p>
        </p:txBody>
      </p:sp>
      <p:sp>
        <p:nvSpPr>
          <p:cNvPr id="6" name="">
            <a:extLst xmlns:a="http://schemas.openxmlformats.org/drawingml/2006/main">
              <a:ext uri="{FF2B5EF4-FFF2-40B4-BE49-F238E27FC236}">
                <a16:creationId xmlns:a16="http://schemas.microsoft.com/office/drawing/2014/main" id="{B8E347D6-1638-403C-A417-97F18F37DFDD}"/>
              </a:ext>
            </a:extLst>
          </p:cNvPr>
          <p:cNvSpPr>
            <a:spLocks xmlns:a="http://schemas.openxmlformats.org/drawingml/2006/main" noGrp="1"/>
          </p:cNvSpPr>
          <p:nvPr/>
        </p:nvSpPr>
        <p:spPr>
          <a:xfrm xmlns:a="http://schemas.openxmlformats.org/drawingml/2006/main">
            <a:off x="609600" y="2476500"/>
            <a:ext cx="4019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A"/>
                </a:solidFill>
                <a:latin typeface="DejaVu Sans"/>
                <a:ea typeface="DejaVu Sans"/>
                <a:cs typeface="DejaVu Sans"/>
              </a:defRPr>
            </a:pPr>
            <a:r>
              <a:rPr sz="1950" b="0">
                <a:solidFill>
                  <a:srgbClr val="15344A"/>
                </a:solidFill>
                <a:latin typeface="DejaVu Sans"/>
                <a:ea typeface="DejaVu Sans"/>
                <a:cs typeface="DejaVu Sans"/>
              </a:rPr>
              <a:t>Clinics</a:t>
            </a:r>
          </a:p>
        </p:txBody>
      </p:sp>
      <p:sp>
        <p:nvSpPr>
          <p:cNvPr id="7" name="">
            <a:extLst xmlns:a="http://schemas.openxmlformats.org/drawingml/2006/main">
              <a:ext uri="{FF2B5EF4-FFF2-40B4-BE49-F238E27FC236}">
                <a16:creationId xmlns:a16="http://schemas.microsoft.com/office/drawing/2014/main" id="{E1597C47-EF6D-44F1-8584-468E1CD771BA}"/>
              </a:ext>
            </a:extLst>
          </p:cNvPr>
          <p:cNvSpPr>
            <a:spLocks xmlns:a="http://schemas.openxmlformats.org/drawingml/2006/main" noGrp="1"/>
          </p:cNvSpPr>
          <p:nvPr/>
        </p:nvSpPr>
        <p:spPr>
          <a:xfrm xmlns:a="http://schemas.openxmlformats.org/drawingml/2006/main">
            <a:off x="609600" y="3076575"/>
            <a:ext cx="4019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A"/>
                </a:solidFill>
                <a:latin typeface="DejaVu Sans"/>
                <a:ea typeface="DejaVu Sans"/>
                <a:cs typeface="DejaVu Sans"/>
              </a:defRPr>
            </a:pPr>
            <a:r>
              <a:rPr sz="1950" b="0">
                <a:solidFill>
                  <a:srgbClr val="15344A"/>
                </a:solidFill>
                <a:latin typeface="DejaVu Sans"/>
                <a:ea typeface="DejaVu Sans"/>
                <a:cs typeface="DejaVu Sans"/>
              </a:rPr>
              <a:t>Hospitals</a:t>
            </a:r>
          </a:p>
        </p:txBody>
      </p:sp>
      <p:sp>
        <p:nvSpPr>
          <p:cNvPr id="8" name="">
            <a:extLst xmlns:a="http://schemas.openxmlformats.org/drawingml/2006/main">
              <a:ext uri="{FF2B5EF4-FFF2-40B4-BE49-F238E27FC236}">
                <a16:creationId xmlns:a16="http://schemas.microsoft.com/office/drawing/2014/main" id="{4ADFD486-CD97-4470-BC28-0DD05726B697}"/>
              </a:ext>
            </a:extLst>
          </p:cNvPr>
          <p:cNvSpPr>
            <a:spLocks xmlns:a="http://schemas.openxmlformats.org/drawingml/2006/main" noGrp="1"/>
          </p:cNvSpPr>
          <p:nvPr/>
        </p:nvSpPr>
        <p:spPr>
          <a:xfrm xmlns:a="http://schemas.openxmlformats.org/drawingml/2006/main">
            <a:off x="609600" y="3676650"/>
            <a:ext cx="4019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A"/>
                </a:solidFill>
                <a:latin typeface="DejaVu Sans"/>
                <a:ea typeface="DejaVu Sans"/>
                <a:cs typeface="DejaVu Sans"/>
              </a:defRPr>
            </a:pPr>
            <a:r>
              <a:rPr sz="1950" b="0">
                <a:solidFill>
                  <a:srgbClr val="15344A"/>
                </a:solidFill>
                <a:latin typeface="DejaVu Sans"/>
                <a:ea typeface="DejaVu Sans"/>
                <a:cs typeface="DejaVu Sans"/>
              </a:rPr>
              <a:t>Telemedicine platforms</a:t>
            </a:r>
          </a:p>
        </p:txBody>
      </p:sp>
      <p:sp>
        <p:nvSpPr>
          <p:cNvPr id="9" name="">
            <a:extLst xmlns:a="http://schemas.openxmlformats.org/drawingml/2006/main">
              <a:ext uri="{FF2B5EF4-FFF2-40B4-BE49-F238E27FC236}">
                <a16:creationId xmlns:a16="http://schemas.microsoft.com/office/drawing/2014/main" id="{7F5E2D5D-4654-4B36-A33A-4F80F0135997}"/>
              </a:ext>
            </a:extLst>
          </p:cNvPr>
          <p:cNvSpPr>
            <a:spLocks xmlns:a="http://schemas.openxmlformats.org/drawingml/2006/main" noGrp="1"/>
          </p:cNvSpPr>
          <p:nvPr/>
        </p:nvSpPr>
        <p:spPr>
          <a:xfrm xmlns:a="http://schemas.openxmlformats.org/drawingml/2006/main">
            <a:off x="609600" y="4276725"/>
            <a:ext cx="4019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A"/>
                </a:solidFill>
                <a:latin typeface="DejaVu Sans"/>
                <a:ea typeface="DejaVu Sans"/>
                <a:cs typeface="DejaVu Sans"/>
              </a:defRPr>
            </a:pPr>
            <a:r>
              <a:rPr sz="1950" b="0">
                <a:solidFill>
                  <a:srgbClr val="15344A"/>
                </a:solidFill>
                <a:latin typeface="DejaVu Sans"/>
                <a:ea typeface="DejaVu Sans"/>
                <a:cs typeface="DejaVu Sans"/>
              </a:rPr>
              <a:t>Health camps</a:t>
            </a:r>
          </a:p>
        </p:txBody>
      </p:sp>
      <p:sp>
        <p:nvSpPr>
          <p:cNvPr id="10" name="">
            <a:extLst xmlns:a="http://schemas.openxmlformats.org/drawingml/2006/main">
              <a:ext uri="{FF2B5EF4-FFF2-40B4-BE49-F238E27FC236}">
                <a16:creationId xmlns:a16="http://schemas.microsoft.com/office/drawing/2014/main" id="{2DE6D1AC-34A7-4129-B753-D40A376BBE13}"/>
              </a:ext>
            </a:extLst>
          </p:cNvPr>
          <p:cNvSpPr>
            <a:spLocks xmlns:a="http://schemas.openxmlformats.org/drawingml/2006/main" noGrp="1"/>
          </p:cNvSpPr>
          <p:nvPr/>
        </p:nvSpPr>
        <p:spPr>
          <a:xfrm xmlns:a="http://schemas.openxmlformats.org/drawingml/2006/main">
            <a:off x="609600" y="4876800"/>
            <a:ext cx="4019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A"/>
                </a:solidFill>
                <a:latin typeface="DejaVu Sans"/>
                <a:ea typeface="DejaVu Sans"/>
                <a:cs typeface="DejaVu Sans"/>
              </a:defRPr>
            </a:pPr>
            <a:r>
              <a:rPr sz="1950" b="0">
                <a:solidFill>
                  <a:srgbClr val="15344A"/>
                </a:solidFill>
                <a:latin typeface="DejaVu Sans"/>
                <a:ea typeface="DejaVu Sans"/>
                <a:cs typeface="DejaVu Sans"/>
              </a:rPr>
              <a:t>Patient-management systems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8d1d42f74b54702">
            <a:extLst>
              <a:ext uri="{96DAC541-7B7A-43D3-8B79-37D633B846F1}">
                <asvg:svgBlip xmlns:asvg="http://schemas.microsoft.com/office/drawing/2016/SVG/main" r:embed="R8d10a4f1a7d24800"/>
              </a:ext>
            </a:extLst>
          </a:blip>
          <a:stretch xmlns:a="http://schemas.openxmlformats.org/drawingml/2006/main"/>
        </p:blipFill>
        <p:spPr>
          <a:xfrm xmlns:a="http://schemas.openxmlformats.org/drawingml/2006/main">
            <a:off x="4248150" y="1828800"/>
            <a:ext cx="371475" cy="3714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936BFCE-7192-476A-AB91-6284242C0056}"/>
              </a:ext>
            </a:extLst>
          </p:cNvPr>
          <p:cNvSpPr>
            <a:spLocks xmlns:a="http://schemas.openxmlformats.org/drawingml/2006/main" noGrp="1"/>
          </p:cNvSpPr>
          <p:nvPr/>
        </p:nvSpPr>
        <p:spPr>
          <a:xfrm xmlns:a="http://schemas.openxmlformats.org/drawingml/2006/main">
            <a:off x="5657850" y="18383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FUTURE DEVELOPMENT</a:t>
            </a:r>
          </a:p>
        </p:txBody>
      </p:sp>
      <p:sp>
        <p:nvSpPr>
          <p:cNvPr id="13" name="">
            <a:extLst xmlns:a="http://schemas.openxmlformats.org/drawingml/2006/main">
              <a:ext uri="{FF2B5EF4-FFF2-40B4-BE49-F238E27FC236}">
                <a16:creationId xmlns:a16="http://schemas.microsoft.com/office/drawing/2014/main" id="{0EEFBB5E-D577-49A5-B424-6AB3100A5F5A}"/>
              </a:ext>
            </a:extLst>
          </p:cNvPr>
          <p:cNvSpPr>
            <a:spLocks xmlns:a="http://schemas.openxmlformats.org/drawingml/2006/main" noGrp="1"/>
          </p:cNvSpPr>
          <p:nvPr/>
        </p:nvSpPr>
        <p:spPr>
          <a:xfrm xmlns:a="http://schemas.openxmlformats.org/drawingml/2006/main">
            <a:off x="5657850" y="2419350"/>
            <a:ext cx="5753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Models &amp; explainability</a:t>
            </a:r>
          </a:p>
        </p:txBody>
      </p:sp>
      <p:sp>
        <p:nvSpPr>
          <p:cNvPr id="14" name="">
            <a:extLst xmlns:a="http://schemas.openxmlformats.org/drawingml/2006/main">
              <a:ext uri="{FF2B5EF4-FFF2-40B4-BE49-F238E27FC236}">
                <a16:creationId xmlns:a16="http://schemas.microsoft.com/office/drawing/2014/main" id="{4AE02E3F-30D5-42D2-8E39-501168DE08BB}"/>
              </a:ext>
            </a:extLst>
          </p:cNvPr>
          <p:cNvSpPr>
            <a:spLocks xmlns:a="http://schemas.openxmlformats.org/drawingml/2006/main" noGrp="1"/>
          </p:cNvSpPr>
          <p:nvPr/>
        </p:nvSpPr>
        <p:spPr>
          <a:xfrm xmlns:a="http://schemas.openxmlformats.org/drawingml/2006/main">
            <a:off x="5657850" y="2790825"/>
            <a:ext cx="5753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Larger datasets, validated models and richer explanations</a:t>
            </a:r>
          </a:p>
        </p:txBody>
      </p:sp>
      <p:sp>
        <p:nvSpPr>
          <p:cNvPr id="15" name="">
            <a:extLst xmlns:a="http://schemas.openxmlformats.org/drawingml/2006/main">
              <a:ext uri="{FF2B5EF4-FFF2-40B4-BE49-F238E27FC236}">
                <a16:creationId xmlns:a16="http://schemas.microsoft.com/office/drawing/2014/main" id="{503B1AFB-06D8-4A40-B646-CF04E67A3C36}"/>
              </a:ext>
            </a:extLst>
          </p:cNvPr>
          <p:cNvSpPr>
            <a:spLocks xmlns:a="http://schemas.openxmlformats.org/drawingml/2006/main" noGrp="1"/>
          </p:cNvSpPr>
          <p:nvPr/>
        </p:nvSpPr>
        <p:spPr>
          <a:xfrm xmlns:a="http://schemas.openxmlformats.org/drawingml/2006/main">
            <a:off x="5657850" y="3314700"/>
            <a:ext cx="5753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Patient experience</a:t>
            </a:r>
          </a:p>
        </p:txBody>
      </p:sp>
      <p:sp>
        <p:nvSpPr>
          <p:cNvPr id="16" name="">
            <a:extLst xmlns:a="http://schemas.openxmlformats.org/drawingml/2006/main">
              <a:ext uri="{FF2B5EF4-FFF2-40B4-BE49-F238E27FC236}">
                <a16:creationId xmlns:a16="http://schemas.microsoft.com/office/drawing/2014/main" id="{31EB760E-417D-481E-9E81-612C7044F555}"/>
              </a:ext>
            </a:extLst>
          </p:cNvPr>
          <p:cNvSpPr>
            <a:spLocks xmlns:a="http://schemas.openxmlformats.org/drawingml/2006/main" noGrp="1"/>
          </p:cNvSpPr>
          <p:nvPr/>
        </p:nvSpPr>
        <p:spPr>
          <a:xfrm xmlns:a="http://schemas.openxmlformats.org/drawingml/2006/main">
            <a:off x="5657850" y="3686175"/>
            <a:ext cx="5753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Mobile app, notifications and enhanced scheduling</a:t>
            </a:r>
          </a:p>
        </p:txBody>
      </p:sp>
      <p:sp>
        <p:nvSpPr>
          <p:cNvPr id="17" name="">
            <a:extLst xmlns:a="http://schemas.openxmlformats.org/drawingml/2006/main">
              <a:ext uri="{FF2B5EF4-FFF2-40B4-BE49-F238E27FC236}">
                <a16:creationId xmlns:a16="http://schemas.microsoft.com/office/drawing/2014/main" id="{7E28A93B-AA93-4FBB-B8E7-0E9EB4701597}"/>
              </a:ext>
            </a:extLst>
          </p:cNvPr>
          <p:cNvSpPr>
            <a:spLocks xmlns:a="http://schemas.openxmlformats.org/drawingml/2006/main" noGrp="1"/>
          </p:cNvSpPr>
          <p:nvPr/>
        </p:nvSpPr>
        <p:spPr>
          <a:xfrm xmlns:a="http://schemas.openxmlformats.org/drawingml/2006/main">
            <a:off x="5657850" y="4210050"/>
            <a:ext cx="5753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Analytics &amp; deployment</a:t>
            </a:r>
          </a:p>
        </p:txBody>
      </p:sp>
      <p:sp>
        <p:nvSpPr>
          <p:cNvPr id="18" name="">
            <a:extLst xmlns:a="http://schemas.openxmlformats.org/drawingml/2006/main">
              <a:ext uri="{FF2B5EF4-FFF2-40B4-BE49-F238E27FC236}">
                <a16:creationId xmlns:a16="http://schemas.microsoft.com/office/drawing/2014/main" id="{255639C8-C3E4-4E85-A3FE-3B78090A76C4}"/>
              </a:ext>
            </a:extLst>
          </p:cNvPr>
          <p:cNvSpPr>
            <a:spLocks xmlns:a="http://schemas.openxmlformats.org/drawingml/2006/main" noGrp="1"/>
          </p:cNvSpPr>
          <p:nvPr/>
        </p:nvSpPr>
        <p:spPr>
          <a:xfrm xmlns:a="http://schemas.openxmlformats.org/drawingml/2006/main">
            <a:off x="5657850" y="4581525"/>
            <a:ext cx="5753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Advanced analytics and cloud deployment</a:t>
            </a:r>
          </a:p>
        </p:txBody>
      </p:sp>
      <p:sp>
        <p:nvSpPr>
          <p:cNvPr id="19" name="">
            <a:extLst xmlns:a="http://schemas.openxmlformats.org/drawingml/2006/main">
              <a:ext uri="{FF2B5EF4-FFF2-40B4-BE49-F238E27FC236}">
                <a16:creationId xmlns:a16="http://schemas.microsoft.com/office/drawing/2014/main" id="{ADF8779C-BD47-4BED-94AA-D916523504D1}"/>
              </a:ext>
            </a:extLst>
          </p:cNvPr>
          <p:cNvSpPr>
            <a:spLocks xmlns:a="http://schemas.openxmlformats.org/drawingml/2006/main" noGrp="1"/>
          </p:cNvSpPr>
          <p:nvPr/>
        </p:nvSpPr>
        <p:spPr>
          <a:xfrm xmlns:a="http://schemas.openxmlformats.org/drawingml/2006/main">
            <a:off x="5657850" y="5105400"/>
            <a:ext cx="5753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44A"/>
                </a:solidFill>
                <a:latin typeface="DejaVu Sans"/>
                <a:ea typeface="DejaVu Sans"/>
                <a:cs typeface="DejaVu Sans"/>
              </a:defRPr>
            </a:pPr>
            <a:r>
              <a:rPr sz="1800" b="1">
                <a:solidFill>
                  <a:srgbClr val="15344A"/>
                </a:solidFill>
                <a:latin typeface="DejaVu Sans"/>
                <a:ea typeface="DejaVu Sans"/>
                <a:cs typeface="DejaVu Sans"/>
              </a:rPr>
              <a:t>Healthcare integration</a:t>
            </a:r>
          </a:p>
        </p:txBody>
      </p:sp>
      <p:sp>
        <p:nvSpPr>
          <p:cNvPr id="20" name="">
            <a:extLst xmlns:a="http://schemas.openxmlformats.org/drawingml/2006/main">
              <a:ext uri="{FF2B5EF4-FFF2-40B4-BE49-F238E27FC236}">
                <a16:creationId xmlns:a16="http://schemas.microsoft.com/office/drawing/2014/main" id="{0E7D3DDF-C25D-4BCC-94CF-3A5019900080}"/>
              </a:ext>
            </a:extLst>
          </p:cNvPr>
          <p:cNvSpPr>
            <a:spLocks xmlns:a="http://schemas.openxmlformats.org/drawingml/2006/main" noGrp="1"/>
          </p:cNvSpPr>
          <p:nvPr/>
        </p:nvSpPr>
        <p:spPr>
          <a:xfrm xmlns:a="http://schemas.openxmlformats.org/drawingml/2006/main">
            <a:off x="5657850" y="5476875"/>
            <a:ext cx="5753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6"/>
                </a:solidFill>
                <a:latin typeface="DejaVu Sans"/>
                <a:ea typeface="DejaVu Sans"/>
                <a:cs typeface="DejaVu Sans"/>
              </a:defRPr>
            </a:pPr>
            <a:r>
              <a:rPr sz="1575" b="0">
                <a:solidFill>
                  <a:srgbClr val="526776"/>
                </a:solidFill>
                <a:latin typeface="DejaVu Sans"/>
                <a:ea typeface="DejaVu Sans"/>
                <a:cs typeface="DejaVu Sans"/>
              </a:rPr>
              <a:t>HL7 FHIR and authorized institutional systems</a:t>
            </a:r>
          </a:p>
        </p:txBody>
      </p:sp>
    </p:spTree>
    <p:extLst>
      <p:ext uri="{BB962C8B-B14F-4D97-AF65-F5344CB8AC3E}">
        <p14:creationId xmlns:p14="http://schemas.microsoft.com/office/powerpoint/2010/main" val="569152344"/>
      </p:ext>
    </p:extLst>
  </p:cSld>
  <p:transition spd="fast">
    <p:fade/>
  </p:transition>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FB5F83-445E-4C05-BBCA-6B37664E4D7C}"/>
              </a:ext>
            </a:extLst>
          </p:cNvPr>
          <p:cNvSpPr>
            <a:spLocks xmlns:a="http://schemas.openxmlformats.org/drawingml/2006/main" noGrp="1"/>
          </p:cNvSpPr>
          <p:nvPr/>
        </p:nvSpPr>
        <p:spPr>
          <a:xfrm xmlns:a="http://schemas.openxmlformats.org/drawingml/2006/main">
            <a:off x="571500" y="4000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44A"/>
                </a:solidFill>
                <a:latin typeface="DejaVu Sans"/>
                <a:ea typeface="DejaVu Sans"/>
                <a:cs typeface="DejaVu Sans"/>
              </a:defRPr>
            </a:pPr>
            <a:r>
              <a:rPr sz="3000" b="1">
                <a:solidFill>
                  <a:srgbClr val="15344A"/>
                </a:solidFill>
                <a:latin typeface="DejaVu Sans"/>
                <a:ea typeface="DejaVu Sans"/>
                <a:cs typeface="DejaVu Sans"/>
              </a:rPr>
              <a:t>Conclusion</a:t>
            </a:r>
          </a:p>
        </p:txBody>
      </p:sp>
      <p:sp>
        <p:nvSpPr>
          <p:cNvPr id="2" name="">
            <a:extLst xmlns:a="http://schemas.openxmlformats.org/drawingml/2006/main">
              <a:ext uri="{FF2B5EF4-FFF2-40B4-BE49-F238E27FC236}">
                <a16:creationId xmlns:a16="http://schemas.microsoft.com/office/drawing/2014/main" id="{293547D5-4AAB-4F80-9D21-D153935EB2F0}"/>
              </a:ext>
            </a:extLst>
          </p:cNvPr>
          <p:cNvSpPr>
            <a:spLocks xmlns:a="http://schemas.openxmlformats.org/drawingml/2006/main" noGrp="1"/>
          </p:cNvSpPr>
          <p:nvPr/>
        </p:nvSpPr>
        <p:spPr>
          <a:xfrm xmlns:a="http://schemas.openxmlformats.org/drawingml/2006/main">
            <a:off x="590550" y="111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6"/>
                </a:solidFill>
                <a:latin typeface="DejaVu Sans"/>
                <a:ea typeface="DejaVu Sans"/>
                <a:cs typeface="DejaVu Sans"/>
              </a:defRPr>
            </a:pPr>
            <a:r>
              <a:rPr sz="1350" b="0">
                <a:solidFill>
                  <a:srgbClr val="526776"/>
                </a:solidFill>
                <a:latin typeface="DejaVu Sans"/>
                <a:ea typeface="DejaVu Sans"/>
                <a:cs typeface="DejaVu Sans"/>
              </a:rPr>
              <a:t>An integrated platform that keeps doctors responsible for medical judgment</a:t>
            </a:r>
          </a:p>
        </p:txBody>
      </p:sp>
      <p:sp>
        <p:nvSpPr>
          <p:cNvPr id="3" name="">
            <a:extLst xmlns:a="http://schemas.openxmlformats.org/drawingml/2006/main">
              <a:ext uri="{FF2B5EF4-FFF2-40B4-BE49-F238E27FC236}">
                <a16:creationId xmlns:a16="http://schemas.microsoft.com/office/drawing/2014/main" id="{31E8FF78-C491-4B42-B97F-7A983FBB8E54}"/>
              </a:ext>
            </a:extLst>
          </p:cNvPr>
          <p:cNvSpPr>
            <a:spLocks xmlns:a="http://schemas.openxmlformats.org/drawingml/2006/main" noGrp="1"/>
          </p:cNvSpPr>
          <p:nvPr/>
        </p:nvSpPr>
        <p:spPr>
          <a:xfrm xmlns:a="http://schemas.openxmlformats.org/drawingml/2006/main">
            <a:off x="590550" y="64770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87F8C"/>
                </a:solidFill>
                <a:latin typeface="DejaVu Sans"/>
                <a:ea typeface="DejaVu Sans"/>
                <a:cs typeface="DejaVu Sans"/>
              </a:defRPr>
            </a:pPr>
            <a:r>
              <a:rPr sz="975" b="1">
                <a:solidFill>
                  <a:srgbClr val="087F8C"/>
                </a:solidFill>
                <a:latin typeface="DejaVu Sans"/>
                <a:ea typeface="DejaVu Sans"/>
                <a:cs typeface="DejaVu Sans"/>
              </a:rPr>
              <a:t>MEDASSIST</a:t>
            </a:r>
          </a:p>
        </p:txBody>
      </p:sp>
      <p:sp>
        <p:nvSpPr>
          <p:cNvPr id="4" name="">
            <a:extLst xmlns:a="http://schemas.openxmlformats.org/drawingml/2006/main">
              <a:ext uri="{FF2B5EF4-FFF2-40B4-BE49-F238E27FC236}">
                <a16:creationId xmlns:a16="http://schemas.microsoft.com/office/drawing/2014/main" id="{01D41EFA-B07C-4CA3-B66B-377FDA9ACDB6}"/>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6"/>
                </a:solidFill>
                <a:latin typeface="DejaVu Sans"/>
                <a:ea typeface="DejaVu Sans"/>
                <a:cs typeface="DejaVu Sans"/>
              </a:defRPr>
            </a:pPr>
            <a:r>
              <a:rPr sz="975" b="0">
                <a:solidFill>
                  <a:srgbClr val="526776"/>
                </a:solidFill>
                <a:latin typeface="DejaVu Sans"/>
                <a:ea typeface="DejaVu Sans"/>
                <a:cs typeface="DejaVu Sans"/>
              </a:rPr>
              <a:t>15</a:t>
            </a:r>
          </a:p>
        </p:txBody>
      </p:sp>
      <p:sp>
        <p:nvSpPr>
          <p:cNvPr id="5" name="">
            <a:extLst xmlns:a="http://schemas.openxmlformats.org/drawingml/2006/main">
              <a:ext uri="{FF2B5EF4-FFF2-40B4-BE49-F238E27FC236}">
                <a16:creationId xmlns:a16="http://schemas.microsoft.com/office/drawing/2014/main" id="{FA014B97-21ED-4A2B-B7D1-2B7BBC82867D}"/>
              </a:ext>
            </a:extLst>
          </p:cNvPr>
          <p:cNvSpPr>
            <a:spLocks xmlns:a="http://schemas.openxmlformats.org/drawingml/2006/main" noGrp="1"/>
          </p:cNvSpPr>
          <p:nvPr/>
        </p:nvSpPr>
        <p:spPr>
          <a:xfrm xmlns:a="http://schemas.openxmlformats.org/drawingml/2006/main">
            <a:off x="609600" y="1790700"/>
            <a:ext cx="10877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44A"/>
                </a:solidFill>
                <a:latin typeface="DejaVu Sans"/>
                <a:ea typeface="DejaVu Sans"/>
                <a:cs typeface="DejaVu Sans"/>
              </a:defRPr>
            </a:pPr>
            <a:r>
              <a:rPr sz="2250" b="0">
                <a:solidFill>
                  <a:srgbClr val="15344A"/>
                </a:solidFill>
                <a:latin typeface="DejaVu Sans"/>
                <a:ea typeface="DejaVu Sans"/>
                <a:cs typeface="DejaVu Sans"/>
              </a:rPr>
              <a:t>MedAssist brings web technologies, databases, machine learning and</a:t>
            </a:r>
          </a:p>
          <a:p xmlns:a="http://schemas.openxmlformats.org/drawingml/2006/main">
            <a:pPr>
              <a:defRPr sz="2250" b="0">
                <a:solidFill>
                  <a:srgbClr val="15344A"/>
                </a:solidFill>
                <a:latin typeface="DejaVu Sans"/>
                <a:ea typeface="DejaVu Sans"/>
                <a:cs typeface="DejaVu Sans"/>
              </a:defRPr>
            </a:pPr>
            <a:r>
              <a:rPr sz="2250" b="0">
                <a:solidFill>
                  <a:srgbClr val="15344A"/>
                </a:solidFill>
                <a:latin typeface="DejaVu Sans"/>
                <a:ea typeface="DejaVu Sans"/>
                <a:cs typeface="DejaVu Sans"/>
              </a:rPr>
              <a:t>explainable AI into one healthcare management workflow.</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360d183b90f4cae">
            <a:extLst>
              <a:ext uri="{96DAC541-7B7A-43D3-8B79-37D633B846F1}">
                <asvg:svgBlip xmlns:asvg="http://schemas.microsoft.com/office/drawing/2016/SVG/main" r:embed="Rdc112ec41b934be9"/>
              </a:ext>
            </a:extLst>
          </a:blip>
          <a:stretch xmlns:a="http://schemas.openxmlformats.org/drawingml/2006/main"/>
        </p:blipFill>
        <p:spPr>
          <a:xfrm xmlns:a="http://schemas.openxmlformats.org/drawingml/2006/main">
            <a:off x="666750" y="3086100"/>
            <a:ext cx="276225" cy="27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9A49494-5E45-4A58-B88B-4EA853C2C452}"/>
              </a:ext>
            </a:extLst>
          </p:cNvPr>
          <p:cNvSpPr>
            <a:spLocks xmlns:a="http://schemas.openxmlformats.org/drawingml/2006/main" noGrp="1"/>
          </p:cNvSpPr>
          <p:nvPr/>
        </p:nvSpPr>
        <p:spPr>
          <a:xfrm xmlns:a="http://schemas.openxmlformats.org/drawingml/2006/main">
            <a:off x="1104900" y="30861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Centralized patient management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2c53dc03019453e">
            <a:extLst>
              <a:ext uri="{96DAC541-7B7A-43D3-8B79-37D633B846F1}">
                <asvg:svgBlip xmlns:asvg="http://schemas.microsoft.com/office/drawing/2016/SVG/main" r:embed="R2f79bff56ddc420a"/>
              </a:ext>
            </a:extLst>
          </a:blip>
          <a:stretch xmlns:a="http://schemas.openxmlformats.org/drawingml/2006/main"/>
        </p:blipFill>
        <p:spPr>
          <a:xfrm xmlns:a="http://schemas.openxmlformats.org/drawingml/2006/main">
            <a:off x="666750" y="3543300"/>
            <a:ext cx="276225" cy="2762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C0A0374-A8F6-47C3-B549-3641D390B30D}"/>
              </a:ext>
            </a:extLst>
          </p:cNvPr>
          <p:cNvSpPr>
            <a:spLocks xmlns:a="http://schemas.openxmlformats.org/drawingml/2006/main" noGrp="1"/>
          </p:cNvSpPr>
          <p:nvPr/>
        </p:nvSpPr>
        <p:spPr>
          <a:xfrm xmlns:a="http://schemas.openxmlformats.org/drawingml/2006/main">
            <a:off x="1104900" y="35433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AI-assisted preliminary triage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94a0cbd905e4785">
            <a:extLst>
              <a:ext uri="{96DAC541-7B7A-43D3-8B79-37D633B846F1}">
                <asvg:svgBlip xmlns:asvg="http://schemas.microsoft.com/office/drawing/2016/SVG/main" r:embed="R3020250627fc4e6c"/>
              </a:ext>
            </a:extLst>
          </a:blip>
          <a:stretch xmlns:a="http://schemas.openxmlformats.org/drawingml/2006/main"/>
        </p:blipFill>
        <p:spPr>
          <a:xfrm xmlns:a="http://schemas.openxmlformats.org/drawingml/2006/main">
            <a:off x="666750" y="4000500"/>
            <a:ext cx="276225" cy="2762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AD8687B-5CE9-4C4A-AD2C-DFC1E82F7A33}"/>
              </a:ext>
            </a:extLst>
          </p:cNvPr>
          <p:cNvSpPr>
            <a:spLocks xmlns:a="http://schemas.openxmlformats.org/drawingml/2006/main" noGrp="1"/>
          </p:cNvSpPr>
          <p:nvPr/>
        </p:nvSpPr>
        <p:spPr>
          <a:xfrm xmlns:a="http://schemas.openxmlformats.org/drawingml/2006/main">
            <a:off x="1104900" y="40005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44A"/>
                </a:solidFill>
                <a:latin typeface="DejaVu Sans"/>
                <a:ea typeface="DejaVu Sans"/>
                <a:cs typeface="DejaVu Sans"/>
              </a:defRPr>
            </a:pPr>
            <a:r>
              <a:rPr sz="1725" b="1">
                <a:solidFill>
                  <a:srgbClr val="15344A"/>
                </a:solidFill>
                <a:latin typeface="DejaVu Sans"/>
                <a:ea typeface="DejaVu Sans"/>
                <a:cs typeface="DejaVu Sans"/>
              </a:rPr>
              <a:t>Doctor-in-the-loop decisions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381a3d84e83444c">
            <a:extLst>
              <a:ext uri="{96DAC541-7B7A-43D3-8B79-37D633B846F1}">
                <asvg:svgBlip xmlns:asvg="http://schemas.microsoft.com/office/drawing/2016/SVG/main" r:embed="R48e7e0c10ace4c46"/>
              </a:ext>
            </a:extLst>
          </a:blip>
          <a:stretch xmlns:a="http://schemas.openxmlformats.org/drawingml/2006/main"/>
        </p:blipFill>
        <p:spPr>
          <a:xfrm xmlns:a="http://schemas.openxmlformats.org/drawingml/2006/main">
            <a:off x="666750" y="4457700"/>
            <a:ext cx="276225" cy="2762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82D73C1-7471-43B1-92E8-07159F292AE9}"/>
              </a:ext>
            </a:extLst>
          </p:cNvPr>
          <p:cNvSpPr>
            <a:spLocks xmlns:a="http://schemas.openxmlformats.org/drawingml/2006/main" noGrp="1"/>
          </p:cNvSpPr>
          <p:nvPr/>
        </p:nvSpPr>
        <p:spPr>
          <a:xfrm xmlns:a="http://schemas.openxmlformats.org/drawingml/2006/main">
            <a:off x="1104900" y="44577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Explainable predictions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047b6d117fe407c">
            <a:extLst>
              <a:ext uri="{96DAC541-7B7A-43D3-8B79-37D633B846F1}">
                <asvg:svgBlip xmlns:asvg="http://schemas.microsoft.com/office/drawing/2016/SVG/main" r:embed="R71ef4b57ff374f68"/>
              </a:ext>
            </a:extLst>
          </a:blip>
          <a:stretch xmlns:a="http://schemas.openxmlformats.org/drawingml/2006/main"/>
        </p:blipFill>
        <p:spPr>
          <a:xfrm xmlns:a="http://schemas.openxmlformats.org/drawingml/2006/main">
            <a:off x="666750" y="4914900"/>
            <a:ext cx="276225" cy="2762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09C7703-EF44-4229-AB5F-B184F2FCDA18}"/>
              </a:ext>
            </a:extLst>
          </p:cNvPr>
          <p:cNvSpPr>
            <a:spLocks xmlns:a="http://schemas.openxmlformats.org/drawingml/2006/main" noGrp="1"/>
          </p:cNvSpPr>
          <p:nvPr/>
        </p:nvSpPr>
        <p:spPr>
          <a:xfrm xmlns:a="http://schemas.openxmlformats.org/drawingml/2006/main">
            <a:off x="1104900" y="49149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344A"/>
                </a:solidFill>
                <a:latin typeface="DejaVu Sans"/>
                <a:ea typeface="DejaVu Sans"/>
                <a:cs typeface="DejaVu Sans"/>
              </a:defRPr>
            </a:pPr>
            <a:r>
              <a:rPr sz="1725" b="0">
                <a:solidFill>
                  <a:srgbClr val="15344A"/>
                </a:solidFill>
                <a:latin typeface="DejaVu Sans"/>
                <a:ea typeface="DejaVu Sans"/>
                <a:cs typeface="DejaVu Sans"/>
              </a:rPr>
              <a:t>Secure role-based architecture</a:t>
            </a:r>
          </a:p>
        </p:txBody>
      </p:sp>
      <p:sp>
        <p:nvSpPr>
          <p:cNvPr id="16" name="">
            <a:extLst xmlns:a="http://schemas.openxmlformats.org/drawingml/2006/main">
              <a:ext uri="{FF2B5EF4-FFF2-40B4-BE49-F238E27FC236}">
                <a16:creationId xmlns:a16="http://schemas.microsoft.com/office/drawing/2014/main" id="{B9FFCB84-BB15-4F33-BDAF-7C83B8762616}"/>
              </a:ext>
            </a:extLst>
          </p:cNvPr>
          <p:cNvSpPr>
            <a:spLocks xmlns:a="http://schemas.openxmlformats.org/drawingml/2006/main" noGrp="1"/>
          </p:cNvSpPr>
          <p:nvPr/>
        </p:nvSpPr>
        <p:spPr>
          <a:xfrm xmlns:a="http://schemas.openxmlformats.org/drawingml/2006/main">
            <a:off x="609600" y="55054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“MedAssist aims to assist healthcare professionals through technology while keeping human medical judgment at the center of decision-making.”</a:t>
            </a:r>
          </a:p>
        </p:txBody>
      </p:sp>
      <p:sp>
        <p:nvSpPr>
          <p:cNvPr id="17" name="">
            <a:extLst xmlns:a="http://schemas.openxmlformats.org/drawingml/2006/main">
              <a:ext uri="{FF2B5EF4-FFF2-40B4-BE49-F238E27FC236}">
                <a16:creationId xmlns:a16="http://schemas.microsoft.com/office/drawing/2014/main" id="{F9445740-1581-4B40-BBE0-F2B0F4DD5ADA}"/>
              </a:ext>
            </a:extLst>
          </p:cNvPr>
          <p:cNvSpPr>
            <a:spLocks xmlns:a="http://schemas.openxmlformats.org/drawingml/2006/main" noGrp="1"/>
          </p:cNvSpPr>
          <p:nvPr/>
        </p:nvSpPr>
        <p:spPr>
          <a:xfrm xmlns:a="http://schemas.openxmlformats.org/drawingml/2006/main">
            <a:off x="9620250" y="64008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DejaVu Sans"/>
                <a:ea typeface="DejaVu Sans"/>
                <a:cs typeface="DejaVu Sans"/>
              </a:defRPr>
            </a:pPr>
            <a:r>
              <a:rPr sz="1200" b="1">
                <a:solidFill>
                  <a:srgbClr val="087F8C"/>
                </a:solidFill>
                <a:latin typeface="DejaVu Sans"/>
                <a:ea typeface="DejaVu Sans"/>
                <a:cs typeface="DejaVu Sans"/>
              </a:rPr>
              <a:t>Thank You</a:t>
            </a:r>
          </a:p>
        </p:txBody>
      </p:sp>
    </p:spTree>
    <p:extLst>
      <p:ext uri="{BB962C8B-B14F-4D97-AF65-F5344CB8AC3E}">
        <p14:creationId xmlns:p14="http://schemas.microsoft.com/office/powerpoint/2010/main" val="2055614394"/>
      </p:ext>
    </p:extLst>
  </p:cSld>
  <p:transition spd="fast">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2026-10-05T12:03:19.5310000Z</dcterms:created>
  <dcterms:modified xsi:type="dcterms:W3CDTF">2026-10-05T12:03:19.5310000Z</dcterms:modified>
</coreProperties>
</file>